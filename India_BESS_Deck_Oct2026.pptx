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SS in India" id="{519d2414-17c7-7482-f304-1f7814adb5a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6492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Classification: Internal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 in India: demand, government target and present situation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wants 41.65 GW of BESS by FY30; about 9.6 GWh is operating today, against ~151 GWh already tendered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targets and support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target, FY2029-30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60.63 GW storage: 41.65 GW BESS + 18.98 GW pumped storage (PSP)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National Electricity Plan, FY2031-32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~73.9 GW (47.2 GW BESS + 26.7 GW PSP), ~411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Storage Obligation (MoP)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 of consumption in 2023-24 rising to 4% by 2029-30; ≥85% of stored energy must be renewable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 tranche 1 (Mar 2024)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₹3,760 cr for 13.2 GWh at ₹27 lakh/MWh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 tranche 2 (Jun 2025)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₹5,400 cr from PSDF for 30 GWh at ₹18 lakh/MWh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ISTS charge waiver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for co-located BESS commissioned by Jun 2028; falls 25% a year after that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Domestic content (Dec 2025)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≥20% of BESS procurement cost must be local to get VGF; EMS software counts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co-location advisory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solar to add storage ≥10% of capacity, ≥2 hours (advisory, not mandatory)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Manufacturing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GWh of ACC PLI earmarked for grid storage; Budget 2026-27 duty exemption on cell machinery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188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outlook (storage requirement)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81328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(Optimal Generation Mix)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FY2029-30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41.65 GW BESS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Rubix Data Sciences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FY2031-32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~236 GWh BESS (≈7× today)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National Electricity Plan (CareEdge)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FY2031-32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~411 GWh (BESS + PSP)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IESA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2035-36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~888 GWh total storage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92240" y="33101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situation (Oct 2026)</a:t>
            </a:r>
            <a:endParaRPr lang="en-US" sz="11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602736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Figure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BESS, Dec 2025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~0.78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BESS, H1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~8.7 GWh (8.2 GWh added in H1 2026)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BESS, Aug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~9.6 GWh (mostly merchant projects)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by end-2026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&gt;10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tendered by Aug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~151 GWh (+ ~142 GWh PSP)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Cumulative tender pipeline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~260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Awarded storage pipeline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~54 GW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[1] SolarQuarter (CEA roadmap, Feb 2026); [2] SolarQuarter (VGF, Aug 2026); [3] CareEdge via ANI; [5] Rubix via pv magazine India; [6] IESA via Angel One; [7] Mercom via ESS News; [8] IEEFA-JMK EnergyWatts Sep 2026; [10] JMK EnergyWatts Sep 2026; [14] Renewable Watch (ESO); [15] Energy-Storage.news (20% DCR)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BESS is required: solar peaks at noon, demand peaks after sunset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keeps adding solar and wind, but without storage the extra midday power is curtailed and the evening peak still needs coal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4206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mismatch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output peaks around midday; peak demand comes in the evening after sunset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vs generation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Non-fossil ≈50% of installed capacity but only ≈29% of generation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Steeper duck curve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Morning ramp-down 28 GW (May 2025) → 50 GW (May 2026); evening ramp-up 68 → 80 GW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wasted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~8.1 TWh solar curtailed in Q1 FY27; Jul-Aug 2026: 1,462 MU solar + 373 MU wind curtailed while peak demand hit 270 GW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is wasted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midday supply exceeds demand and grid limits bite; with no storage the grid operator backs RE down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 today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~9.6 GWh operational; meets only 1-2% of night-time peak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 other solution fills the gap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81328"/>
          <a:ext cx="3657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14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Coal plants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Ramp slowly and cannot go below ~55% minimum load; add emissions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Gas peakers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Little domestic gas; imported LNG is costly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Pumped hydro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for long duration but site-specific, 5-8 years to build; runs alongside BESS (18.98 GW target)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transmission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power between regions, but cannot move noon power to night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 response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Helpful but small scale today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Responds in under a second, built in ~18 months, sits at substations or solar parks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59536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and wind growth (GW, cumulative)</a:t>
            </a:r>
            <a:endParaRPr lang="en-US" sz="11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481328"/>
          <a:ext cx="32004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68580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 of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 + wind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54.0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94.4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109.4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81.8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45.9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127.7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105.6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155.6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150.3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171.1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230.3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595360" y="35204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FY2026: record 44.6 GW solar (+87% YoY) and 6 GW wind added.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FY27: 20.8 GW solar and 3.1 GW wind added.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has roughly tripled in 4.5 years; wind grew ~1.5×.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2026 wind is derived (Mar 2025 + 6 GW added).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[3] CareEdge via ANI (ramp, gen share); [4] TaiyangNews/CREA (curtailment); [8] IEEFA-JMK EnergyWatts Sep 2026; [11] Energetica India (Sep 2026 capacity); [12] JMK via pv magazine India (FY2026); [13] MNRE year-end physical progress; [1] SolarQuarter (PSP target)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 manufacturers: global leaders and Indian capacity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supply is concentrated in China; India has ~60 GWh of pack/container assembly but only ~2.5 GWh of operating cell capacity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top 5 BESS cell suppliers (2025)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5577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463040"/>
                <a:gridCol w="9144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HQ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of 2025 BESS cells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~20% (29% in 2024)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HiTHIUM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disclosed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disclosed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1821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612 GWh of BESS cells shipped in 2025 (+95%); top 10 held ~89%, all Chinese.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1887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top 5 BESS system integrators (2025)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81328"/>
          <a:ext cx="5577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7315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HQ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Tesla (Megapack)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#1 for 3rd year (Wood Mackenzie); 46.7 GWh deployed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Sungrow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#2 (Wood Mackenzie); #3 by shipments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#3 (Wood Mackenzie); #1 by shipments (Benchmark)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Fluence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of two non-Chinese top-10 integrators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Huawei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China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Regional leader in Europe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17920" y="31821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 integrators held ~30% of the market; Chinese integrators 76%. Ranks 4-5 are not published as a global ranking.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35661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India: top 5 BESS (pack / container) manufacturers by capacity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58768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377440"/>
                <a:gridCol w="29260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of India pack capacity*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AutoComp–Gotion JV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Pune, Maharashtra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GWh (full ramp)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Supplying Tata Power projects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 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5.15 GWh (target 20 GWh)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Jul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Pune, Maharashtra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Q4 FY26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Pace Digitek (Lineage Power)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Bidadi, Karnataka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GWh (10 GWh by end-FY27)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1.25 GWh built in first year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Dasna, Uttar Pradesh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Inaugurated (₹200 cr)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65760" y="559612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*Own calculation: nameplate capacity ÷ ~60 GWh national pack capacity (IEEFA). Also: Voltters 3 GWh (MP); planned Premier 6 GWh, VSL PowerHive 7.5 GWh, Powertrac 10 GWh, Neuron 5 GWh. Cells: Ola 2.5 GWh is the only operating cell plant, so most BESS cells are imported from China.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[16] Benchmark Mineral Intelligence; [17] Wood Mackenzie via SolarQuarter; [18] InfoLink via ESS News; [20] Energetica India; [21] Renewable Watch (Waaree); [22] ESS News (Pace); [23] pv magazine India (JSW); [24] Energy-Storage.news (Tata AutoComp); [9] IEEFA-JMK Jun 2026; [8] IEEFA-JMK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structure of a BESS: from cell to grid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flows left to right on charge-discharge; BMS, EMS and SCADA control it, while cooling and fire systems keep it safe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216152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LFP, 3.2 V, ~1 kWh (314 Ah)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7452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cells in series, ~51 V, ~16 kWh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~400 cells, ~1,280 V DC, rack BMS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 MWh: racks + cooling + fire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Inverter: DC ↔ AC, controls P &amp; 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2668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up LV to 11-33 kV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972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Switchgear &amp; meter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Isolates faults, measures energy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24160" y="1760220"/>
            <a:ext cx="21031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52760" y="1325880"/>
            <a:ext cx="1216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52760" y="1325880"/>
            <a:ext cx="1216152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 / ISTS substation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22402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side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240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side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697480"/>
            <a:ext cx="3611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1148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BMS: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Watches every cell: V, I, temperature, SOC/SOH; trips contactors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50792" y="2971800"/>
            <a:ext cx="25603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334256" y="2697480"/>
            <a:ext cx="3611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4334256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EMS: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Decides when and how much to charge or discharge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73568" y="2971800"/>
            <a:ext cx="25603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57032" y="2697480"/>
            <a:ext cx="3611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8257032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SCADA / grid operator (SLDC):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schedules, monitors plant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3282696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layer (dashed): signals, not power. Safety trips are hard-wired so they work even if communication fails.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36118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components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04488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 supply status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cells (LFP)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 the energy; about 60% of container price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imported from China; Indian lines just starting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BMS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Protects cells, balances them, estimates SOC/SOH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comes with imported battery systems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PCS / inverter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Converts DC↔AC; grid-forming and black start required for ≥50 MW from Apr 2027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makers with Indian plants (Sungrow, Delta, Hitachi Energy)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Thermal management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Keeps cells in a narrow temperature band (liquid cooling)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Containers and HVAC local; chillers often imported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Fire and explosion safety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Gas/smoke detection, suppression in every container, venting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Available locally; mandatory under CEA rules from Apr 2027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Transformer &amp; switchgear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 up voltage, isolate faults, protection relays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Indian manufacturing base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/ SCADA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Dispatch decisions, monitoring, reporting to SLDC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developers; EMS counts toward 20% domestic content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[54] BESS Deep Research Report (ev repo, sections 3.3 and 4.3); [8] IEEFA-JMK Sep 2026 (cell share of container price); [36] Energetica India (CEA safety rules 2026); [37] SolarQuarter (CEA technical standards 2026); [15] Energy-Storage.news (20% DCR)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BESS technologies compared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is about 90% of new lithium-ion storage; other chemistries fill niches (cold climate, very long duration, lithium-free supply)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737360"/>
                <a:gridCol w="1828800"/>
                <a:gridCol w="20116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NMC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LTO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Sodium-ion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Vanadium flow (VRFB)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Nominal cell voltage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 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3.6-3.7 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2.3-2.4 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~2.8-3.2 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~1.26 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density (Wh/kg)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~160-205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~200-280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~60-90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~100-175 (claims)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~15-25 (electrolyte)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Cycle life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6,000-10,000+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2,000-5,000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10,000-20,000+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~3,000-6,000 (claims)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&gt;15,000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 round-trip efficiency (AC)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~85-90%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~80-88%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~65-75%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Thermal safety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Medium-low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high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Non-flammable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Low-temperature charging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Poor below 0 °C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Excellent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 materials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Lithium, graphite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Li, nickel, cobalt, graphite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Lithium, titanium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Sodium, hard carbon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Vanadium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position (2026)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Li-ion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Highest Li-ion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 to LFP, falling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capex; cheap extra hours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fit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2-4 h grid peak shifting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Space-constrained sites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 frequency response, cold sites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Lithium-free, cold climates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h+ long duration, high cycling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for grid storage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Dominant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/ niche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Niche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Early commercial (CATL mass production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niche (175 MW / 700 MWh in China)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of BESS production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~90% of 2025 Li-ion storage additions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 of remaining ~10%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 of remaining ~10%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Small; not reported separately (60 GWh CATL storage order)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Small; not reported separately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3434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production snapshot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36008"/>
          <a:ext cx="11430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storage additions 2025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cells shipped 2025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Utility-scale vs small-scale cells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Supplier concentration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 GW / 307 GWh (+48%); China 54%, US 16%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612 GWh (+95%)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557 GWh utility (~91%); 56 GWh small-scale (~9%)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10 cell makers ~89%, all Chinese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[54] BESS Deep Research Report (ev repo, section 6.7; typical datasheet values); [19] BloombergNEF via pv magazine USA (LFP 90%, 2025 additions); [18] InfoLink via ESS News (cell shipments); [16] Benchmark Mineral Intelligence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chemistry: how a lithium iron phosphate cell works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Lithium ions shuttle between graphite and iron phosphate through the electrolyte; electrons take the outside wire and do the work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01168" cy="2926080"/>
          </a:xfrm>
          <a:prstGeom prst="rect">
            <a:avLst/>
          </a:prstGeom>
          <a:solidFill>
            <a:srgbClr val="D9A06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737360"/>
            <a:ext cx="1234440" cy="2926080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8568" y="1737360"/>
            <a:ext cx="1463040" cy="2926080"/>
          </a:xfrm>
          <a:prstGeom prst="rect">
            <a:avLst/>
          </a:prstGeom>
          <a:solidFill>
            <a:srgbClr val="EAF1FB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21608" y="1737360"/>
            <a:ext cx="1234440" cy="2926080"/>
          </a:xfrm>
          <a:prstGeom prst="rect">
            <a:avLst/>
          </a:prstGeom>
          <a:solidFill>
            <a:srgbClr val="BDD7EE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6048" y="1737360"/>
            <a:ext cx="201168" cy="2926080"/>
          </a:xfrm>
          <a:prstGeom prst="rect">
            <a:avLst/>
          </a:prstGeom>
          <a:solidFill>
            <a:srgbClr val="D0D0D0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1737360"/>
            <a:ext cx="0" cy="292608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532888" y="4681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Separator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828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(−)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1828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LiFePO₄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(+)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Electrolyte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377440"/>
            <a:ext cx="237744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82880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3108960"/>
            <a:ext cx="237744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28800" y="2834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3840480"/>
            <a:ext cx="237744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82880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Li⁺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5440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Discharge: Li⁺ moves anode → cathode, e⁻ flow through the load; on charge both reverse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3544" y="1325880"/>
            <a:ext cx="0" cy="4114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1325880"/>
            <a:ext cx="0" cy="4114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1325880"/>
            <a:ext cx="1691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1325880"/>
            <a:ext cx="170992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15184" y="1188720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15184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/ grid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1078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 →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Copper foil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4892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Anode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721608" y="4892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Cathode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892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Aluminium foil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5166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sits in an aluminium prismatic can with a safety vent (not shown)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81328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Reaction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Discharge, cathode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FePO₄ + Li⁺ + e⁻ → LiFePO₄  (Fe³⁺ → Fe²⁺)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Discharge, anode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LiC₆ → 6C + Li⁺ + e⁻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LiC₆ + FePO₄ ⇌ 6C + LiFePO₄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Mechanism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Intercalation: Li slides into the crystal without breaking it, so cells last thousands of cycles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630936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properties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30168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Property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Voltage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 V nominal (2.5-3.65 V window)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 density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~160-205 Wh/kg at cell level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Cycle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6,000-10,000+ cycles (stationary cells)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P-O bonds hold oxygen; thermal runaway starts ~270 °C vs ~210 °C for NMC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 size trend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280 Ah → 314 Ah (~1 kWh) → 587-628 Ah (2025-26)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points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Charging below 0 °C; flat voltage makes SOC hard to read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nickel or cobalt: lithium, iron, phosphate, graphite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[54] BESS Deep Research Report (ev repo, sections 5 and 6.1); [47] pv magazine (314 Ah → 500 Ah+ LFP cells, Jan 2026); [55] EV SIM.pptx, Generation 3 slide (thermal runaway temperatures)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cell components, materials and Indian suppliers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Cathode and anode are ~65% of cell cost and &gt;90% are processed in China; India has started on cathode, anode, electrolyte and aluminium foil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737360"/>
                <a:gridCol w="22860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Approx. per kWh*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companies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/ status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Cathode (CAM)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LiFePO₄ from lithium carbonate + iron phosphate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~2 kg LFP; ~0.5-0.6 kg Li₂CO₃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Himadri, GFCL EV, Altmin, Epsilon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Himadri 2,000 t by Dec 2026 → 40,000 t FY28; GFCL sales H2 FY27; lithium fully imported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Anode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Synthetic / natural graphite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~1-1.2 kg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Epsilon, Himadri; HEG, PCBL entering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Epsilon 2,000 t (~2 GWh) → 30,000 t by 2028; Himadri 200 t (Apr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Electrolyte salt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LiPF₆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~0.6-0.8 kg electrolyte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GFCL, Neogen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 commercial since Dec 2025; Neogen developing (Morita JV)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Solvents, additives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EC, DMC, EMC; VC, FEC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electrolyte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Alkyl Amines, Balaji Amines, Acutaas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Supplying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Separator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PE/PP film, ceramic coated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Thin film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 at scale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Aluminium foil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Al, ~10-15 µm (cathode side)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~0.25 kg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Hindalco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Sambalpur, commissioned Jan 2026; supports ~100 GWh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Copper foil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Cu, ~6-8 µm (anode side)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~0.5 kg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 at scale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Binder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PVDF (cathode), CMC/SBR (anode)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GFCL (PVDF)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Nearing qualification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38404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LFP cell makers relevant to BESS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33088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30175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Cell Technologies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Krishnagiri, TN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 GWh operating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commercial cell producer; 46100 LFP cell BIS-certified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Exide Energy Solutions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Bengaluru, KA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GWh Ph-I (3 GWh LFP prismatic)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Commissioned 23 Sep 2026; SVOLT licence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Reliance New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Jamnagar, GJ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 GWh Ph-1 → 120 GWh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 / BESS focus; equipment delivered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 Energies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Rambili, 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GWh integrated (₹8,175 cr)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Cells, packs and BESS; announced Feb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5623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*Typical industry ranges, not from a single source.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[43] BusinessToday (22 Oct 2026); [44] GFCL investor presentation (May 2026); [45] Indian Chemical News (Hindalco); [46] Indian Chemical News (Epsilon); [48] Energetica India (solvents); [9] IEEFA-JMK Jun 2026 (Ola BIS); [50] ICICI Direct (Exide); [51] pv magazine India (Reliance); [52] Mercom (Waaree)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in BESS tenders and projects in India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awards add ~₹3,500-4,200 cr of standalone BESS capex; government VGF commits ₹9,160 cr for 43.2 GWh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BESS tender awards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11430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1920240"/>
                <a:gridCol w="18288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Tender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won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Tariff discovered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Est. capex*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WBSEDCL 500 MW / 2,000 MWh (Aug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Green Energy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MW (~800 MWh)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₹4.35 lakh/MW/month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~₹1,000-1,200 cr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WBSEDCL 500 MW / 2,000 MWh (Aug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Jupiter Wagons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MW (~400 MWh)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available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~₹500-600 cr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GUVNL 450 MW / 900 MWh (Aug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NLC India Renewables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275 MW (550 MWh)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₹2.32 lakh/MW/month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~₹690-825 cr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GUVNL 450 MW / 900 MWh (Aug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Sun Drops Energia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175 MW (350 MWh)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₹2.32 lakh/MW/month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~₹440-525 cr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GUVNL 335 MW / 670 MWh (Feb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Advait, Sun Drops, Equentia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335 MW (670 MWh) total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₹2.10-2.12 lakh/MW/month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~₹840-1,005 cr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SECI 1,500 MW / 6,000 MWh FDRE (Aug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Waaree 700 MW; NTPC REL 500 MW; ACME 300 MW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1,500 MW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₹5.99-6.00/kWh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estimated (hybrid)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5661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investments, orders and financing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58768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Investment / order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Storage linked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Adani Green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Single-site Khavda BESS; &gt;10 GWh planned in FY27, 50 GWh in 5 years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1,126 MW / 3,530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ACME Solar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₹1,571 cr loan from IIFCL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 MW / 1,350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Energy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₹443.74 cr BESS + PCS order (Bondada); 40 GWh storage target by 2030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MW / 400 MWh; 3.2 GWh BESS locked in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REL / NTPC Green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₹1,338 cr EPC to Bondada (Sitapur, UP); 17,500 MWh BESS EPC tenders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MW / 200 MWh (+250 MW solar)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AMPIN Energy Transition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₹1,861.67 cr debt from SMBC and Rabobank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MW hybrid with storage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Government (VGF)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₹3,760 cr (tranche 1) + ₹5,400 cr (tranche 2)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13.2 GWh + 30 GWh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60" y="57607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*Own calculation at ₹1.25-1.5 cr per MWh installed (₹2.5-3 cr for a 1 MW / 2 MWh utility project). Sector-wide: CareEdge sees &gt;₹4 lakh cr storage investment over 6 years; Rubix up to ₹4.79 lakh cr by FY32.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[8] IEEFA-JMK EnergyWatts Sep 2026 (awards, ACME, AMPIN); [9] IEEFA-JMK Jun 2026 (GUVNL Feb 2026, NTPC REL-Bondada); [23] pv magazine India (JSW); [26] Mercom (Adani); [25] Energy-Storage.news (Adani plans); [33] TaiyangNews (NTPC Green); [2] SolarQuarter (VGF); [3] CareEdge; [5] Rubix; [53] IEEFA-JMK benchmarks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installing BESS in India: installed and in progress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Adani and ACME together account for about 7 GWh of the ~9.6 GWh operating; a large pipeline sits with NTPC, JSW, Tata Power and IndiGrid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39319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Installed (operational)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progress / awarded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sites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Adani Green Energy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~3.37 GWh at Khavda (May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1,126 MW / 3,530 MWh single-site project; &gt;10 GWh planned in FY27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Khavda, Gujarat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ACME Solar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~3.83 GWh cumulative (Aug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250 MW / 1,069 MWh FDRE (Ph-I 223 MWh done Oct 2026); 300 MW / 1,350 MWh financed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Bikaner, Jaisalmer, Phalodi, Chittorgarh (RJ)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GEON (Kabra Extrusiontechnik)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2.88 GWh integrated and commissioned (integrator; client not named)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Khavda, Gujarat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 MWh with 100 MW solar (Chhattisgarh); 115 MWh FDRE (RJ, Aug 2026); Delhi BESS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 MW / 120 MWh Kerala (Areacode); 100 MW across 10 Mumbai sites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CG, RJ, KL, MH, DL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IndiGrid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180 MW / 360 MWh (GUVNL, May 2026); 20 MW / 40 MWh Kilokari with BRPL (2025)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250 MW / 500 MWh for NVVN (Bhadla / Banaskantha)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Gujarat, Delhi, Rajasthan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Serentica Renewables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MWh FDRE (Aug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Rajasthan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Energy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disclosed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 GWh BESS locked in: 125 MW / 500 MWh Kerala (SECI-KSEB), 250 MW / 500 MWh Rajasthan (RVUNL)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Kerala, Rajasthan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/ NTPC Green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disclosed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17,500 MWh EPC tenders (Bikaner 7.8, Fatehgarh 3.2, Khavda 6.5 GWh); 200 MW WBSEDCL award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RJ, GJ, WB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Pace Digitek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Manufacturer; 1.25 GWh built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250 MW / 500 MWh for KPTCL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Karnataka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 MWh hybrid BESS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Anantapur, AP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 total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~9.6 GWh operational (Aug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~151 GWh tendered; ~54 GW awarded pipeline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Rajasthan and Gujarat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[25] Energy-Storage.news (Adani); [26] Mercom (Adani project); [8] IEEFA-JMK Sep 2026 (ACME, Tata, Serentica, totals); [28] BusinessToday (ACME Ph-I); [27] Energetica India (GEON); [31] Tata.com; [29] pv magazine India (IndiGrid); [30] Global Energy Alliance (Kilokari); [23] pv magazine India (JSW); [32] Black Ridge Research; [33] TaiyangNews (NTPC); [22] ESS News (Pace)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BESS units: who sells them, including auto OEMs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OEMs reuse their EV cells, pack lines, apps and dealer networks to sell home and commercial batteries, often bundled with solar or an EV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2926080"/>
                <a:gridCol w="17373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Company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and size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it is sold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Electric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2W EV OEM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Shakti home BESS: 1.5 / 3 / 5.2 / 9.1 kWh (Oct 2025)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₹29,999 - ₹1,59,999 (intro, first 10,000)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4680 'Bharat' cells; 4,000+ Ola stores; ₹999 reservation; deliveries from Jan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Electric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2W EV OEM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Shakti Gen2 4.6 / 9.2 kWh; C&amp;I racks 38-257 kWh; Mahashakti 6.26 MWh (Aug 2026)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₹99,999 / ₹1,74,999 (home)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LFP cell-to-pack in-house; app monitoring; MoU with Axis Energy for up to 20 GWh by 2032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AutoComp–Gotion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 component JV (Tata group)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packs and containers from 6 GWh Pune plant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disclosed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Captive: supplies group utility Tata Power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Tesla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EV OEM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Powerwall 13.5 kWh (home); Megapack (utility)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given here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energy business; #1 integrator, 46.7 GWh deployed in 2025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Motors (GM Energy)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auto OEM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PowerBank 10.6 / 17.7 kWh (stack to 35.4 kWh)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Bundles from US$12,700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with EV vehicle-to-home (V2H) bundles, 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 and battery OEM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Cells and storage systems, vertically integrated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given here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#1 BESS system shipper in 2025 (Benchmark)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 Raja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battery maker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Telecom storage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 GWh telecom storage deployed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Luminous, Exide, Okaya, Loom Solar, Su-Kam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inverter / battery brands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and small-commercial lithium storage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Dealer networks, sold with home inverters and rooftop solar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Ornate Solar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Indian solar company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Unity Aura C&amp;I cabinet 100-225 kWh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to commercial and industrial sites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89204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Indian four-wheeler OEM (Tata Motors, Mahindra, Maruti, Hyundai) sells a branded home BESS yet; Tata's presence is through Tata AutoComp and Tata Power.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[38] Outlook Business (Ola Shakti, Oct 2025); [39] Upstox (Ola Gen2 portfolio, Aug 2026); [24] Energy-Storage.news (Tata AutoComp-Gotion); [31] Tata.com; [16] Benchmark (Tesla, BYD); [40] Green Car Reports (GM PowerBank); [42] GreentechLead (Amara Raja); [41] Ornate Solar (Indian brands)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of major BESS projects in India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storage is clustered in Rajasthan and Gujarat solar zones; new projects are spreading to substations in the south and east</a:t>
            </a:r>
            <a:endParaRPr lang="en-US" sz="1200" dirty="0"/>
          </a:p>
        </p:txBody>
      </p:sp>
      <p:pic>
        <p:nvPicPr>
          <p:cNvPr id="4" name="Image 0" descr="/tmp/claude-0/-home-claude/5e445ab9-e607-52a6-b6d4-164c1a4ca8a0/scratchpad/deck/india_bess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251960" cy="48006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645920"/>
                <a:gridCol w="1828800"/>
                <a:gridCol w="16916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Khavda RE Park, GJ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Adani Green (GEON integrated 2.88 GWh)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~3.37 GWh; 1,126 MW / 3,530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Gujarat (GUVNL)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IndiGrid–EnerGrid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180 MW / 360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Kilokari, Delhi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BRPL with IndiGrid, AmpereHour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MW / 40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Rawatbhata, Chittorgarh, RJ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ACME Solar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223 MWh (Ph-I of 1,069 MWh)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Jaisalmer, RJ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ACME Solar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 MW / 240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Phalodi–Jodhpur, RJ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ACME Solar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 MW / 120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Chhattisgarh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Power (SECI)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MW solar + 120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Bikaner, RJ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REL (EPC tender)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7,800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Tendered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Khavda, GJ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REL (EPC tender)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6,500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Tendered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Areacode, Kerala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Power (NHPC for KSEB)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 MW / 120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construction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Mylatti, Kerala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Energy (SECI-KSEB)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 MW / 500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construction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substations, Odisha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SECI for GRIDCO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 MW / 500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Tendered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Karnataka (KPTCL)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Pace Digitek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250 MW / 500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construction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Anantapur, AP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ReNew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development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Sitapur, UP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REL (Bondada EPC)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MW / 200 MWh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construction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Mumbai (10 sites)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Power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MW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 construction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[25][26] Adani; [27] GEON; [29] IndiGrid; [30] Kilokari; [28] ACME Ph-I; [9] IEEFA-JMK Jun 2026 (ACME Jaisalmer, Phalodi; Sitapur); [31] Tata Power; [33] NTPC Green EPC; [34] SECI-GRIDCO RfS; [32] Black Ridge Research (Kerala, Karnataka, Anantapur). Map: state boundaries from DataMeet (open data); points are approximate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BESS tender specifications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tender types side by side: a VGF-backed build-own-operate tender, a short-term capacity tender and an NTPC EPC tender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310896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SECI for GRIDCO: 125 MW / 500 MWh (VGF, BOO)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SECI: 50 MW / 100 MWh (short-term)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NTPC Green: 17,500 MWh (EPC)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Size / duration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projects (5 × 20 MW / 80 MWh + 25 MW / 100 MWh); 4 hours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MW / 100 MWh; 2 hours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of 200-550 MW; 3-4 hours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and term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Build-own-operate; 15-year BESPA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 service; 1-year ESPA (Nov 2026 - Oct 2027)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Turnkey EPC + 15 years O&amp;M; 25-year design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 / grid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Inside 6 STU substations; 33 kV underground cable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ISTS-connected, already commissioned plants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NTPC solar plants; 33 kV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1-2 per day; max 420 per year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1-2 per day; max 485 in contract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Cells rated ≥10,000 cycles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Availability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≥95% a year; shortfall LD = 2× capacity charge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≥95% a year; LD = 2× capacity charge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≥92% dispatchable at POI over 15 years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Round-trip efficiency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≥85% AC-AC monthly; no tariff below 70%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≥85%; ₹3.50/kWh on excess loss; no tariff below 70%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Auxiliary and losses counted in deliverable capacity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Degradation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Min. energy 97.5% (Y1), 87.5% (Y5), 75% (Y10), 62.5% (Y15); augmentation at developer cost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at COD, 95% after Y1, ≥92% at handover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₹18 lakh/MWh: 20% at financial close, 50% at COD, 30% a year later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Commissioning 18 months; financial close 6 months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Must be operating at bid date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Bids closed 25 Jun 2026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Bank guarantees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EMD ₹9 lakh/MW; PBG ₹22.5 lakh/MW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EMD ₹2.4 cr; PBG ₹6 cr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content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EMS software developed in India; no refurbished cells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8006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that apply to all grid BESS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074920"/>
          <a:ext cx="11430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Safety Amendment 2026 (from 1 Apr 2027)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CEA Technical Standards 2026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VGF domestic content (Dec 2025)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Two-fault tolerance, automatic fire suppression in every container, explosion protection, third-party fire audit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Grid-forming and black start for ≥50 MW; capacity retention ≥90% / 80% / 70% at 5 / 10 / 15 years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≥20% of procurement cost local; EMS counts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614476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[34] SECI RfS for GRIDCO (RfS No. SECI/C&amp;P/IPP/15/0015/25-26); [35] SolarQuarter (SECI 50 MW / 100 MWh, Aug 2026); [33] TaiyangNews (NTPC Green EPC); [36] Energetica India (CEA safety rules); [37] SolarQuarter (CEA technical standards); [15] Energy-Storage.news (20% DCR)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(1 of 2)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56235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SolarQuarter – Govt roadmap to build 60.63 GW storage by FY30 (Feb 2026)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https://solarquarter.com/2026/02/04/government-unveils-multi-pronged-policy-financial-and-regulatory-roadmap-to-build-60-63-gw-energy-storage-capacity-by-fy30/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SolarQuarter – ₹5,400 cr VGF and transmission incentives (Aug 2026)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https://solarquarter.com/2026/08/12/india-strengthens-energy-storage-framework-with-inr-5400-crore-vgf-and-transmission-incentives/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NewKerala / ANI – Storage requirement to reach 411 GWh by FY32 (CareEdge)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https://www.newkerala.com/news/a/indias-energy-storage-requirement-reach-411-gwh-fy32-434.htm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TaiyangNews – India curtails 1.46 billion units of solar in 2 months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https://taiyangnews.info/markets/india-curtails-146-billion-units-solar-power-2-months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pv magazine India – BESS requirement 236 GWh by FY32 (Rubix, Oct 2026)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https://www.pv-magazine-india.com/2026/10/07/indias-battery-energy-storage-system-requirement-to-rise-nearly-seven-fold-to-236-gwh-by-fy2031-32-rubix-data-sciences/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 Angel One – Storage requirement 888 GWh by 2035-36 (IESA)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https://www.angelone.in/news/economy/india-s-energy-storage-requirement-to-reach-888-gwh-by-2035-36-report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 ESS News – India adds 8.2 GWh BESS in H1 2026 (Mercom)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https://www.ess-news.com/2026/09/14/india-adds-8-2-gwh-of-new-bess-capacity-in-h1-2026/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 IEEFA-JMK – EnergyWatts September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https://ieefa.org/sites/default/files/2026-09/ESSjmk-0926.pdf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 IEEFA-JMK – EnergyWatts June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https://ieefa.org/sites/default/files/2026-08/ESSjmk-0626.pdf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 JMK Research – EnergyWatts September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https://jmkresearch.com/?p=139948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 Energetica India – India adds 3.69 GW RE in Sep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https://www.energetica-india.net/news/india-adds-3-69-gw-re-capacity-in-september-2026-total-addition-in-fy27-reaches-24-56-gw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 pv magazine India – Record 45 GW solar in FY2026 (JMK)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https://www.pv-magazine-india.com/2026/04/10/india-installs-record-45-gw-solar-capacity-in-fy2026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 MNRE – Physical progress (year-end installed RE capacity)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https://mnre.gov.in/physical-progress/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 Renewable Watch – RPO and ESO up to 2030 notified by MoP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https://renewablewatch.in/2022/07/25/rpo-and-eso-upto-2030-notified-by-the-ministry-of-power/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914400"/>
            <a:ext cx="56235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 Energy-Storage.news – 20% domestic content rule for BESS VGF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https://www.energy-storage.news/?p=92648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 Benchmark Mineral Intelligence – Top storage cell suppliers and integrators 2025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https://source.benchmarkminerals.com/article/the-top-energy-storage-cell-suppliers-and-system-integrators-in-2025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 SolarQuarter – Chinese companies capture 76% of BESS integrator market (Wood Mackenzie)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https://solarquarter.com/2026/07/02/chinese-companies-capture-76-of-global-bess-integrator-market-in-2025-wood-mackenzie-reports/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 ESS News – InfoLink: 2025 storage cell shipments 612 GWh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https://www.ess-news.com/2026/02/09/infolink-2025-energy-storage-cell-shipments-jump-95-to-612-gwh-as-market-flips-from-glut-to-tightness/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 pv magazine USA – BloombergNEF: energy storage reaches the 100 GW 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https://pv-magazine-usa.com/2026/05/11/bloombergnef-confirms-energy-storage-has-reached-the-100-gw-era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 Energetica India – From imports to integration: BESS manufacturing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https://www.energetica-india.net/news/from-imports-to-integration-is-india-ready-to-manufacture-bess-at-scale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 Renewable Watch – Waaree ESS commissions 5.15 GWh facility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https://renewablewatch.in/2026/07/17/waaree-ess-commissions-5-15-gwh-bess-container-manufacturing-facility/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 ESS News – Pace Digitek builds 1.25 GWh of BESS in first year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https://www.ess-news.com/2026/07/09/indias-pace-digitek-manufactures-more-than-1-25-gwh-of-bess-capacity-in-first-year-of-operation/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 pv magazine India – JSW Energy secures 200 MW / 400 MWh BESS order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http://www.pv-magazine-india.com/2026/07/13/jsw-energy-secures-200-mw-400-mwh-bess-order-from-bondada-renewable-energy/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 Energy-Storage.news – Tata AutoComp-Gotion JV supplies first BESS units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https://www.energy-storage.news/tata-autocomp-gotion-jv-supplies-first-bess-units-to-tata-power-project-in-pune-india/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[25] Energy-Storage.news – Adani Green reaches 3.37 GWh BESS at Khavda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https://www.energy-storage.news/?p=101940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[26] Mercom India – Adani enters BESS with 1,126 MW / 3,530 MWh project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https://www.mercomindia.com/adani-group-enters-bess-sector-with-1126-mw-3530-mwh-project-at-khavda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[27] Energetica India – GEON commissions 2.88 GWh BESS at Khavda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https://www.energetica-india.net/news/geon-commissions-288-gwh-bess-project-at-khavda-marking-major-milestone-in-indias-energy-storage-sector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[28] BusinessToday – ACME Solar commissions Phase-I BESS in Rajasthan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https://www.businesstoday.in/markets/stocks/story/acme-solar-in-focus-after-commissioning-phase-i-bess-project-in-rajasthan-558935-2026-10-01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(2 of 2)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56235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[29] pv magazine India – IndiGrid commissions 180 MW / 360 MWh BESS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http://www.pv-magazine-india.com/2026/05/11/indigrid-commissions-180-mw-360-mwh-battery-energy-storage-system-project-in-gujarat/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[30] Global Energy Alliance – India's first utility-scale standalone BESS (Kilokari)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https://energyalliance.org/india-first-utility-scale-standalone-battery-energy-storage-system/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[31] Tata.com – Tata Power: leading the battery storage charge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https://www.tata.com/newsroom/business/tata-power-battery-storage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[32] Black Ridge Research – Largest BESS projects in India 2026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https://www.blackridgeresearch.com/blog/list-of-largest-upcoming-ongoing-battery-energy-storage-bess-projects-india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[33] TaiyangNews – NTPC Green launches 17,500 MWh BESS EPC tenders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https://taiyangnews.info/tenders/ntpc-green-launches-17500-mwh-bess-epc-tenders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[34] SECI – RfS for 125 MW / 500 MWh BESS for GRIDCO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https://www.seci.co.in/uploads/tenders/RfS-BESS_Projects-GRIDCO.pdf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[35] SolarQuarter – SECI invites bids for 50 MW / 100 MWh standalone ESS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https://solarquarter.com/2026/08/29/seci-invites-bids-for-50-mw-100-mwh-standalone-energy-storage-system/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[36] Energetica India – CEA issues 2026 BESS safety rules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https://www.energetica-india.net/news/cea-issues-2026-bess-safety-rules-mandates-two-fault-tolerance-and-fire-audits-from-april-2027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[37] SolarQuarter – CEA 2026 technical standards for BESS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https://solarquarter.com/2026/04/14/cea-2026-amendment-sets-new-technical-standards-for-bess-solar-and-wind-projects-in-india/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[38] Outlook Business – Ola launches Ola Shakti residential BESS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https://www.outlookbusiness.com/news/ola-launches-ola-shakti-enters-indias-residential-bess-market-with-4680-bharat-cells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[39] Upstox – Ola Electric unveils home-to-grid storage portfolio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https://upstox.com/news/business-news/latest-updates/ola-electric-unveils-home-to-grid-battery-storage-portforlio-starting-at-99-999/article-198754/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[40] Green Car Reports – GM PowerBank home energy storage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https://www.greencarreports.com/news/1144702_gm-powerbank-home-energy-storage-arrives-could-outflex-tesla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[41] Ornate Solar – Top 10 BESS manufacturers in India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https://ornatesolar.com/blog/top-10-battery-energy-storage-system-bess-manufacturers-in-india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[42] GreentechLead – India EV and battery investments 2026 (Amara Raja)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https://greentechlead.com/electric-vehicle/india-ev-and-battery-investments-2026-tata-amara-raja-and-exide-expand-gigafactory-plans-55902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914400"/>
            <a:ext cx="562356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[43] BusinessToday – India has failed to build a battery cell ecosystem (22 Oct 2026)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https://www.businesstoday.in/auto/story/bt-big-story-india-has-failed-to-build-an-ecosystem-of-battery-cells-can-a-new-pli-change-this-562898-2026-10-22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[44] Gujarat Fluorochemicals – Investor presentation (May 2026)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https://nsearchives.nseindia.com/corporate/FLUOROCHEM_26052026164956_GFCL_Investor_Presentation_26May2026.pdf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[45] Indian Chemical News – Hindalco commissions battery foil facility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https://www.indianchemicalnews.com/battery/lite/hindalco-to-invest-rs-21000-crore-on-smelter-expansion-commissions-frp-and-battery-foil-facilities-in-odisha-29082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[46] Indian Chemical News – Interview: Vikram Handa, Epsilon Group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https://www.indianchemicalnews.com/interviews/india-must-act-now-to-dominate-global-battery-materials-vikram-handa-managing-director-epsilon-group-581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[47] pv magazine – Chinese makers scale from 314 Ah to 500 Ah+ LFP cells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https://www.pv-magazine.com/2026/01/23/chinese-battery-makers-scale-up-from-314ah-to-500ah-plus-lfp-cells/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[48] Energetica India – Alternative battery supply chain (electrolyte solvents)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https://www.energetica-india.net/articles/indias-growing-dominance-in-the-ev-sector-a-global-shift-towards-an-alternative-supply-chain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[49] Energetica India – Waaree ESS commissions 5.15 GWh facility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https://www.energetica-india.net/news/waaree-ess-commissions-515-gwh-bess-container-manufacturing-facility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[50] ICICI Direct – Exide commissions Phase-I of 6 GWh cell plant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https://www.icicidirect.com/research/equity/trending-news/exide-arm-commissions-phase-i-of-6-gwh-li-ion-cell-plant-in-bengaluru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[51] pv magazine India – Reliance targets 120 GWh BESS and cell capacity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https://www.pv-magazine-india.com/2026/06/22/reliance-targets-120-gwh-of-annual-bess-and-cell-manufacturing-capacity-first-phase-to-start-production-this-year/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[52] Mercom India – Waaree to set up 16 GWh gigafactory in Andhra Pradesh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https://www.mercomindia.com/waaree-to-set-up-16-gwh-lithium-ion-battery-gigafactory-in-andhra-pradesh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[53] SolarQuarter – SECI 50 MW / 100 MWh (RTE, availability benchmarks); India_BESS_Benchmarks_Oct2026.docx (ev repo)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https://solarquarter.com/2026/08/29/seci-invites-bids-for-50-mw-100-mwh-standalone-energy-storage-system/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[54] BESS Deep Research Report, Oct 2026 – ev repo (Crypto-ashish/ev)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https://github.com/Crypto-ashish/ev/blob/main/BESS_Deep_Research_Report_Oct2026.docx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[55] EV SIM.pptx – project reference deck (Generation 3 slide)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file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SS Plain">
  <a:themeElements>
    <a:clrScheme name="BESS Plain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1F4E79"/>
      </a:accent1>
      <a:accent2>
        <a:srgbClr val="D9E2F3"/>
      </a:accent2>
      <a:accent3>
        <a:srgbClr val="7F7F7F"/>
      </a:accent3>
      <a:accent4>
        <a:srgbClr val="C00000"/>
      </a:accent4>
      <a:accent5>
        <a:srgbClr val="BDD7EE"/>
      </a:accent5>
      <a:accent6>
        <a:srgbClr val="595959"/>
      </a:accent6>
      <a:hlink>
        <a:srgbClr val="1F4E79"/>
      </a:hlink>
      <a:folHlink>
        <a:srgbClr val="595959"/>
      </a:folHlink>
    </a:clrScheme>
    <a:fontScheme name="BESS Plain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BESS in India</dc:title>
  <dc:subject>PptxGenJS Presentation</dc:subject>
  <dc:creator>Ashishpreet</dc:creator>
  <cp:lastModifiedBy>Ashishpreet</cp:lastModifiedBy>
  <cp:revision>1</cp:revision>
  <dcterms:created xsi:type="dcterms:W3CDTF">2026-10-23T11:54:12Z</dcterms:created>
  <dcterms:modified xsi:type="dcterms:W3CDTF">2026-10-23T11:54:12Z</dcterms:modified>
</cp:coreProperties>
</file>