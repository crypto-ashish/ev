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4.xml" ContentType="application/vnd.openxmlformats-officedocument.presentationml.notesSlide+xml"/>
  <Override PartName="/ppt/charts/chart18.xml" ContentType="application/vnd.openxmlformats-officedocument.drawingml.chart+xml"/>
  <Override PartName="/ppt/notesSlides/notesSlide5.xml" ContentType="application/vnd.openxmlformats-officedocument.presentationml.notesSlide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147483512" r:id="rId3"/>
    <p:sldId id="2147483513" r:id="rId4"/>
    <p:sldId id="2147483514" r:id="rId5"/>
    <p:sldId id="2147483515" r:id="rId6"/>
    <p:sldId id="2147483501" r:id="rId7"/>
    <p:sldId id="2147483485" r:id="rId8"/>
    <p:sldId id="2147483484" r:id="rId9"/>
    <p:sldId id="2147483486" r:id="rId10"/>
    <p:sldId id="2147483487" r:id="rId11"/>
    <p:sldId id="2147483488" r:id="rId12"/>
    <p:sldId id="2147483489" r:id="rId13"/>
    <p:sldId id="2147483491" r:id="rId14"/>
    <p:sldId id="2147483492" r:id="rId15"/>
    <p:sldId id="2147483493" r:id="rId16"/>
    <p:sldId id="2147483494" r:id="rId17"/>
    <p:sldId id="2147483516" r:id="rId18"/>
    <p:sldId id="2147483496" r:id="rId19"/>
    <p:sldId id="2147483517" r:id="rId20"/>
    <p:sldId id="258" r:id="rId21"/>
    <p:sldId id="2147483506" r:id="rId22"/>
    <p:sldId id="2147483507" r:id="rId23"/>
    <p:sldId id="2147483508" r:id="rId24"/>
    <p:sldId id="2147483509" r:id="rId25"/>
    <p:sldId id="2147483510" r:id="rId26"/>
    <p:sldId id="214748351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Producers chart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China</c:v>
                </c:pt>
                <c:pt idx="1">
                  <c:v>Germany</c:v>
                </c:pt>
                <c:pt idx="2">
                  <c:v>USA(est)</c:v>
                </c:pt>
                <c:pt idx="3">
                  <c:v>S. Korea(est)</c:v>
                </c:pt>
                <c:pt idx="4">
                  <c:v>Spain(est)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166</c:v>
                </c:pt>
                <c:pt idx="1">
                  <c:v>12.2</c:v>
                </c:pt>
                <c:pt idx="2">
                  <c:v>10.4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5B-4A18-8F50-EDD6CABB91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IN" sz="1400" dirty="0"/>
                  <a:t>No.</a:t>
                </a:r>
                <a:r>
                  <a:rPr lang="en-IN" sz="1400" baseline="0" dirty="0"/>
                  <a:t> of  EV</a:t>
                </a:r>
                <a:endParaRPr lang="en-IN" sz="1400" dirty="0"/>
              </a:p>
            </c:rich>
          </c:tx>
          <c:layout>
            <c:manualLayout>
              <c:xMode val="edge"/>
              <c:yMode val="edge"/>
              <c:x val="3.8483067450321859E-2"/>
              <c:y val="0.37794150473989108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chart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0519-4965-BFDC-124381B9E6D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519-4965-BFDC-124381B9E6D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0519-4965-BFDC-124381B9E6D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0519-4965-BFDC-124381B9E6D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0519-4965-BFDC-124381B9E6D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0519-4965-BFDC-124381B9E6D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0519-4965-BFDC-124381B9E6D3}"/>
              </c:ext>
            </c:extLst>
          </c:dPt>
          <c:dLbls>
            <c:dLbl>
              <c:idx val="6"/>
              <c:layout>
                <c:manualLayout>
                  <c:x val="2.0781379883624149E-2"/>
                  <c:y val="4.01744719926538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2.23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464588746855521"/>
                      <c:h val="0.1217001800394785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C-0519-4965-BFDC-124381B9E6D3}"/>
                </c:ext>
              </c:extLst>
            </c:dLbl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World</c:v>
                </c:pt>
                <c:pt idx="1">
                  <c:v>China</c:v>
                </c:pt>
                <c:pt idx="2">
                  <c:v>USA</c:v>
                </c:pt>
                <c:pt idx="3">
                  <c:v>Germany</c:v>
                </c:pt>
                <c:pt idx="4">
                  <c:v>UK</c:v>
                </c:pt>
                <c:pt idx="5">
                  <c:v>France</c:v>
                </c:pt>
                <c:pt idx="6">
                  <c:v>India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207</c:v>
                </c:pt>
                <c:pt idx="1">
                  <c:v>130</c:v>
                </c:pt>
                <c:pt idx="2">
                  <c:v>15</c:v>
                </c:pt>
                <c:pt idx="3">
                  <c:v>8.5</c:v>
                </c:pt>
                <c:pt idx="4">
                  <c:v>7.1</c:v>
                </c:pt>
                <c:pt idx="5">
                  <c:v>4.2</c:v>
                </c:pt>
                <c:pt idx="6">
                  <c:v>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519-4965-BFDC-124381B9E6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share chart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62B-4D3D-8E40-622629242F7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62B-4D3D-8E40-622629242F7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62B-4D3D-8E40-622629242F7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62B-4D3D-8E40-622629242F7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062B-4D3D-8E40-622629242F7F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062B-4D3D-8E40-622629242F7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Norway</c:v>
                </c:pt>
                <c:pt idx="1">
                  <c:v>Denmark</c:v>
                </c:pt>
                <c:pt idx="2">
                  <c:v>Nepal</c:v>
                </c:pt>
                <c:pt idx="3">
                  <c:v>Iceland</c:v>
                </c:pt>
                <c:pt idx="4">
                  <c:v>Sweden</c:v>
                </c:pt>
                <c:pt idx="5">
                  <c:v>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71</c:v>
                </c:pt>
                <c:pt idx="2">
                  <c:v>68</c:v>
                </c:pt>
                <c:pt idx="3">
                  <c:v>62</c:v>
                </c:pt>
                <c:pt idx="4">
                  <c:v>61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62B-4D3D-8E40-622629242F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8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11481786324809"/>
          <c:y val="0.14469012774378606"/>
          <c:w val="0.47540713406795476"/>
          <c:h val="0.6400220318192093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5D-4E15-BE87-A5310BE0249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5D-4E15-BE87-A5310BE02491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5D-4E15-BE87-A5310BE02491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5D-4E15-BE87-A5310BE0249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EV India </c:v>
                </c:pt>
                <c:pt idx="1">
                  <c:v>Non-EV India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5D-4E15-BE87-A5310BE02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8150127590696752E-2"/>
          <c:y val="0.78303614774845554"/>
          <c:w val="0.42276189986188628"/>
          <c:h val="0.213127716264035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chart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2F4-4692-B781-0F47F4D1FEB8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2F4-4692-B781-0F47F4D1FEB8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World</c:v>
                </c:pt>
                <c:pt idx="1">
                  <c:v>China</c:v>
                </c:pt>
                <c:pt idx="2">
                  <c:v>India</c:v>
                </c:pt>
                <c:pt idx="3">
                  <c:v>Japan</c:v>
                </c:pt>
                <c:pt idx="4">
                  <c:v>Germany</c:v>
                </c:pt>
                <c:pt idx="5">
                  <c:v>USA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830</c:v>
                </c:pt>
                <c:pt idx="1">
                  <c:v>301</c:v>
                </c:pt>
                <c:pt idx="2">
                  <c:v>47</c:v>
                </c:pt>
                <c:pt idx="3">
                  <c:v>38</c:v>
                </c:pt>
                <c:pt idx="4">
                  <c:v>28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2F4-4692-B781-0F47F4D1FE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IN" sz="1400" dirty="0"/>
                  <a:t>Sales</a:t>
                </a:r>
              </a:p>
            </c:rich>
          </c:tx>
          <c:layout>
            <c:manualLayout>
              <c:xMode val="edge"/>
              <c:yMode val="edge"/>
              <c:x val="3.8099196453311168E-2"/>
              <c:y val="0.331540620955438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AF-4F9F-917D-8BF14DFC10E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AF-4F9F-917D-8BF14DFC10E8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AF-4F9F-917D-8BF14DFC10E8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AF-4F9F-917D-8BF14DFC10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EV (207L)</c:v>
                </c:pt>
                <c:pt idx="1">
                  <c:v>Non-EV (623L)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</c:v>
                </c:pt>
                <c:pt idx="1">
                  <c:v>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F-4F9F-917D-8BF14DFC1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3.6889999903397225E-2"/>
          <c:y val="0.78303612254229538"/>
          <c:w val="0.42276189986188628"/>
          <c:h val="0.213127716264035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e-2W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2.2999999999999998</c:v>
                </c:pt>
                <c:pt idx="2">
                  <c:v>7.3</c:v>
                </c:pt>
                <c:pt idx="3">
                  <c:v>9.4</c:v>
                </c:pt>
                <c:pt idx="4">
                  <c:v>11.5</c:v>
                </c:pt>
                <c:pt idx="5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6-4AF2-8046-79D6619264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e-3W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</c:v>
                </c:pt>
                <c:pt idx="1">
                  <c:v>1.8</c:v>
                </c:pt>
                <c:pt idx="2">
                  <c:v>4</c:v>
                </c:pt>
                <c:pt idx="3">
                  <c:v>6.3</c:v>
                </c:pt>
                <c:pt idx="4">
                  <c:v>7</c:v>
                </c:pt>
                <c:pt idx="5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A6-4AF2-8046-79D6619264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e-4W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1">
                  <c:v>0.2</c:v>
                </c:pt>
                <c:pt idx="2" formatCode="General">
                  <c:v>0.5</c:v>
                </c:pt>
                <c:pt idx="3" formatCode="General">
                  <c:v>0.9</c:v>
                </c:pt>
                <c:pt idx="4" formatCode="General">
                  <c:v>1.1000000000000001</c:v>
                </c:pt>
                <c:pt idx="5" formatCode="General">
                  <c:v>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A6-4AF2-8046-79D6619264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none"/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1.3</c:v>
                </c:pt>
                <c:pt idx="1">
                  <c:v>4.3</c:v>
                </c:pt>
                <c:pt idx="2">
                  <c:v>11.8</c:v>
                </c:pt>
                <c:pt idx="3">
                  <c:v>16.7</c:v>
                </c:pt>
                <c:pt idx="4">
                  <c:v>19.600000000000001</c:v>
                </c:pt>
                <c:pt idx="5">
                  <c:v>24.3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9A6-4AF2-8046-79D66192646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7EE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/>
                </a:pPr>
                <a:r>
                  <a:rPr lang="en-IN" sz="1200" dirty="0"/>
                  <a:t>Sales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E75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386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Powertrain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3F-47D3-8B9B-2127F9C02B12}"/>
              </c:ext>
            </c:extLst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3F-47D3-8B9B-2127F9C02B1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3F-47D3-8B9B-2127F9C02B1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F-47D3-8B9B-2127F9C02B1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EV (24.3L)</c:v>
                </c:pt>
                <c:pt idx="1">
                  <c:v>Non-EV (250.6L)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24.33</c:v>
                </c:pt>
                <c:pt idx="1">
                  <c:v>250.56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3F-47D3-8B9B-2127F9C02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16-454D-848E-81E014DF1C4D}"/>
              </c:ext>
            </c:extLst>
          </c:dPt>
          <c:dPt>
            <c:idx val="1"/>
            <c:bubble3D val="0"/>
            <c:spPr>
              <a:solidFill>
                <a:srgbClr val="9DC3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16-454D-848E-81E014DF1C4D}"/>
              </c:ext>
            </c:extLst>
          </c:dPt>
          <c:dPt>
            <c:idx val="2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16-454D-848E-81E014DF1C4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16-454D-848E-81E014DF1C4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16-454D-848E-81E014DF1C4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16-454D-848E-81E014DF1C4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2W (214.2L)</c:v>
                </c:pt>
                <c:pt idx="1">
                  <c:v>3W (13.6L)</c:v>
                </c:pt>
                <c:pt idx="2">
                  <c:v>4W (47.1L)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214.2</c:v>
                </c:pt>
                <c:pt idx="1">
                  <c:v>13.63</c:v>
                </c:pt>
                <c:pt idx="2">
                  <c:v>47.05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A16-454D-848E-81E014DF1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626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e-PV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FY21</c:v>
                </c:pt>
                <c:pt idx="1">
                  <c:v>FY22
▲371%</c:v>
                </c:pt>
                <c:pt idx="2">
                  <c:v>FY23
▲149%</c:v>
                </c:pt>
                <c:pt idx="3">
                  <c:v>FY24
▲88%</c:v>
                </c:pt>
                <c:pt idx="4">
                  <c:v>FY25
▲15%</c:v>
                </c:pt>
                <c:pt idx="5">
                  <c:v>FY26
▲90%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</c:v>
                </c:pt>
                <c:pt idx="1">
                  <c:v>0.22</c:v>
                </c:pt>
                <c:pt idx="2">
                  <c:v>0.54</c:v>
                </c:pt>
                <c:pt idx="3">
                  <c:v>1.01</c:v>
                </c:pt>
                <c:pt idx="4">
                  <c:v>1.1599999999999999</c:v>
                </c:pt>
                <c:pt idx="5">
                  <c:v>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D-4727-B28B-9408CE85F1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6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0.253</c:v>
                </c:pt>
                <c:pt idx="1">
                  <c:v>0.26200000000000001</c:v>
                </c:pt>
                <c:pt idx="2">
                  <c:v>0.33500000000000002</c:v>
                </c:pt>
                <c:pt idx="3">
                  <c:v>0.34499999999999997</c:v>
                </c:pt>
                <c:pt idx="4">
                  <c:v>0.30399999999999999</c:v>
                </c:pt>
                <c:pt idx="5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8-4263-AFAF-FE99E76178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2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 sz="1800" dirty="0"/>
              <a:t>Major OEM EV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Tata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FY22-23</c:v>
                </c:pt>
                <c:pt idx="1">
                  <c:v>FY23-24</c:v>
                </c:pt>
                <c:pt idx="2">
                  <c:v>FY24-25</c:v>
                </c:pt>
                <c:pt idx="3">
                  <c:v>FY25-26</c:v>
                </c:pt>
                <c:pt idx="4">
                  <c:v>H1 FY26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31972</c:v>
                </c:pt>
                <c:pt idx="1">
                  <c:v>60007</c:v>
                </c:pt>
                <c:pt idx="2">
                  <c:v>61435</c:v>
                </c:pt>
                <c:pt idx="3">
                  <c:v>70004</c:v>
                </c:pt>
                <c:pt idx="4">
                  <c:v>74000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06-444E-8D5D-DC02A5C0B0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Mahindra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FY22-23</c:v>
                </c:pt>
                <c:pt idx="1">
                  <c:v>FY23-24</c:v>
                </c:pt>
                <c:pt idx="2">
                  <c:v>FY24-25</c:v>
                </c:pt>
                <c:pt idx="3">
                  <c:v>FY25-26</c:v>
                </c:pt>
                <c:pt idx="4">
                  <c:v>H1 FY26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 formatCode="General">
                  <c:v>280</c:v>
                </c:pt>
                <c:pt idx="1">
                  <c:v>4269</c:v>
                </c:pt>
                <c:pt idx="2">
                  <c:v>7104</c:v>
                </c:pt>
                <c:pt idx="3">
                  <c:v>33513</c:v>
                </c:pt>
                <c:pt idx="4">
                  <c:v>42000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06-444E-8D5D-DC02A5C0B0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MG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FY22-23</c:v>
                </c:pt>
                <c:pt idx="1">
                  <c:v>FY23-24</c:v>
                </c:pt>
                <c:pt idx="2">
                  <c:v>FY24-25</c:v>
                </c:pt>
                <c:pt idx="3">
                  <c:v>FY25-26</c:v>
                </c:pt>
                <c:pt idx="4">
                  <c:v>H1 FY26</c:v>
                </c:pt>
              </c:strCache>
            </c:strRef>
          </c:cat>
          <c:val>
            <c:numRef>
              <c:f>Sheet1!$D$2:$D$6</c:f>
              <c:numCache>
                <c:formatCode>#,##0</c:formatCode>
                <c:ptCount val="5"/>
                <c:pt idx="0">
                  <c:v>3429</c:v>
                </c:pt>
                <c:pt idx="1">
                  <c:v>9523</c:v>
                </c:pt>
                <c:pt idx="2">
                  <c:v>21464</c:v>
                </c:pt>
                <c:pt idx="3">
                  <c:v>51387</c:v>
                </c:pt>
                <c:pt idx="4">
                  <c:v>31819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06-444E-8D5D-DC02A5C0B0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Maruti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FY22-23</c:v>
                </c:pt>
                <c:pt idx="1">
                  <c:v>FY23-24</c:v>
                </c:pt>
                <c:pt idx="2">
                  <c:v>FY24-25</c:v>
                </c:pt>
                <c:pt idx="3">
                  <c:v>FY25-26</c:v>
                </c:pt>
                <c:pt idx="4">
                  <c:v>H1 FY26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#,##0">
                  <c:v>7801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B06-444E-8D5D-DC02A5C0B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00976928"/>
        <c:axId val="1622195439"/>
      </c:lineChart>
      <c:catAx>
        <c:axId val="140097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2195439"/>
        <c:crosses val="autoZero"/>
        <c:auto val="1"/>
        <c:lblAlgn val="ctr"/>
        <c:lblOffset val="100"/>
        <c:noMultiLvlLbl val="0"/>
      </c:catAx>
      <c:valAx>
        <c:axId val="162219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EV car sales </a:t>
                </a:r>
              </a:p>
            </c:rich>
          </c:tx>
          <c:layout>
            <c:manualLayout>
              <c:xMode val="edge"/>
              <c:yMode val="edge"/>
              <c:x val="3.6642238507661559E-2"/>
              <c:y val="0.206137872628726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976928"/>
        <c:crosses val="autoZero"/>
        <c:crossBetween val="between"/>
        <c:majorUnit val="20000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tx2">
          <a:lumMod val="10000"/>
          <a:lumOff val="90000"/>
        </a:schemeClr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F4E79"/>
                </a:solidFill>
                <a:latin typeface="Calibri"/>
              </a:rPr>
              <a:t>Component allocations at approval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4E79"/>
                    </a:solidFill>
                    <a:latin typeface="+mj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e-buses</c:v>
                </c:pt>
                <c:pt idx="1">
                  <c:v>Demand incentives</c:v>
                </c:pt>
                <c:pt idx="2">
                  <c:v>Public charging</c:v>
                </c:pt>
                <c:pt idx="3">
                  <c:v>Testing</c:v>
                </c:pt>
                <c:pt idx="4">
                  <c:v>e-ambulance</c:v>
                </c:pt>
                <c:pt idx="5">
                  <c:v>e-trucks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4391</c:v>
                </c:pt>
                <c:pt idx="1">
                  <c:v>3679</c:v>
                </c:pt>
                <c:pt idx="2">
                  <c:v>2000</c:v>
                </c:pt>
                <c:pt idx="3">
                  <c:v>780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4A-4C80-93C0-56B290C066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+mj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4E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lang="en-US" sz="1600" b="0" i="0" u="none" strike="noStrike" dirty="0">
                <a:solidFill>
                  <a:srgbClr val="1F1F1F"/>
                </a:solidFill>
                <a:latin typeface="+mn-lt"/>
              </a:rPr>
              <a:t>Power falls as the battery fills (100 kW charger)</a:t>
            </a:r>
          </a:p>
        </c:rich>
      </c:tx>
      <c:layout>
        <c:manualLayout>
          <c:xMode val="edge"/>
          <c:yMode val="edge"/>
          <c:x val="0.13192344706911635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Charging power (kW)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10–20</c:v>
                </c:pt>
                <c:pt idx="1">
                  <c:v>20–30</c:v>
                </c:pt>
                <c:pt idx="2">
                  <c:v>30–40</c:v>
                </c:pt>
                <c:pt idx="3">
                  <c:v>40–50</c:v>
                </c:pt>
                <c:pt idx="4">
                  <c:v>50–60</c:v>
                </c:pt>
                <c:pt idx="5">
                  <c:v>60–70</c:v>
                </c:pt>
                <c:pt idx="6">
                  <c:v>70–80</c:v>
                </c:pt>
                <c:pt idx="7">
                  <c:v>80–90</c:v>
                </c:pt>
                <c:pt idx="8">
                  <c:v>90–100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70</c:v>
                </c:pt>
                <c:pt idx="5">
                  <c:v>70</c:v>
                </c:pt>
                <c:pt idx="6">
                  <c:v>45</c:v>
                </c:pt>
                <c:pt idx="7">
                  <c:v>30</c:v>
                </c:pt>
                <c:pt idx="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F-42F4-8CBB-876A9634B1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0404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04040"/>
                    </a:solidFill>
                    <a:latin typeface="Arial"/>
                  </a:rPr>
                  <a:t>State of charge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0404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404040"/>
                    </a:solidFill>
                    <a:latin typeface="Arial"/>
                  </a:rPr>
                  <a:t>kW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+mn-lt"/>
              </a:defRPr>
            </a:pPr>
            <a:r>
              <a:rPr lang="en-US" sz="1400" b="1" i="0" u="none" strike="noStrike" dirty="0">
                <a:solidFill>
                  <a:srgbClr val="1F1F1F"/>
                </a:solidFill>
                <a:latin typeface="+mn-lt"/>
              </a:rPr>
              <a:t>EV batteries installed in 2025, by maker (GWh</a:t>
            </a:r>
            <a:r>
              <a:rPr lang="en-US" sz="1100" b="0" i="0" u="none" strike="noStrike" dirty="0">
                <a:solidFill>
                  <a:srgbClr val="1F1F1F"/>
                </a:solidFill>
                <a:latin typeface="+mn-lt"/>
              </a:rPr>
              <a:t>)</a:t>
            </a:r>
          </a:p>
        </c:rich>
      </c:tx>
      <c:layout>
        <c:manualLayout>
          <c:xMode val="edge"/>
          <c:yMode val="edge"/>
          <c:x val="0.17409056506825535"/>
          <c:y val="0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GWh installed, 2025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CD06-436F-B9F5-AEAE7D556592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06-436F-B9F5-AEAE7D556592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90000"/>
                  <a:lumOff val="1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D06-436F-B9F5-AEAE7D556592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06-436F-B9F5-AEAE7D556592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D06-436F-B9F5-AEAE7D556592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90000"/>
                  <a:lumOff val="1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06-436F-B9F5-AEAE7D55659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CD06-436F-B9F5-AEAE7D55659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CATL</c:v>
                </c:pt>
                <c:pt idx="1">
                  <c:v>BYD</c:v>
                </c:pt>
                <c:pt idx="2">
                  <c:v>LGES</c:v>
                </c:pt>
                <c:pt idx="3">
                  <c:v>CALB</c:v>
                </c:pt>
                <c:pt idx="4">
                  <c:v>Gotion</c:v>
                </c:pt>
                <c:pt idx="5">
                  <c:v>SK On</c:v>
                </c:pt>
                <c:pt idx="6">
                  <c:v>Panasonic</c:v>
                </c:pt>
                <c:pt idx="7">
                  <c:v>Others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464.7</c:v>
                </c:pt>
                <c:pt idx="1">
                  <c:v>194.8</c:v>
                </c:pt>
                <c:pt idx="2">
                  <c:v>108.8</c:v>
                </c:pt>
                <c:pt idx="3">
                  <c:v>62.8</c:v>
                </c:pt>
                <c:pt idx="4">
                  <c:v>53.5</c:v>
                </c:pt>
                <c:pt idx="5">
                  <c:v>44.5</c:v>
                </c:pt>
                <c:pt idx="6">
                  <c:v>44.2</c:v>
                </c:pt>
                <c:pt idx="7">
                  <c:v>213.7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BE-4A13-9078-14C22E23F0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400" dirty="0"/>
                  <a:t>GWh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57280722172725"/>
          <c:y val="0.1499007071405232"/>
          <c:w val="0.72730702240201628"/>
          <c:h val="0.744854684437770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Public Charging Point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9E-4239-9C0A-FC3CCF17C3D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69E-4239-9C0A-FC3CCF17C3D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Fast Charger</c:v>
                </c:pt>
                <c:pt idx="1">
                  <c:v>Slow Charger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16561</c:v>
                </c:pt>
                <c:pt idx="1">
                  <c:v>36157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F-40AA-9268-44AE276D0B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Charger</a:t>
            </a:r>
            <a:r>
              <a:rPr lang="en-IN" baseline="0" dirty="0"/>
              <a:t> Network – Top 10 states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Fast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Karnataka</c:v>
                </c:pt>
                <c:pt idx="1">
                  <c:v>Maharashtra</c:v>
                </c:pt>
                <c:pt idx="2">
                  <c:v>Uttar Pradesh</c:v>
                </c:pt>
                <c:pt idx="3">
                  <c:v>Delhi</c:v>
                </c:pt>
                <c:pt idx="4">
                  <c:v>Tamil Nadu</c:v>
                </c:pt>
                <c:pt idx="5">
                  <c:v>Rajasthan</c:v>
                </c:pt>
                <c:pt idx="6">
                  <c:v>Kerala</c:v>
                </c:pt>
                <c:pt idx="7">
                  <c:v>Gujarat</c:v>
                </c:pt>
                <c:pt idx="8">
                  <c:v>Madhya Pradesh</c:v>
                </c:pt>
                <c:pt idx="9">
                  <c:v>Telangana</c:v>
                </c:pt>
              </c:strCache>
            </c:strRef>
          </c:cat>
          <c:val>
            <c:numRef>
              <c:f>Sheet1!$C$2:$C$11</c:f>
              <c:numCache>
                <c:formatCode>#,##0</c:formatCode>
                <c:ptCount val="10"/>
                <c:pt idx="0">
                  <c:v>751</c:v>
                </c:pt>
                <c:pt idx="1">
                  <c:v>1205</c:v>
                </c:pt>
                <c:pt idx="2">
                  <c:v>540</c:v>
                </c:pt>
                <c:pt idx="3">
                  <c:v>399</c:v>
                </c:pt>
                <c:pt idx="4">
                  <c:v>926</c:v>
                </c:pt>
                <c:pt idx="5">
                  <c:v>523</c:v>
                </c:pt>
                <c:pt idx="6">
                  <c:v>553</c:v>
                </c:pt>
                <c:pt idx="7">
                  <c:v>578</c:v>
                </c:pt>
                <c:pt idx="8">
                  <c:v>353</c:v>
                </c:pt>
                <c:pt idx="9">
                  <c:v>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1-42D8-B49C-9FC103B68F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Karnataka</c:v>
                </c:pt>
                <c:pt idx="1">
                  <c:v>Maharashtra</c:v>
                </c:pt>
                <c:pt idx="2">
                  <c:v>Uttar Pradesh</c:v>
                </c:pt>
                <c:pt idx="3">
                  <c:v>Delhi</c:v>
                </c:pt>
                <c:pt idx="4">
                  <c:v>Tamil Nadu</c:v>
                </c:pt>
                <c:pt idx="5">
                  <c:v>Rajasthan</c:v>
                </c:pt>
                <c:pt idx="6">
                  <c:v>Kerala</c:v>
                </c:pt>
                <c:pt idx="7">
                  <c:v>Gujarat</c:v>
                </c:pt>
                <c:pt idx="8">
                  <c:v>Madhya Pradesh</c:v>
                </c:pt>
                <c:pt idx="9">
                  <c:v>Telangana</c:v>
                </c:pt>
              </c:strCache>
            </c:strRef>
          </c:cat>
          <c:val>
            <c:numRef>
              <c:f>Sheet1!$D$2:$D$11</c:f>
              <c:numCache>
                <c:formatCode>#,##0</c:formatCode>
                <c:ptCount val="10"/>
                <c:pt idx="0">
                  <c:v>5345</c:v>
                </c:pt>
                <c:pt idx="1">
                  <c:v>2961</c:v>
                </c:pt>
                <c:pt idx="2">
                  <c:v>1776</c:v>
                </c:pt>
                <c:pt idx="3">
                  <c:v>1558</c:v>
                </c:pt>
                <c:pt idx="4">
                  <c:v>854</c:v>
                </c:pt>
                <c:pt idx="5">
                  <c:v>992</c:v>
                </c:pt>
                <c:pt idx="6">
                  <c:v>836</c:v>
                </c:pt>
                <c:pt idx="7">
                  <c:v>627</c:v>
                </c:pt>
                <c:pt idx="8">
                  <c:v>793</c:v>
                </c:pt>
                <c:pt idx="9">
                  <c:v>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91-42D8-B49C-9FC103B68F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08512944"/>
        <c:axId val="87298408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stations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shade val="65000"/>
                </a:schemeClr>
              </a:solidFill>
              <a:ln w="9525">
                <a:solidFill>
                  <a:schemeClr val="accent1">
                    <a:shade val="65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3981480679836146E-3"/>
                  <c:y val="-7.4450969896087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91-42D8-B49C-9FC103B68FD2}"/>
                </c:ext>
              </c:extLst>
            </c:dLbl>
            <c:dLbl>
              <c:idx val="1"/>
              <c:layout>
                <c:manualLayout>
                  <c:x val="-8.7962961359671892E-3"/>
                  <c:y val="-7.91041555145929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91-42D8-B49C-9FC103B68FD2}"/>
                </c:ext>
              </c:extLst>
            </c:dLbl>
            <c:dLbl>
              <c:idx val="2"/>
              <c:layout>
                <c:manualLayout>
                  <c:x val="-1.9791666305926176E-2"/>
                  <c:y val="-0.120982826081142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91-42D8-B49C-9FC103B68FD2}"/>
                </c:ext>
              </c:extLst>
            </c:dLbl>
            <c:dLbl>
              <c:idx val="3"/>
              <c:layout>
                <c:manualLayout>
                  <c:x val="-1.9791666305926176E-2"/>
                  <c:y val="-6.0491413040571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C91-42D8-B49C-9FC103B68FD2}"/>
                </c:ext>
              </c:extLst>
            </c:dLbl>
            <c:dLbl>
              <c:idx val="4"/>
              <c:layout>
                <c:manualLayout>
                  <c:x val="-1.3194444203950783E-2"/>
                  <c:y val="-4.18786705665491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91-42D8-B49C-9FC103B68FD2}"/>
                </c:ext>
              </c:extLst>
            </c:dLbl>
            <c:dLbl>
              <c:idx val="5"/>
              <c:layout>
                <c:manualLayout>
                  <c:x val="-1.3194444203950864E-2"/>
                  <c:y val="-7.91041555145929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C91-42D8-B49C-9FC103B68FD2}"/>
                </c:ext>
              </c:extLst>
            </c:dLbl>
            <c:dLbl>
              <c:idx val="6"/>
              <c:layout>
                <c:manualLayout>
                  <c:x val="-8.7962961359671892E-3"/>
                  <c:y val="-4.1878670566549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C91-42D8-B49C-9FC103B68FD2}"/>
                </c:ext>
              </c:extLst>
            </c:dLbl>
            <c:dLbl>
              <c:idx val="7"/>
              <c:layout>
                <c:manualLayout>
                  <c:x val="-8.7962961359671892E-3"/>
                  <c:y val="-8.84105267516038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C91-42D8-B49C-9FC103B68FD2}"/>
                </c:ext>
              </c:extLst>
            </c:dLbl>
            <c:dLbl>
              <c:idx val="8"/>
              <c:layout>
                <c:manualLayout>
                  <c:x val="-2.8587962441893364E-2"/>
                  <c:y val="-2.32659280925274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C91-42D8-B49C-9FC103B68FD2}"/>
                </c:ext>
              </c:extLst>
            </c:dLbl>
            <c:dLbl>
              <c:idx val="9"/>
              <c:layout>
                <c:manualLayout>
                  <c:x val="-8.7962961359671892E-3"/>
                  <c:y val="-6.04914130405710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C91-42D8-B49C-9FC103B68FD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Karnataka</c:v>
                </c:pt>
                <c:pt idx="1">
                  <c:v>Maharashtra</c:v>
                </c:pt>
                <c:pt idx="2">
                  <c:v>Uttar Pradesh</c:v>
                </c:pt>
                <c:pt idx="3">
                  <c:v>Delhi</c:v>
                </c:pt>
                <c:pt idx="4">
                  <c:v>Tamil Nadu</c:v>
                </c:pt>
                <c:pt idx="5">
                  <c:v>Rajasthan</c:v>
                </c:pt>
                <c:pt idx="6">
                  <c:v>Kerala</c:v>
                </c:pt>
                <c:pt idx="7">
                  <c:v>Gujarat</c:v>
                </c:pt>
                <c:pt idx="8">
                  <c:v>Madhya Pradesh</c:v>
                </c:pt>
                <c:pt idx="9">
                  <c:v>Telangana</c:v>
                </c:pt>
              </c:strCache>
            </c:strRef>
          </c:cat>
          <c:val>
            <c:numRef>
              <c:f>Sheet1!$B$2:$B$11</c:f>
              <c:numCache>
                <c:formatCode>#,##0</c:formatCode>
                <c:ptCount val="10"/>
                <c:pt idx="0">
                  <c:v>6096</c:v>
                </c:pt>
                <c:pt idx="1">
                  <c:v>4166</c:v>
                </c:pt>
                <c:pt idx="2">
                  <c:v>2316</c:v>
                </c:pt>
                <c:pt idx="3">
                  <c:v>1957</c:v>
                </c:pt>
                <c:pt idx="4">
                  <c:v>1780</c:v>
                </c:pt>
                <c:pt idx="5">
                  <c:v>1515</c:v>
                </c:pt>
                <c:pt idx="6">
                  <c:v>1389</c:v>
                </c:pt>
                <c:pt idx="7">
                  <c:v>1205</c:v>
                </c:pt>
                <c:pt idx="8">
                  <c:v>1146</c:v>
                </c:pt>
                <c:pt idx="9">
                  <c:v>1062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91-42D8-B49C-9FC103B68F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08512944"/>
        <c:axId val="872984080"/>
      </c:lineChart>
      <c:catAx>
        <c:axId val="90851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2984080"/>
        <c:crosses val="autoZero"/>
        <c:auto val="1"/>
        <c:lblAlgn val="ctr"/>
        <c:lblOffset val="100"/>
        <c:noMultiLvlLbl val="0"/>
      </c:catAx>
      <c:valAx>
        <c:axId val="87298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512944"/>
        <c:crosses val="autoZero"/>
        <c:crossBetween val="between"/>
        <c:majorUnit val="30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052489992481593"/>
          <c:y val="0.85824601282447266"/>
          <c:w val="0.4684418793625153"/>
          <c:h val="9.52221309904726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F4E79"/>
                </a:solidFill>
                <a:latin typeface="Calibri"/>
              </a:rPr>
              <a:t>PM E-DRIVE allocations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4E7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Total outlay</c:v>
                </c:pt>
                <c:pt idx="1">
                  <c:v>e-buses</c:v>
                </c:pt>
                <c:pt idx="2">
                  <c:v>Public charging</c:v>
                </c:pt>
                <c:pt idx="3">
                  <c:v>Charging approved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11900</c:v>
                </c:pt>
                <c:pt idx="1">
                  <c:v>4391</c:v>
                </c:pt>
                <c:pt idx="2">
                  <c:v>2000</c:v>
                </c:pt>
                <c:pt idx="3">
                  <c:v>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8-49C3-AC5B-0A37F3B348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4E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4E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F4E79"/>
                </a:solidFill>
                <a:latin typeface="Calibri"/>
              </a:rPr>
              <a:t>India import dependence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 %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4E7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Lithium</c:v>
                </c:pt>
                <c:pt idx="1">
                  <c:v>Cobalt</c:v>
                </c:pt>
                <c:pt idx="2">
                  <c:v>Nickel</c:v>
                </c:pt>
                <c:pt idx="3">
                  <c:v>Copper</c:v>
                </c:pt>
                <c:pt idx="4">
                  <c:v>Graphite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7-4B58-A5A5-C85694475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4E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4E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0.89216</cdr:x>
      <cdr:y>0.28774</cdr:y>
    </cdr:from>
    <cdr:to>
      <cdr:x>0.94547</cdr:x>
      <cdr:y>0.44018</cdr:y>
    </cdr:to>
    <cdr:pic>
      <cdr:nvPicPr>
        <cdr:cNvPr id="2" name="Picture 1" descr="Mahindra logo - India">
          <a:extLst xmlns:a="http://schemas.openxmlformats.org/drawingml/2006/main">
            <a:ext uri="{FF2B5EF4-FFF2-40B4-BE49-F238E27FC236}">
              <a16:creationId xmlns:a16="http://schemas.microsoft.com/office/drawing/2014/main" id="{91D7DE5F-EA31-F251-7B0A-D4FF814ECE0F}"/>
            </a:ext>
          </a:extLst>
        </cdr:cNvPr>
        <cdr:cNvPicPr>
          <a:picLocks xmlns:a="http://schemas.openxmlformats.org/drawingml/2006/main" noChangeAspect="1" noChangeArrowheads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6802765" y="849420"/>
          <a:ext cx="406526" cy="450000"/>
        </a:xfrm>
        <a:prstGeom xmlns:a="http://schemas.openxmlformats.org/drawingml/2006/main" prst="ellipse">
          <a:avLst/>
        </a:prstGeom>
        <a:ln xmlns:a="http://schemas.openxmlformats.org/drawingml/2006/main">
          <a:noFill/>
        </a:ln>
        <a:effectLst xmlns:a="http://schemas.openxmlformats.org/drawingml/2006/main">
          <a:softEdge rad="112500"/>
        </a:effectLst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cdr:spPr>
    </cdr:pic>
  </cdr:relSizeAnchor>
  <cdr:relSizeAnchor xmlns:cdr="http://schemas.openxmlformats.org/drawingml/2006/chartDrawing">
    <cdr:from>
      <cdr:x>0.90762</cdr:x>
      <cdr:y>0.19157</cdr:y>
    </cdr:from>
    <cdr:to>
      <cdr:x>0.93924</cdr:x>
      <cdr:y>0.25349</cdr:y>
    </cdr:to>
    <cdr:pic>
      <cdr:nvPicPr>
        <cdr:cNvPr id="3" name="Picture 2" descr="Tata Motors Logo Meaning and History ...">
          <a:extLst xmlns:a="http://schemas.openxmlformats.org/drawingml/2006/main">
            <a:ext uri="{FF2B5EF4-FFF2-40B4-BE49-F238E27FC236}">
              <a16:creationId xmlns:a16="http://schemas.microsoft.com/office/drawing/2014/main" id="{E01DBF1F-4F61-A949-B010-8DBC07F0EEA8}"/>
            </a:ext>
          </a:extLst>
        </cdr:cNvPr>
        <cdr:cNvPicPr>
          <a:picLocks xmlns:a="http://schemas.openxmlformats.org/drawingml/2006/main" noChangeAspect="1" noChangeArrowheads="1"/>
        </cdr:cNvPicPr>
      </cdr:nvPicPr>
      <cdr:blipFill rotWithShape="1">
        <a:blip xmlns:a="http://schemas.openxmlformats.org/drawingml/2006/main" xmlns:r="http://schemas.openxmlformats.org/officeDocument/2006/relationships" r:embed="rId2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l="16192" r="13410" b="24302"/>
        <a:stretch xmlns:a="http://schemas.openxmlformats.org/drawingml/2006/main">
          <a:fillRect/>
        </a:stretch>
      </cdr:blipFill>
      <cdr:spPr bwMode="auto">
        <a:xfrm xmlns:a="http://schemas.openxmlformats.org/drawingml/2006/main" flipH="1">
          <a:off x="6920664" y="565504"/>
          <a:ext cx="241081" cy="182792"/>
        </a:xfrm>
        <a:prstGeom xmlns:a="http://schemas.openxmlformats.org/drawingml/2006/main" prst="ellipse">
          <a:avLst/>
        </a:prstGeom>
        <a:noFill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cdr:spPr>
    </cdr:pic>
  </cdr:relSizeAnchor>
  <cdr:relSizeAnchor xmlns:cdr="http://schemas.openxmlformats.org/drawingml/2006/chartDrawing">
    <cdr:from>
      <cdr:x>0.90354</cdr:x>
      <cdr:y>0.51033</cdr:y>
    </cdr:from>
    <cdr:to>
      <cdr:x>0.94359</cdr:x>
      <cdr:y>0.60789</cdr:y>
    </cdr:to>
    <cdr:pic>
      <cdr:nvPicPr>
        <cdr:cNvPr id="4" name="Picture 3" descr="Generic Badge Logo/Monogram/Decal ...">
          <a:extLst xmlns:a="http://schemas.openxmlformats.org/drawingml/2006/main">
            <a:ext uri="{FF2B5EF4-FFF2-40B4-BE49-F238E27FC236}">
              <a16:creationId xmlns:a16="http://schemas.microsoft.com/office/drawing/2014/main" id="{385F3C23-54D9-FE39-C516-ACD12E9BBE73}"/>
            </a:ext>
          </a:extLst>
        </cdr:cNvPr>
        <cdr:cNvPicPr>
          <a:picLocks xmlns:a="http://schemas.openxmlformats.org/drawingml/2006/main" noChangeAspect="1" noChangeArrowheads="1"/>
        </cdr:cNvPicPr>
      </cdr:nvPicPr>
      <cdr:blipFill>
        <a:blip xmlns:a="http://schemas.openxmlformats.org/drawingml/2006/main" xmlns:r="http://schemas.openxmlformats.org/officeDocument/2006/relationships" r:embed="rId3">
          <a:extLst>
            <a:ext uri="{BEBA8EAE-BF5A-486C-A8C5-ECC9F3942E4B}">
              <a14:imgProps xmlns:a14="http://schemas.microsoft.com/office/drawing/2010/main">
                <a14:imgLayer r:embed="rId4">
                  <a14:imgEffect>
                    <a14:backgroundRemoval t="10000" b="90000" l="10000" r="90000"/>
                  </a14:imgEffect>
                </a14:imgLayer>
              </a14:imgProps>
            </a:ex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/>
        <a:stretch xmlns:a="http://schemas.openxmlformats.org/drawingml/2006/main">
          <a:fillRect/>
        </a:stretch>
      </cdr:blipFill>
      <cdr:spPr bwMode="auto">
        <a:xfrm xmlns:a="http://schemas.openxmlformats.org/drawingml/2006/main">
          <a:off x="6889559" y="1506492"/>
          <a:ext cx="305425" cy="288000"/>
        </a:xfrm>
        <a:prstGeom xmlns:a="http://schemas.openxmlformats.org/drawingml/2006/main" prst="ellipse">
          <a:avLst/>
        </a:prstGeom>
        <a:noFill xmlns:a="http://schemas.openxmlformats.org/drawingml/2006/main"/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CB4CF-F06D-41F4-A108-63FF08C1D5C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31E23-023F-4C42-8D2D-D6C78E363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55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2DCE-0B4D-A5C0-DEC3-F8D5B0FE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A8D57-13B6-6C14-1FD1-25B7B6497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BE8DE-BAA3-56AB-B501-B434EEA4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8E611-F0BD-EECE-5AC6-F76285A14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54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259B-B568-EE8C-6CB8-E9C06471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980D8-B6A8-5E8B-F37D-4D1514DC2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8048C-3E12-F461-C2A4-49C571EAB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DF70A-299A-E124-A34F-6FCAC7A02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658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54D6-C986-1571-D358-9C1563E84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0661D-BEA4-17AA-D1F4-49FBF38AC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E4B2A-CA6F-1E5C-ADFC-91E97B6D3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5EF96-F1EA-07A9-4752-5F52A9F2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47340-6271-507C-AFD7-9D749AB5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12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FA9D-F4FC-51CF-A4D0-3A41560C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B82A-9AA1-1A94-0317-4A3A1D73C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42BE0-3C28-6E80-F86F-B8BE46D3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2227-5D25-1D3D-706A-B70FE107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3A8F9-9FAF-C506-88A7-44654043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5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D006-4EAD-7649-0767-F2B38A8F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541FF-0F3B-72D2-5C1C-5553A55F0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F3360-FF42-5439-B263-56F9236D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CEB51-00B8-EDB6-634E-3495DE35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F0F80-AD11-31D5-7730-3137DD87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96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62A5-D05D-827F-1162-8B06502B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EBDD-E6B8-32F9-DAF3-300995507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0A415-78AC-3BE8-FC62-B41AF839D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D54AA-AB72-2C6A-93BF-4048B556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1F340-277F-D023-3006-BE7EC653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F3EC8-54AF-71ED-C24C-9201580E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4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BC10-3EED-7BE0-8F4C-FEBAE704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F1F5D-D055-DCFC-0EA9-3F3E0B166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AFD15-DCF5-B6E7-A1B7-7F9A04B45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9DEBE-8941-1B68-4CC9-46C4B6A82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9C72E-0B92-F33D-19A1-790BC12F7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C36D1-A5CA-6566-32DF-8BC62BFD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90E8D-29B1-3255-AD9E-F037FF79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D8BF3-8975-167C-C6EC-D00AF9CB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49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A493-ECA1-84D4-D499-3DA6CB79F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3EDA7-5FC0-2EF7-D175-8DF0ACAC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E6734-242E-6556-F202-5C0B7132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E783B-500F-2D18-9ECC-31CE5C8E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35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5E8A5-2883-DFBE-6577-31D7CB46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FBE73-B4E8-4083-8162-1E4DDF52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C744E-0ABE-EA67-5FC8-92253841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6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B173-E00E-CA63-B199-146BD1FBA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EDE85-8AF3-0D58-AA8C-67A532814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9591D-49C3-0281-9FA5-7D98D9492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57A99-F29C-1721-E774-27B4455D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50CB0-3DB8-EB71-2710-A9E36E4F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3594F-DDCF-7D27-155D-9EFB6EC3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39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8430-A2B8-A78D-E1A9-3366610F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7ACC8-9EAC-4DB8-FC0E-9CD7832E3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81D8B-2825-AEC0-7723-E8D2C4CBB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C0AA1-2D73-B1DD-655F-33C0DD03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CB08-BCE4-BD97-A35E-A9ABFEF1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F4BE-B460-131C-D9F7-2BB45643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17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62BE-2FD7-E119-0E41-AC799036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5FBBB-8733-1148-A40F-578AB9E69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B4626-E79C-EEF9-006F-107764C1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0E6F0-1F0E-CEEC-7486-BBFE2D31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C3D9B-EFEB-1CD4-1E75-B1D0F7ED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24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39EC1-CE1A-E6C4-3822-36E3DE7AA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40C8B-E81D-F6A1-AEC5-2ACB3791E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2B2F4-0784-AFDC-27C1-1BE154E1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4AD79-FA46-AF21-5F32-F8B006C2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9F923-B9C2-C15B-CF9D-EA0AD536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309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4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C6A2C-D412-B009-719B-D16EC9157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EE611-DEA0-C871-52BE-A4E24F74A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AD0A-C732-BF56-D735-6AA0C47AB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253F6-37AB-4B53-B7C5-A865F7B2868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EA86B-38D1-CC7C-06EB-D5063E9CB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8C8BB-5744-2C1B-53B2-FB53BD920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93B5E-2BE5-41CF-BBDA-300572152D9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06F4C-8A9D-8638-92E5-7138FBDACD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40325" y="63500"/>
            <a:ext cx="19367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Information 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349991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chart" Target="../charts/chart1.xml"/><Relationship Id="rId7" Type="http://schemas.openxmlformats.org/officeDocument/2006/relationships/hyperlink" Target="https://carnewschina.com/2026/01/17/2025-best-selling-nev-ranking-in-china-geely-galaxy-xingyuan-wuling-hongguang-mini-ev-tesla-model-y/" TargetMode="External"/><Relationship Id="rId12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lobalfleet.com/en/fleet-strategy/global/features/global-auto-market-nears-100-million-units-china-reshapes-industry-balance" TargetMode="External"/><Relationship Id="rId11" Type="http://schemas.openxmlformats.org/officeDocument/2006/relationships/chart" Target="../charts/chart5.xml"/><Relationship Id="rId5" Type="http://schemas.openxmlformats.org/officeDocument/2006/relationships/hyperlink" Target="https://www.pewresearch.org/short-reads/2026/05/28/worldwide-a-quarter-of-new-car-sales-are-electric-vehicles-or-hybrids/" TargetMode="External"/><Relationship Id="rId10" Type="http://schemas.openxmlformats.org/officeDocument/2006/relationships/chart" Target="../charts/chart4.xml"/><Relationship Id="rId4" Type="http://schemas.openxmlformats.org/officeDocument/2006/relationships/hyperlink" Target="https://iea.org/reports/global-ev-outlook-2026/trends-in-electric-cars" TargetMode="External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vahan.parivahan.gov.in/vahan4dashboard/" TargetMode="External"/><Relationship Id="rId13" Type="http://schemas.openxmlformats.org/officeDocument/2006/relationships/chart" Target="../charts/chart8.xml"/><Relationship Id="rId3" Type="http://schemas.openxmlformats.org/officeDocument/2006/relationships/hyperlink" Target="https://www.autoguideindia.com/statistics/ev-sales-zoom-three-fold-in-fy22/" TargetMode="External"/><Relationship Id="rId7" Type="http://schemas.openxmlformats.org/officeDocument/2006/relationships/hyperlink" Target="https://evreporter.com/india-sold-2550865-electric-vehicles-across-categories-in-fy-2025-26/" TargetMode="External"/><Relationship Id="rId12" Type="http://schemas.openxmlformats.org/officeDocument/2006/relationships/chart" Target="../charts/chart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autocarpro.in/analysis-sales/ev-sales-in-india-surpass-245-million-units-in-fy2026-all-4-segments-register-double-digit-growth-131974" TargetMode="External"/><Relationship Id="rId11" Type="http://schemas.openxmlformats.org/officeDocument/2006/relationships/hyperlink" Target="https://www.autocarpro.in/analysis-sales/mahindra-bajaj-and-tvs-power-electric-3w-sales-past-800000-for-the-first-time-in-fy2026-131960" TargetMode="External"/><Relationship Id="rId5" Type="http://schemas.openxmlformats.org/officeDocument/2006/relationships/hyperlink" Target="https://autocarpro.in/analysis-sales/ev-sales-grow-17-to-196-million-in-fy2025-2-and-3ws-cars-and-suvs-hit-new-highs-125656" TargetMode="External"/><Relationship Id="rId10" Type="http://schemas.openxmlformats.org/officeDocument/2006/relationships/hyperlink" Target="https://www.bikeleague.in/motorcycle-articles/motorcycle-analysis-articles/top-10-sold-electric-two-wheelers-in-india-in-fy26" TargetMode="External"/><Relationship Id="rId4" Type="http://schemas.openxmlformats.org/officeDocument/2006/relationships/hyperlink" Target="https://www.autocarpro.in/analysis-sales/ev-sales-in-india-jump-42-to-167-million-in-fy2024-2-and-3ws-cars-and-suvs-scale-new-highs-119852" TargetMode="External"/><Relationship Id="rId9" Type="http://schemas.openxmlformats.org/officeDocument/2006/relationships/hyperlink" Target="https://www.autocarpro.in/analysis-sales/record-14-million-electric-2ws-sold-in-fy2026-command-57-share-of-india-ev-market-131938" TargetMode="External"/><Relationship Id="rId1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tteryuniversity.com/article/bu-205-types-of-lithium-ion" TargetMode="External"/><Relationship Id="rId2" Type="http://schemas.openxmlformats.org/officeDocument/2006/relationships/hyperlink" Target="https://www.spglobal.com/automotive-insights/en/blogs/2024/11/the-evolution-of-electric-vehicle-battery-technology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insideevs.com/news/782685/all-ev-battery-chemistries-explained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neral_Motors_EV1" TargetMode="External"/><Relationship Id="rId2" Type="http://schemas.openxmlformats.org/officeDocument/2006/relationships/hyperlink" Target="https://www.batteryuniversity.com/article/bu-205-types-of-lithium-ion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insideevs.com/news/782685/all-ev-battery-chemistries-explained/" TargetMode="External"/><Relationship Id="rId4" Type="http://schemas.openxmlformats.org/officeDocument/2006/relationships/hyperlink" Target="https://en.wikipedia.org/wiki/Nickel%E2%80%93metal_hydride_batter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tteryuniversity.com/article/bu-205-types-of-lithium-ion" TargetMode="External"/><Relationship Id="rId2" Type="http://schemas.openxmlformats.org/officeDocument/2006/relationships/hyperlink" Target="https://insideevs.com/news/782685/all-ev-battery-chemistries-explained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link.springer.com/article/10.1557/s43577-022-00263-z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vlithium.com/Blog/lfp-battery-manufacturing-process.html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themachinemaker.com/news/exide-industries-to-launch-li-ion-cell-manufacturing-with-6gwh-capacity-by-fy26-end/" TargetMode="External"/><Relationship Id="rId3" Type="http://schemas.openxmlformats.org/officeDocument/2006/relationships/hyperlink" Target="https://cnevpost.com/2026/02/04/global-ev-battery-market-share-2025/" TargetMode="External"/><Relationship Id="rId7" Type="http://schemas.openxmlformats.org/officeDocument/2006/relationships/hyperlink" Target="https://www.pv-magazine-india.com/2026/03/25/land-acquisition-completed-for-40-gwh-capacity-awarded-under-pli-acc-scheme" TargetMode="Externa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vreporter.com/india-sold-2550865-electric-vehicles-across-categories-in-fy-2025-26/" TargetMode="External"/><Relationship Id="rId5" Type="http://schemas.openxmlformats.org/officeDocument/2006/relationships/hyperlink" Target="https://about.bnef.com/insights/clean-transport/lithium-ion-battery-pack-prices-fall-to-108-per-kilowatt-hour-despite-rising-metal-prices-bloombergnef/" TargetMode="External"/><Relationship Id="rId4" Type="http://schemas.openxmlformats.org/officeDocument/2006/relationships/hyperlink" Target="https://www.mercomindia.com/chinas-dominance-in-critical-minerals-supply-and-refining-continues-iea" TargetMode="External"/><Relationship Id="rId9" Type="http://schemas.openxmlformats.org/officeDocument/2006/relationships/hyperlink" Target="https://themachinemaker.com/news/amara-raja-postpones-launch-of-lithium-ion-cell-plant-to-fy27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sansad.in/getFile/lsapps/loksabhaquestions/annex/188/AU453_QsLfVk.pdf" TargetMode="Externa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25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34FA08-B86C-78EB-81D5-E1F25BACE254}"/>
              </a:ext>
            </a:extLst>
          </p:cNvPr>
          <p:cNvSpPr/>
          <p:nvPr/>
        </p:nvSpPr>
        <p:spPr>
          <a:xfrm>
            <a:off x="429222" y="2144375"/>
            <a:ext cx="6121483" cy="113877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 w="0"/>
                <a:solidFill>
                  <a:srgbClr val="0E2841">
                    <a:lumMod val="75000"/>
                    <a:lumOff val="2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A Study Report 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4EA72E">
                    <a:lumMod val="7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E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E97132">
                    <a:lumMod val="7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LECTRIC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4EA72E">
                    <a:lumMod val="7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E97132">
                    <a:lumMod val="7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EHICLE</a:t>
            </a:r>
            <a:r>
              <a:rPr kumimoji="0" lang="en-US" sz="5400" b="0" i="0" u="none" strike="noStrike" kern="1200" cap="none" spc="0" normalizeH="0" baseline="0" noProof="0" dirty="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F24ED-8022-99D7-7918-C6B451285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730" y="582002"/>
            <a:ext cx="5066270" cy="601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0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C649-CA68-624F-ED40-D1620173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orld PV pie panel">
            <a:extLst>
              <a:ext uri="{FF2B5EF4-FFF2-40B4-BE49-F238E27FC236}">
                <a16:creationId xmlns:a16="http://schemas.microsoft.com/office/drawing/2014/main" id="{EB6A9C36-8E3B-129C-592C-F67ECBAB1249}"/>
              </a:ext>
            </a:extLst>
          </p:cNvPr>
          <p:cNvSpPr/>
          <p:nvPr/>
        </p:nvSpPr>
        <p:spPr>
          <a:xfrm>
            <a:off x="2115319" y="630936"/>
            <a:ext cx="1993685" cy="26127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EV share panel">
            <a:extLst>
              <a:ext uri="{FF2B5EF4-FFF2-40B4-BE49-F238E27FC236}">
                <a16:creationId xmlns:a16="http://schemas.microsoft.com/office/drawing/2014/main" id="{37C13CE5-FFE5-CDF4-0689-E224153F0888}"/>
              </a:ext>
            </a:extLst>
          </p:cNvPr>
          <p:cNvSpPr/>
          <p:nvPr/>
        </p:nvSpPr>
        <p:spPr>
          <a:xfrm>
            <a:off x="4175223" y="624198"/>
            <a:ext cx="3863190" cy="26127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5E64F6-0CFE-910C-3B4B-1FD8F421078A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8906256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1.a Vehicles: Global EV Outlook -4W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(FY 25-26 Scenario)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5" name="EV share panel">
            <a:extLst>
              <a:ext uri="{FF2B5EF4-FFF2-40B4-BE49-F238E27FC236}">
                <a16:creationId xmlns:a16="http://schemas.microsoft.com/office/drawing/2014/main" id="{EEB9F21D-0008-CC26-AB00-13A630AFCD4C}"/>
              </a:ext>
            </a:extLst>
          </p:cNvPr>
          <p:cNvSpPr/>
          <p:nvPr/>
        </p:nvSpPr>
        <p:spPr>
          <a:xfrm>
            <a:off x="8104632" y="630936"/>
            <a:ext cx="3806852" cy="26127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B8BAAA0-8F5B-744B-0A9D-6649CAB5658C}"/>
              </a:ext>
            </a:extLst>
          </p:cNvPr>
          <p:cNvSpPr txBox="1"/>
          <p:nvPr/>
        </p:nvSpPr>
        <p:spPr>
          <a:xfrm>
            <a:off x="8104632" y="685800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Countries Vs India –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highlight>
                  <a:srgbClr val="20DA74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EV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Car Sales 2025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Producers panel">
            <a:extLst>
              <a:ext uri="{FF2B5EF4-FFF2-40B4-BE49-F238E27FC236}">
                <a16:creationId xmlns:a16="http://schemas.microsoft.com/office/drawing/2014/main" id="{A1520D8A-AC90-3E4A-46BE-4007B7E53977}"/>
              </a:ext>
            </a:extLst>
          </p:cNvPr>
          <p:cNvSpPr/>
          <p:nvPr/>
        </p:nvSpPr>
        <p:spPr>
          <a:xfrm>
            <a:off x="4187802" y="3323361"/>
            <a:ext cx="3877056" cy="2677269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1869DDA1-0EF5-01E0-F20A-A4EFC2C827DF}"/>
              </a:ext>
            </a:extLst>
          </p:cNvPr>
          <p:cNvSpPr txBox="1"/>
          <p:nvPr/>
        </p:nvSpPr>
        <p:spPr>
          <a:xfrm>
            <a:off x="4122320" y="3392424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EV Maker Countries – Production 2025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Producers chart">
            <a:extLst>
              <a:ext uri="{FF2B5EF4-FFF2-40B4-BE49-F238E27FC236}">
                <a16:creationId xmlns:a16="http://schemas.microsoft.com/office/drawing/2014/main" id="{328FEB12-6F09-3532-AE4F-B24BE9F6171C}"/>
              </a:ext>
            </a:extLst>
          </p:cNvPr>
          <p:cNvGraphicFramePr/>
          <p:nvPr/>
        </p:nvGraphicFramePr>
        <p:xfrm>
          <a:off x="4187802" y="3605142"/>
          <a:ext cx="3630168" cy="2221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 15">
            <a:extLst>
              <a:ext uri="{FF2B5EF4-FFF2-40B4-BE49-F238E27FC236}">
                <a16:creationId xmlns:a16="http://schemas.microsoft.com/office/drawing/2014/main" id="{DE7C7E8D-11C3-CA8F-511C-A3F16F6538A5}"/>
              </a:ext>
            </a:extLst>
          </p:cNvPr>
          <p:cNvSpPr txBox="1"/>
          <p:nvPr/>
        </p:nvSpPr>
        <p:spPr>
          <a:xfrm>
            <a:off x="85444" y="6324072"/>
            <a:ext cx="11548872" cy="35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Sources: </a:t>
            </a:r>
            <a:r>
              <a:rPr lang="en-US" sz="1100" u="sng" dirty="0">
                <a:solidFill>
                  <a:srgbClr val="0563C1"/>
                </a:solidFill>
                <a:hlinkClick r:id="rId4"/>
              </a:rPr>
              <a:t>IEA – Global EV Outlook 2026</a:t>
            </a:r>
            <a:r>
              <a:rPr lang="en-US" sz="1100" dirty="0">
                <a:solidFill>
                  <a:srgbClr val="000000"/>
                </a:solidFill>
              </a:rPr>
              <a:t>; </a:t>
            </a:r>
            <a:r>
              <a:rPr lang="en-US" sz="1100" u="sng" dirty="0">
                <a:solidFill>
                  <a:srgbClr val="0563C1"/>
                </a:solidFill>
                <a:hlinkClick r:id="rId5"/>
              </a:rPr>
              <a:t>Pew Research (IEA data), May 2026</a:t>
            </a:r>
            <a:r>
              <a:rPr lang="en-US" sz="1100" dirty="0">
                <a:solidFill>
                  <a:srgbClr val="000000"/>
                </a:solidFill>
              </a:rPr>
              <a:t>; </a:t>
            </a:r>
            <a:r>
              <a:rPr lang="en-US" sz="1100" u="sng" dirty="0">
                <a:solidFill>
                  <a:srgbClr val="0563C1"/>
                </a:solidFill>
                <a:hlinkClick r:id="rId6"/>
              </a:rPr>
              <a:t>Global Fleet – world sales 2025</a:t>
            </a:r>
            <a:r>
              <a:rPr lang="en-US" sz="1100" dirty="0">
                <a:solidFill>
                  <a:srgbClr val="000000"/>
                </a:solidFill>
              </a:rPr>
              <a:t>; </a:t>
            </a:r>
            <a:r>
              <a:rPr lang="en-US" sz="1100" u="sng" dirty="0" err="1">
                <a:solidFill>
                  <a:srgbClr val="0563C1"/>
                </a:solidFill>
                <a:hlinkClick r:id="rId7"/>
              </a:rPr>
              <a:t>CarNewsChina</a:t>
            </a:r>
            <a:r>
              <a:rPr lang="en-US" sz="1100" u="sng" dirty="0">
                <a:solidFill>
                  <a:srgbClr val="0563C1"/>
                </a:solidFill>
                <a:hlinkClick r:id="rId7"/>
              </a:rPr>
              <a:t> – China NEV ranking 2025</a:t>
            </a:r>
            <a:r>
              <a:rPr lang="en-US" sz="1100" dirty="0">
                <a:solidFill>
                  <a:srgbClr val="000000"/>
                </a:solidFill>
              </a:rPr>
              <a:t>;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Vehicle counts in lakh units. CN-China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3" name="EV sales chart">
            <a:extLst>
              <a:ext uri="{FF2B5EF4-FFF2-40B4-BE49-F238E27FC236}">
                <a16:creationId xmlns:a16="http://schemas.microsoft.com/office/drawing/2014/main" id="{68EECCEC-2DBB-CCCA-FEBC-104ABB596822}"/>
              </a:ext>
            </a:extLst>
          </p:cNvPr>
          <p:cNvGraphicFramePr/>
          <p:nvPr/>
        </p:nvGraphicFramePr>
        <p:xfrm>
          <a:off x="8250936" y="1088136"/>
          <a:ext cx="3666744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5" name="World PV pie panel">
            <a:extLst>
              <a:ext uri="{FF2B5EF4-FFF2-40B4-BE49-F238E27FC236}">
                <a16:creationId xmlns:a16="http://schemas.microsoft.com/office/drawing/2014/main" id="{303EEE0C-7FB7-A3CF-2509-C58FFD0B6712}"/>
              </a:ext>
            </a:extLst>
          </p:cNvPr>
          <p:cNvSpPr/>
          <p:nvPr/>
        </p:nvSpPr>
        <p:spPr>
          <a:xfrm>
            <a:off x="146304" y="630936"/>
            <a:ext cx="1993685" cy="261277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7CED8EB3-A667-6C21-BCAC-B3E898A3AFE6}"/>
              </a:ext>
            </a:extLst>
          </p:cNvPr>
          <p:cNvSpPr txBox="1"/>
          <p:nvPr/>
        </p:nvSpPr>
        <p:spPr>
          <a:xfrm>
            <a:off x="186431" y="703835"/>
            <a:ext cx="1760345" cy="23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World PV Sales 2025-26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2F66FBC9-C39D-DD4E-355F-A4887EF1EEC4}"/>
              </a:ext>
            </a:extLst>
          </p:cNvPr>
          <p:cNvSpPr txBox="1"/>
          <p:nvPr/>
        </p:nvSpPr>
        <p:spPr>
          <a:xfrm>
            <a:off x="528041" y="156482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~830 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PV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World PV pie panel">
            <a:extLst>
              <a:ext uri="{FF2B5EF4-FFF2-40B4-BE49-F238E27FC236}">
                <a16:creationId xmlns:a16="http://schemas.microsoft.com/office/drawing/2014/main" id="{6EEB96FA-2C5F-F4B0-091E-17C9AE5D258A}"/>
              </a:ext>
            </a:extLst>
          </p:cNvPr>
          <p:cNvSpPr/>
          <p:nvPr/>
        </p:nvSpPr>
        <p:spPr>
          <a:xfrm>
            <a:off x="128016" y="3328416"/>
            <a:ext cx="3986634" cy="268159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13E40FDC-46CD-83A2-FB04-315B41E6A80A}"/>
              </a:ext>
            </a:extLst>
          </p:cNvPr>
          <p:cNvSpPr txBox="1"/>
          <p:nvPr/>
        </p:nvSpPr>
        <p:spPr>
          <a:xfrm>
            <a:off x="42772" y="3480954"/>
            <a:ext cx="3852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Countries Vs India – EV Sales share 2025-26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8" name="EV share chart">
            <a:extLst>
              <a:ext uri="{FF2B5EF4-FFF2-40B4-BE49-F238E27FC236}">
                <a16:creationId xmlns:a16="http://schemas.microsoft.com/office/drawing/2014/main" id="{F83BD377-4601-E6B0-88DC-1D3A1213F5C4}"/>
              </a:ext>
            </a:extLst>
          </p:cNvPr>
          <p:cNvGraphicFramePr/>
          <p:nvPr/>
        </p:nvGraphicFramePr>
        <p:xfrm>
          <a:off x="189076" y="3590682"/>
          <a:ext cx="370332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6" name="Text 5">
            <a:extLst>
              <a:ext uri="{FF2B5EF4-FFF2-40B4-BE49-F238E27FC236}">
                <a16:creationId xmlns:a16="http://schemas.microsoft.com/office/drawing/2014/main" id="{B38D8B6A-9313-AAC2-88A2-9175D183A108}"/>
              </a:ext>
            </a:extLst>
          </p:cNvPr>
          <p:cNvSpPr txBox="1"/>
          <p:nvPr/>
        </p:nvSpPr>
        <p:spPr>
          <a:xfrm>
            <a:off x="4218582" y="664854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Countries–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PV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Car Sales 2025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52388B-37BB-F1FC-A49F-08CA4396E854}"/>
              </a:ext>
            </a:extLst>
          </p:cNvPr>
          <p:cNvGraphicFramePr>
            <a:graphicFrameLocks noGrp="1"/>
          </p:cNvGraphicFramePr>
          <p:nvPr/>
        </p:nvGraphicFramePr>
        <p:xfrm>
          <a:off x="8101284" y="3332748"/>
          <a:ext cx="3816396" cy="2677269"/>
        </p:xfrm>
        <a:graphic>
          <a:graphicData uri="http://schemas.openxmlformats.org/drawingml/2006/table">
            <a:tbl>
              <a:tblPr/>
              <a:tblGrid>
                <a:gridCol w="485724">
                  <a:extLst>
                    <a:ext uri="{9D8B030D-6E8A-4147-A177-3AD203B41FA5}">
                      <a16:colId xmlns:a16="http://schemas.microsoft.com/office/drawing/2014/main" val="561597751"/>
                    </a:ext>
                  </a:extLst>
                </a:gridCol>
                <a:gridCol w="2081670">
                  <a:extLst>
                    <a:ext uri="{9D8B030D-6E8A-4147-A177-3AD203B41FA5}">
                      <a16:colId xmlns:a16="http://schemas.microsoft.com/office/drawing/2014/main" val="362202948"/>
                    </a:ext>
                  </a:extLst>
                </a:gridCol>
                <a:gridCol w="1249002">
                  <a:extLst>
                    <a:ext uri="{9D8B030D-6E8A-4147-A177-3AD203B41FA5}">
                      <a16:colId xmlns:a16="http://schemas.microsoft.com/office/drawing/2014/main" val="1810860548"/>
                    </a:ext>
                  </a:extLst>
                </a:gridCol>
              </a:tblGrid>
              <a:tr h="382467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Calibri" charset="0"/>
                          <a:cs typeface="Calibri" charset="0"/>
                        </a:rPr>
                        <a:t>SN</a:t>
                      </a: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World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207112"/>
                  </a:ext>
                </a:extLst>
              </a:tr>
              <a:tr h="382467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789119"/>
                  </a:ext>
                </a:extLst>
              </a:tr>
              <a:tr h="3824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Tesla Model Y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310114"/>
                  </a:ext>
                </a:extLst>
              </a:tr>
              <a:tr h="3824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Tesla Model 3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80506"/>
                  </a:ext>
                </a:extLst>
              </a:tr>
              <a:tr h="3824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Geely Xingyuan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4.66 (CN)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350199"/>
                  </a:ext>
                </a:extLst>
              </a:tr>
              <a:tr h="3824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Wuling Mini EV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4.25 (CN)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006537"/>
                  </a:ext>
                </a:extLst>
              </a:tr>
              <a:tr h="38246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BYD Seagull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3.11 (CN)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60579"/>
                  </a:ext>
                </a:extLst>
              </a:tr>
            </a:tbl>
          </a:graphicData>
        </a:graphic>
      </p:graphicFrame>
      <p:sp>
        <p:nvSpPr>
          <p:cNvPr id="10" name="Text 9">
            <a:extLst>
              <a:ext uri="{FF2B5EF4-FFF2-40B4-BE49-F238E27FC236}">
                <a16:creationId xmlns:a16="http://schemas.microsoft.com/office/drawing/2014/main" id="{0F56E35A-041E-651F-FEA1-7FFCE4453EAB}"/>
              </a:ext>
            </a:extLst>
          </p:cNvPr>
          <p:cNvSpPr txBox="1"/>
          <p:nvPr/>
        </p:nvSpPr>
        <p:spPr>
          <a:xfrm>
            <a:off x="2230055" y="693268"/>
            <a:ext cx="1760345" cy="23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India PV Sales 2025-26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86853F-ABD5-73CE-6168-B9AEE7F57219}"/>
              </a:ext>
            </a:extLst>
          </p:cNvPr>
          <p:cNvSpPr txBox="1"/>
          <p:nvPr/>
        </p:nvSpPr>
        <p:spPr>
          <a:xfrm>
            <a:off x="2653434" y="1619943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~47 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PV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8D62F-05FA-56FD-9C6F-53E30E92DCA7}"/>
              </a:ext>
            </a:extLst>
          </p:cNvPr>
          <p:cNvSpPr txBox="1"/>
          <p:nvPr/>
        </p:nvSpPr>
        <p:spPr>
          <a:xfrm>
            <a:off x="8025534" y="1651228"/>
            <a:ext cx="400110" cy="784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D0F9F7-3B20-5447-544B-3708A5F8A605}"/>
              </a:ext>
            </a:extLst>
          </p:cNvPr>
          <p:cNvCxnSpPr/>
          <p:nvPr/>
        </p:nvCxnSpPr>
        <p:spPr>
          <a:xfrm flipV="1">
            <a:off x="8250936" y="1377627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5BADE7-6E44-4DE3-40A6-F569FCD6AAAA}"/>
              </a:ext>
            </a:extLst>
          </p:cNvPr>
          <p:cNvSpPr txBox="1"/>
          <p:nvPr/>
        </p:nvSpPr>
        <p:spPr>
          <a:xfrm>
            <a:off x="42772" y="4352317"/>
            <a:ext cx="400110" cy="784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8367AF-CE18-D043-BD6D-385020630D76}"/>
              </a:ext>
            </a:extLst>
          </p:cNvPr>
          <p:cNvCxnSpPr/>
          <p:nvPr/>
        </p:nvCxnSpPr>
        <p:spPr>
          <a:xfrm flipV="1">
            <a:off x="268174" y="4078716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5991DE-68B7-0694-65EE-BE3A4E076AF4}"/>
              </a:ext>
            </a:extLst>
          </p:cNvPr>
          <p:cNvCxnSpPr>
            <a:cxnSpLocks/>
          </p:cNvCxnSpPr>
          <p:nvPr/>
        </p:nvCxnSpPr>
        <p:spPr>
          <a:xfrm flipV="1">
            <a:off x="4453128" y="4040478"/>
            <a:ext cx="0" cy="280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World PV pie">
            <a:extLst>
              <a:ext uri="{FF2B5EF4-FFF2-40B4-BE49-F238E27FC236}">
                <a16:creationId xmlns:a16="http://schemas.microsoft.com/office/drawing/2014/main" id="{F3DF2452-2D5B-A635-443E-D751946997EA}"/>
              </a:ext>
            </a:extLst>
          </p:cNvPr>
          <p:cNvGraphicFramePr/>
          <p:nvPr/>
        </p:nvGraphicFramePr>
        <p:xfrm>
          <a:off x="2066544" y="894437"/>
          <a:ext cx="2906168" cy="2158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" name="EV sales chart">
            <a:extLst>
              <a:ext uri="{FF2B5EF4-FFF2-40B4-BE49-F238E27FC236}">
                <a16:creationId xmlns:a16="http://schemas.microsoft.com/office/drawing/2014/main" id="{D1E53822-2D73-71C7-AFB7-E1ED6625E7D1}"/>
              </a:ext>
            </a:extLst>
          </p:cNvPr>
          <p:cNvGraphicFramePr/>
          <p:nvPr/>
        </p:nvGraphicFramePr>
        <p:xfrm>
          <a:off x="4122320" y="1115568"/>
          <a:ext cx="3666744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7523E8-C3DF-E6F1-BC36-B7A235EC7C9C}"/>
              </a:ext>
            </a:extLst>
          </p:cNvPr>
          <p:cNvCxnSpPr/>
          <p:nvPr/>
        </p:nvCxnSpPr>
        <p:spPr>
          <a:xfrm flipV="1">
            <a:off x="4379976" y="1229478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7" name="World PV pie">
            <a:extLst>
              <a:ext uri="{FF2B5EF4-FFF2-40B4-BE49-F238E27FC236}">
                <a16:creationId xmlns:a16="http://schemas.microsoft.com/office/drawing/2014/main" id="{15B76057-42C0-55D8-F099-3EB6FCC41F65}"/>
              </a:ext>
            </a:extLst>
          </p:cNvPr>
          <p:cNvGraphicFramePr/>
          <p:nvPr/>
        </p:nvGraphicFramePr>
        <p:xfrm>
          <a:off x="93283" y="722376"/>
          <a:ext cx="2663952" cy="224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399535-A79D-3143-5761-86CCF3DF6DA0}"/>
              </a:ext>
            </a:extLst>
          </p:cNvPr>
          <p:cNvSpPr txBox="1"/>
          <p:nvPr/>
        </p:nvSpPr>
        <p:spPr>
          <a:xfrm>
            <a:off x="4218582" y="3053133"/>
            <a:ext cx="21639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*Production of light trucks not included</a:t>
            </a: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4AF29D6B-A4D6-6059-0BB5-206F95D549E6}"/>
              </a:ext>
            </a:extLst>
          </p:cNvPr>
          <p:cNvSpPr txBox="1"/>
          <p:nvPr/>
        </p:nvSpPr>
        <p:spPr>
          <a:xfrm>
            <a:off x="9381744" y="314013"/>
            <a:ext cx="2743198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/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/ Production figures in lakhs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97E96D9E-7B8B-D53E-C96F-AB7A3A9467C6}"/>
              </a:ext>
            </a:extLst>
          </p:cNvPr>
          <p:cNvSpPr txBox="1"/>
          <p:nvPr/>
        </p:nvSpPr>
        <p:spPr>
          <a:xfrm>
            <a:off x="128016" y="6128635"/>
            <a:ext cx="11753088" cy="25270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China dominates EV Production and Sales; However, EV fleet share of China is still lower (43%) due to huge market size.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515D950-4EA8-86D8-6081-E6E283D3F455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339207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FB50-9E05-7369-F708-26968FDF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674BB0-445F-31CD-F7D7-4B44986C44E6}"/>
              </a:ext>
            </a:extLst>
          </p:cNvPr>
          <p:cNvSpPr txBox="1"/>
          <p:nvPr/>
        </p:nvSpPr>
        <p:spPr>
          <a:xfrm>
            <a:off x="48006" y="72542"/>
            <a:ext cx="10351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1.b Vehicles: India EV Outlook – 2W+3W+4W (FY 25-26 Scenario)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9D18FA33-BDEB-0E3F-CAEC-EFB6E9914390}"/>
              </a:ext>
            </a:extLst>
          </p:cNvPr>
          <p:cNvSpPr txBox="1"/>
          <p:nvPr/>
        </p:nvSpPr>
        <p:spPr>
          <a:xfrm>
            <a:off x="48006" y="6340560"/>
            <a:ext cx="11548872" cy="311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Source: </a:t>
            </a:r>
            <a:r>
              <a:rPr lang="en-IN" sz="800" u="sng" dirty="0" err="1">
                <a:solidFill>
                  <a:srgbClr val="0563C1"/>
                </a:solidFill>
                <a:hlinkClick r:id="rId3"/>
              </a:rPr>
              <a:t>Autoguide</a:t>
            </a:r>
            <a:r>
              <a:rPr lang="en-IN" sz="800" u="sng" dirty="0">
                <a:solidFill>
                  <a:srgbClr val="0563C1"/>
                </a:solidFill>
                <a:hlinkClick r:id="rId3"/>
              </a:rPr>
              <a:t> India – FY22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4"/>
              </a:rPr>
              <a:t>Autocar Pro – FY2024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5"/>
              </a:rPr>
              <a:t>Autocar Pro – FY2025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6"/>
              </a:rPr>
              <a:t>Autocar Pro – FY2026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 err="1">
                <a:solidFill>
                  <a:srgbClr val="0563C1"/>
                </a:solidFill>
                <a:hlinkClick r:id="rId7"/>
              </a:rPr>
              <a:t>EVreporter</a:t>
            </a:r>
            <a:r>
              <a:rPr lang="en-IN" sz="800" u="sng" dirty="0">
                <a:solidFill>
                  <a:srgbClr val="0563C1"/>
                </a:solidFill>
                <a:hlinkClick r:id="rId7"/>
              </a:rPr>
              <a:t> – FY2025-26 EV sales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8"/>
              </a:rPr>
              <a:t>Vahan Dashboard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9"/>
              </a:rPr>
              <a:t>Autocar Pro – e-2W FY2026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 err="1">
                <a:solidFill>
                  <a:srgbClr val="0563C1"/>
                </a:solidFill>
                <a:hlinkClick r:id="rId10"/>
              </a:rPr>
              <a:t>Bikeleague</a:t>
            </a:r>
            <a:r>
              <a:rPr lang="en-IN" sz="800" u="sng" dirty="0">
                <a:solidFill>
                  <a:srgbClr val="0563C1"/>
                </a:solidFill>
                <a:hlinkClick r:id="rId10"/>
              </a:rPr>
              <a:t> – e-2W models FY26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r>
              <a:rPr lang="en-IN" sz="800" u="sng" dirty="0">
                <a:solidFill>
                  <a:srgbClr val="0563C1"/>
                </a:solidFill>
                <a:hlinkClick r:id="rId11"/>
              </a:rPr>
              <a:t>Autocar Pro – e-3W FY2026</a:t>
            </a:r>
            <a:r>
              <a:rPr lang="en-IN" sz="800" dirty="0">
                <a:solidFill>
                  <a:srgbClr val="000000"/>
                </a:solidFill>
              </a:rPr>
              <a:t>;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082D29-3B66-AD6E-FC80-1FE78FBF7ACE}"/>
              </a:ext>
            </a:extLst>
          </p:cNvPr>
          <p:cNvGrpSpPr/>
          <p:nvPr/>
        </p:nvGrpSpPr>
        <p:grpSpPr>
          <a:xfrm>
            <a:off x="7657696" y="644893"/>
            <a:ext cx="4357520" cy="2666608"/>
            <a:chOff x="8074152" y="877824"/>
            <a:chExt cx="3794760" cy="272491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18A33C2-93BC-8A19-85FA-4E67108BA3E8}"/>
                </a:ext>
              </a:extLst>
            </p:cNvPr>
            <p:cNvSpPr/>
            <p:nvPr/>
          </p:nvSpPr>
          <p:spPr>
            <a:xfrm>
              <a:off x="8074152" y="877824"/>
              <a:ext cx="3794760" cy="27249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9DC3E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5E24698-F0FD-6D03-6D07-F11EF22B5D40}"/>
                </a:ext>
              </a:extLst>
            </p:cNvPr>
            <p:cNvSpPr txBox="1"/>
            <p:nvPr/>
          </p:nvSpPr>
          <p:spPr>
            <a:xfrm>
              <a:off x="8165592" y="923544"/>
              <a:ext cx="3611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F386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EV Sales FY21–FY26 – 2W + 3W + 4W (lakh)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aphicFrame>
          <p:nvGraphicFramePr>
            <p:cNvPr id="7" name="Chart 0">
              <a:extLst>
                <a:ext uri="{FF2B5EF4-FFF2-40B4-BE49-F238E27FC236}">
                  <a16:creationId xmlns:a16="http://schemas.microsoft.com/office/drawing/2014/main" id="{AD70354C-7018-646A-F5BD-5A057FE4920B}"/>
                </a:ext>
              </a:extLst>
            </p:cNvPr>
            <p:cNvGraphicFramePr/>
            <p:nvPr/>
          </p:nvGraphicFramePr>
          <p:xfrm>
            <a:off x="8138160" y="1179576"/>
            <a:ext cx="3657600" cy="24231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308E754-8B22-D028-7E9B-D33A8BCEBE12}"/>
                </a:ext>
              </a:extLst>
            </p:cNvPr>
            <p:cNvCxnSpPr/>
            <p:nvPr/>
          </p:nvCxnSpPr>
          <p:spPr>
            <a:xfrm flipV="1">
              <a:off x="8225566" y="1866853"/>
              <a:ext cx="0" cy="548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Segment pie panel">
            <a:extLst>
              <a:ext uri="{FF2B5EF4-FFF2-40B4-BE49-F238E27FC236}">
                <a16:creationId xmlns:a16="http://schemas.microsoft.com/office/drawing/2014/main" id="{5DC7B326-81FD-CC15-3C4F-DB5A1A9F715B}"/>
              </a:ext>
            </a:extLst>
          </p:cNvPr>
          <p:cNvSpPr/>
          <p:nvPr/>
        </p:nvSpPr>
        <p:spPr>
          <a:xfrm>
            <a:off x="86868" y="644893"/>
            <a:ext cx="4507992" cy="2668559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1C207936-E995-C5C8-14A9-70914960102A}"/>
              </a:ext>
            </a:extLst>
          </p:cNvPr>
          <p:cNvSpPr txBox="1"/>
          <p:nvPr/>
        </p:nvSpPr>
        <p:spPr>
          <a:xfrm>
            <a:off x="-425351" y="768096"/>
            <a:ext cx="4507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Vehicle Sales FY26 by Segment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EV pie panel">
            <a:extLst>
              <a:ext uri="{FF2B5EF4-FFF2-40B4-BE49-F238E27FC236}">
                <a16:creationId xmlns:a16="http://schemas.microsoft.com/office/drawing/2014/main" id="{5E99BE0A-C69F-A024-CADB-6D1F8423A954}"/>
              </a:ext>
            </a:extLst>
          </p:cNvPr>
          <p:cNvSpPr/>
          <p:nvPr/>
        </p:nvSpPr>
        <p:spPr>
          <a:xfrm>
            <a:off x="3916682" y="644893"/>
            <a:ext cx="3973363" cy="2668559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119AE7BE-7D1C-B004-A068-7B69D8FD4C87}"/>
              </a:ext>
            </a:extLst>
          </p:cNvPr>
          <p:cNvSpPr txBox="1"/>
          <p:nvPr/>
        </p:nvSpPr>
        <p:spPr>
          <a:xfrm>
            <a:off x="3488436" y="768096"/>
            <a:ext cx="4507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 vs Non-EV Sales FY26 (2W+3W+4W)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1" name="EV pie">
            <a:extLst>
              <a:ext uri="{FF2B5EF4-FFF2-40B4-BE49-F238E27FC236}">
                <a16:creationId xmlns:a16="http://schemas.microsoft.com/office/drawing/2014/main" id="{FDEF869C-D346-6524-630E-DC827DC43236}"/>
              </a:ext>
            </a:extLst>
          </p:cNvPr>
          <p:cNvGraphicFramePr/>
          <p:nvPr/>
        </p:nvGraphicFramePr>
        <p:xfrm>
          <a:off x="3703879" y="877824"/>
          <a:ext cx="3998334" cy="2236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45" name="Segment pie">
            <a:extLst>
              <a:ext uri="{FF2B5EF4-FFF2-40B4-BE49-F238E27FC236}">
                <a16:creationId xmlns:a16="http://schemas.microsoft.com/office/drawing/2014/main" id="{BEF7D472-1D01-470F-F273-A432371DAFB7}"/>
              </a:ext>
            </a:extLst>
          </p:cNvPr>
          <p:cNvGraphicFramePr/>
          <p:nvPr/>
        </p:nvGraphicFramePr>
        <p:xfrm>
          <a:off x="333756" y="877824"/>
          <a:ext cx="3108960" cy="231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47" name="Electric 2W panel">
            <a:extLst>
              <a:ext uri="{FF2B5EF4-FFF2-40B4-BE49-F238E27FC236}">
                <a16:creationId xmlns:a16="http://schemas.microsoft.com/office/drawing/2014/main" id="{E00AE1F8-454C-7735-2B4F-05E02677FBEA}"/>
              </a:ext>
            </a:extLst>
          </p:cNvPr>
          <p:cNvSpPr/>
          <p:nvPr/>
        </p:nvSpPr>
        <p:spPr>
          <a:xfrm>
            <a:off x="110043" y="3328415"/>
            <a:ext cx="3813250" cy="25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6E736018-7E03-BDD7-3513-D41B7351BD55}"/>
              </a:ext>
            </a:extLst>
          </p:cNvPr>
          <p:cNvSpPr txBox="1"/>
          <p:nvPr/>
        </p:nvSpPr>
        <p:spPr>
          <a:xfrm>
            <a:off x="132588" y="3319547"/>
            <a:ext cx="4110228" cy="255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Electric 2W – Top 5 OEMs &amp; Models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1" name="Electric 2W OEM table">
            <a:extLst>
              <a:ext uri="{FF2B5EF4-FFF2-40B4-BE49-F238E27FC236}">
                <a16:creationId xmlns:a16="http://schemas.microsoft.com/office/drawing/2014/main" id="{886E5FBB-C1DC-4A6D-B3FA-A8CFEEDEDA4B}"/>
              </a:ext>
            </a:extLst>
          </p:cNvPr>
          <p:cNvGraphicFramePr>
            <a:graphicFrameLocks noGrp="1"/>
          </p:cNvGraphicFramePr>
          <p:nvPr/>
        </p:nvGraphicFramePr>
        <p:xfrm>
          <a:off x="223631" y="3574781"/>
          <a:ext cx="1905831" cy="2259270"/>
        </p:xfrm>
        <a:graphic>
          <a:graphicData uri="http://schemas.openxmlformats.org/drawingml/2006/table">
            <a:tbl>
              <a:tblPr/>
              <a:tblGrid>
                <a:gridCol w="248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 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Ather 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 Electric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(Vida)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" name="Electric 2W model table">
            <a:extLst>
              <a:ext uri="{FF2B5EF4-FFF2-40B4-BE49-F238E27FC236}">
                <a16:creationId xmlns:a16="http://schemas.microsoft.com/office/drawing/2014/main" id="{7F72279D-A880-E632-DE3F-B1CFF58934F4}"/>
              </a:ext>
            </a:extLst>
          </p:cNvPr>
          <p:cNvGraphicFramePr>
            <a:graphicFrameLocks noGrp="1"/>
          </p:cNvGraphicFramePr>
          <p:nvPr/>
        </p:nvGraphicFramePr>
        <p:xfrm>
          <a:off x="2066146" y="3574781"/>
          <a:ext cx="1701182" cy="2259270"/>
        </p:xfrm>
        <a:graphic>
          <a:graphicData uri="http://schemas.openxmlformats.org/drawingml/2006/table">
            <a:tbl>
              <a:tblPr/>
              <a:tblGrid>
                <a:gridCol w="104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 iQube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Chetak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Ather Rizta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 S1 series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Vida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Electric 3W panel">
            <a:extLst>
              <a:ext uri="{FF2B5EF4-FFF2-40B4-BE49-F238E27FC236}">
                <a16:creationId xmlns:a16="http://schemas.microsoft.com/office/drawing/2014/main" id="{D786A301-9377-BB03-9DDF-74105CFD7C74}"/>
              </a:ext>
            </a:extLst>
          </p:cNvPr>
          <p:cNvSpPr/>
          <p:nvPr/>
        </p:nvSpPr>
        <p:spPr>
          <a:xfrm>
            <a:off x="3913253" y="3328415"/>
            <a:ext cx="3998334" cy="2604207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46147ED8-AD31-2129-8226-09EEDA6E7BC6}"/>
              </a:ext>
            </a:extLst>
          </p:cNvPr>
          <p:cNvSpPr txBox="1"/>
          <p:nvPr/>
        </p:nvSpPr>
        <p:spPr>
          <a:xfrm>
            <a:off x="3767328" y="3307511"/>
            <a:ext cx="4110228" cy="255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Electric 3W – Top 5 OEMs &amp; Models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1" name="Electric 3W OEM table">
            <a:extLst>
              <a:ext uri="{FF2B5EF4-FFF2-40B4-BE49-F238E27FC236}">
                <a16:creationId xmlns:a16="http://schemas.microsoft.com/office/drawing/2014/main" id="{44D01456-DDA4-9BDA-72F2-373DA3ABE7ED}"/>
              </a:ext>
            </a:extLst>
          </p:cNvPr>
          <p:cNvGraphicFramePr>
            <a:graphicFrameLocks noGrp="1"/>
          </p:cNvGraphicFramePr>
          <p:nvPr/>
        </p:nvGraphicFramePr>
        <p:xfrm>
          <a:off x="4057361" y="3567347"/>
          <a:ext cx="1905831" cy="2272689"/>
        </p:xfrm>
        <a:graphic>
          <a:graphicData uri="http://schemas.openxmlformats.org/drawingml/2006/table">
            <a:tbl>
              <a:tblPr/>
              <a:tblGrid>
                <a:gridCol w="248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6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Mahindra LMM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YC Electric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 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Saera Electric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3" name="Electric 3W model table">
            <a:extLst>
              <a:ext uri="{FF2B5EF4-FFF2-40B4-BE49-F238E27FC236}">
                <a16:creationId xmlns:a16="http://schemas.microsoft.com/office/drawing/2014/main" id="{7CB71D9D-4D54-716F-AF5B-6D9910CBA884}"/>
              </a:ext>
            </a:extLst>
          </p:cNvPr>
          <p:cNvGraphicFramePr>
            <a:graphicFrameLocks noGrp="1"/>
          </p:cNvGraphicFramePr>
          <p:nvPr/>
        </p:nvGraphicFramePr>
        <p:xfrm>
          <a:off x="5948806" y="3567348"/>
          <a:ext cx="1822103" cy="2275668"/>
        </p:xfrm>
        <a:graphic>
          <a:graphicData uri="http://schemas.openxmlformats.org/drawingml/2006/table">
            <a:tbl>
              <a:tblPr/>
              <a:tblGrid>
                <a:gridCol w="130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6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Mahindra Treo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Bajaj GoGo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YC Yatri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 King EV Max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Saera Mayuri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" name="Electric 4W (PV) panel">
            <a:extLst>
              <a:ext uri="{FF2B5EF4-FFF2-40B4-BE49-F238E27FC236}">
                <a16:creationId xmlns:a16="http://schemas.microsoft.com/office/drawing/2014/main" id="{218B0234-D9C4-6865-5099-F301450428F3}"/>
              </a:ext>
            </a:extLst>
          </p:cNvPr>
          <p:cNvSpPr/>
          <p:nvPr/>
        </p:nvSpPr>
        <p:spPr>
          <a:xfrm>
            <a:off x="7911260" y="3328415"/>
            <a:ext cx="4103629" cy="2604207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6E333C2E-38B9-EEDC-CE79-39A64257ED99}"/>
              </a:ext>
            </a:extLst>
          </p:cNvPr>
          <p:cNvSpPr txBox="1"/>
          <p:nvPr/>
        </p:nvSpPr>
        <p:spPr>
          <a:xfrm>
            <a:off x="7870630" y="3301492"/>
            <a:ext cx="4110228" cy="255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Electric 4W (PV) – Top 5 OEMs &amp; Models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1" name="Electric 4W (PV) OEM table">
            <a:extLst>
              <a:ext uri="{FF2B5EF4-FFF2-40B4-BE49-F238E27FC236}">
                <a16:creationId xmlns:a16="http://schemas.microsoft.com/office/drawing/2014/main" id="{951FD4AC-DE2F-FAE1-D840-FE276F34473E}"/>
              </a:ext>
            </a:extLst>
          </p:cNvPr>
          <p:cNvGraphicFramePr>
            <a:graphicFrameLocks noGrp="1"/>
          </p:cNvGraphicFramePr>
          <p:nvPr/>
        </p:nvGraphicFramePr>
        <p:xfrm>
          <a:off x="8085439" y="3567347"/>
          <a:ext cx="1716807" cy="2310412"/>
        </p:xfrm>
        <a:graphic>
          <a:graphicData uri="http://schemas.openxmlformats.org/drawingml/2006/table">
            <a:tbl>
              <a:tblPr/>
              <a:tblGrid>
                <a:gridCol w="22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Motors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5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JSW MG 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Mahindra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3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BYD India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3" name="Electric 4W (PV) model table">
            <a:extLst>
              <a:ext uri="{FF2B5EF4-FFF2-40B4-BE49-F238E27FC236}">
                <a16:creationId xmlns:a16="http://schemas.microsoft.com/office/drawing/2014/main" id="{5EC4C46D-1F59-DE68-382A-9D05CF67A0D0}"/>
              </a:ext>
            </a:extLst>
          </p:cNvPr>
          <p:cNvGraphicFramePr>
            <a:graphicFrameLocks noGrp="1"/>
          </p:cNvGraphicFramePr>
          <p:nvPr/>
        </p:nvGraphicFramePr>
        <p:xfrm>
          <a:off x="9802247" y="3567348"/>
          <a:ext cx="2024174" cy="2302837"/>
        </p:xfrm>
        <a:graphic>
          <a:graphicData uri="http://schemas.openxmlformats.org/drawingml/2006/table">
            <a:tbl>
              <a:tblPr/>
              <a:tblGrid>
                <a:gridCol w="1455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8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 Windsor 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M&amp;M XEV 9S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Nexon 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 Punch 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M&amp;M XEV 9e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10">
            <a:extLst>
              <a:ext uri="{FF2B5EF4-FFF2-40B4-BE49-F238E27FC236}">
                <a16:creationId xmlns:a16="http://schemas.microsoft.com/office/drawing/2014/main" id="{5CC1C30D-B4B8-9248-9A9E-7619C421EF76}"/>
              </a:ext>
            </a:extLst>
          </p:cNvPr>
          <p:cNvSpPr txBox="1"/>
          <p:nvPr/>
        </p:nvSpPr>
        <p:spPr>
          <a:xfrm>
            <a:off x="931443" y="179938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~274.88 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41EF897-CC42-02F0-0AC6-935B51DD91F0}"/>
              </a:ext>
            </a:extLst>
          </p:cNvPr>
          <p:cNvSpPr txBox="1"/>
          <p:nvPr/>
        </p:nvSpPr>
        <p:spPr>
          <a:xfrm>
            <a:off x="4623843" y="17602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~274.88 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CDFA84-FD0A-DF59-A946-BC343B1FBD10}"/>
              </a:ext>
            </a:extLst>
          </p:cNvPr>
          <p:cNvCxnSpPr>
            <a:cxnSpLocks/>
          </p:cNvCxnSpPr>
          <p:nvPr/>
        </p:nvCxnSpPr>
        <p:spPr>
          <a:xfrm flipV="1">
            <a:off x="8001000" y="1193303"/>
            <a:ext cx="0" cy="43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 15">
            <a:extLst>
              <a:ext uri="{FF2B5EF4-FFF2-40B4-BE49-F238E27FC236}">
                <a16:creationId xmlns:a16="http://schemas.microsoft.com/office/drawing/2014/main" id="{DD237883-8555-EA8E-0B7D-80E3197A998C}"/>
              </a:ext>
            </a:extLst>
          </p:cNvPr>
          <p:cNvSpPr txBox="1"/>
          <p:nvPr/>
        </p:nvSpPr>
        <p:spPr>
          <a:xfrm>
            <a:off x="9381744" y="314013"/>
            <a:ext cx="2743198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/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figures in lakhs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0518ED66-5A7B-31CA-78ED-F3DAB1DBBCA3}"/>
              </a:ext>
            </a:extLst>
          </p:cNvPr>
          <p:cNvSpPr txBox="1"/>
          <p:nvPr/>
        </p:nvSpPr>
        <p:spPr>
          <a:xfrm>
            <a:off x="86867" y="6071605"/>
            <a:ext cx="11928021" cy="28384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Overall EV Share of vehicle segment = 3W~60% , 2W~6%, 4W~ 4% (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 penetration is still in single digit for vehicles sold in personal category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9EA61A5-1A41-AC3B-EE1F-8AD177F62596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299283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Y panel">
            <a:extLst>
              <a:ext uri="{FF2B5EF4-FFF2-40B4-BE49-F238E27FC236}">
                <a16:creationId xmlns:a16="http://schemas.microsoft.com/office/drawing/2014/main" id="{148FFC29-DBBB-55AE-B68A-A5C492207B7A}"/>
              </a:ext>
            </a:extLst>
          </p:cNvPr>
          <p:cNvSpPr/>
          <p:nvPr/>
        </p:nvSpPr>
        <p:spPr>
          <a:xfrm>
            <a:off x="190731" y="612648"/>
            <a:ext cx="377647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F470526-4FC3-5258-C4EC-A6962247C5DB}"/>
              </a:ext>
            </a:extLst>
          </p:cNvPr>
          <p:cNvSpPr txBox="1"/>
          <p:nvPr/>
        </p:nvSpPr>
        <p:spPr>
          <a:xfrm>
            <a:off x="190731" y="667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e-PV Sales FY21 – FY26 (lakh)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3" name="FY chart">
            <a:extLst>
              <a:ext uri="{FF2B5EF4-FFF2-40B4-BE49-F238E27FC236}">
                <a16:creationId xmlns:a16="http://schemas.microsoft.com/office/drawing/2014/main" id="{D620CADC-079A-F950-1DCA-CF67B90F87DC}"/>
              </a:ext>
            </a:extLst>
          </p:cNvPr>
          <p:cNvGraphicFramePr/>
          <p:nvPr/>
        </p:nvGraphicFramePr>
        <p:xfrm>
          <a:off x="263883" y="960120"/>
          <a:ext cx="3630168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Monthly panel">
            <a:extLst>
              <a:ext uri="{FF2B5EF4-FFF2-40B4-BE49-F238E27FC236}">
                <a16:creationId xmlns:a16="http://schemas.microsoft.com/office/drawing/2014/main" id="{FB5C9523-E071-EE4A-307A-0039064275D3}"/>
              </a:ext>
            </a:extLst>
          </p:cNvPr>
          <p:cNvSpPr/>
          <p:nvPr/>
        </p:nvSpPr>
        <p:spPr>
          <a:xfrm>
            <a:off x="4076931" y="612648"/>
            <a:ext cx="377647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5198179-AFC3-CD5D-94BE-9658590AA294}"/>
              </a:ext>
            </a:extLst>
          </p:cNvPr>
          <p:cNvSpPr txBox="1"/>
          <p:nvPr/>
        </p:nvSpPr>
        <p:spPr>
          <a:xfrm>
            <a:off x="4076931" y="667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Monthly e-PV Sales FY27 (Apr–Sep 2026, lakh)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9" name="Monthly chart">
            <a:extLst>
              <a:ext uri="{FF2B5EF4-FFF2-40B4-BE49-F238E27FC236}">
                <a16:creationId xmlns:a16="http://schemas.microsoft.com/office/drawing/2014/main" id="{4ADA46E3-62B5-6AA2-914D-2C5680E66AC8}"/>
              </a:ext>
            </a:extLst>
          </p:cNvPr>
          <p:cNvGraphicFramePr/>
          <p:nvPr/>
        </p:nvGraphicFramePr>
        <p:xfrm>
          <a:off x="4150083" y="960120"/>
          <a:ext cx="3630168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OEM panel">
            <a:extLst>
              <a:ext uri="{FF2B5EF4-FFF2-40B4-BE49-F238E27FC236}">
                <a16:creationId xmlns:a16="http://schemas.microsoft.com/office/drawing/2014/main" id="{E5E9EE9C-5067-E387-1778-DA2A2EA38CC4}"/>
              </a:ext>
            </a:extLst>
          </p:cNvPr>
          <p:cNvSpPr/>
          <p:nvPr/>
        </p:nvSpPr>
        <p:spPr>
          <a:xfrm>
            <a:off x="7963131" y="612648"/>
            <a:ext cx="377647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12FE2D1E-F83F-0E69-A75D-384427DAE433}"/>
              </a:ext>
            </a:extLst>
          </p:cNvPr>
          <p:cNvSpPr txBox="1"/>
          <p:nvPr/>
        </p:nvSpPr>
        <p:spPr>
          <a:xfrm>
            <a:off x="7963131" y="667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e-PV Companies – FY26-27 YTD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7" name="OEM table">
            <a:extLst>
              <a:ext uri="{FF2B5EF4-FFF2-40B4-BE49-F238E27FC236}">
                <a16:creationId xmlns:a16="http://schemas.microsoft.com/office/drawing/2014/main" id="{DCB87E41-7D5C-D543-5339-A6B2CED4DF97}"/>
              </a:ext>
            </a:extLst>
          </p:cNvPr>
          <p:cNvGraphicFramePr>
            <a:graphicFrameLocks noGrp="1"/>
          </p:cNvGraphicFramePr>
          <p:nvPr/>
        </p:nvGraphicFramePr>
        <p:xfrm>
          <a:off x="8072859" y="1024128"/>
          <a:ext cx="3557016" cy="214579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Sales (lakh)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Tata Motors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Mahindra &amp; Mahindra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JSW MG Motor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VinFast India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Maruti Suzuki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9">
            <a:extLst>
              <a:ext uri="{FF2B5EF4-FFF2-40B4-BE49-F238E27FC236}">
                <a16:creationId xmlns:a16="http://schemas.microsoft.com/office/drawing/2014/main" id="{FF0C83DE-7AF7-63CB-BB9B-84BE8E54575C}"/>
              </a:ext>
            </a:extLst>
          </p:cNvPr>
          <p:cNvSpPr txBox="1"/>
          <p:nvPr/>
        </p:nvSpPr>
        <p:spPr>
          <a:xfrm>
            <a:off x="8036283" y="315468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Vahan retail; Apr–May derived from Q1 OEM shares (EVreporter)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Models panel">
            <a:extLst>
              <a:ext uri="{FF2B5EF4-FFF2-40B4-BE49-F238E27FC236}">
                <a16:creationId xmlns:a16="http://schemas.microsoft.com/office/drawing/2014/main" id="{D4E09021-A207-81CF-7660-7BAA6C51A55F}"/>
              </a:ext>
            </a:extLst>
          </p:cNvPr>
          <p:cNvSpPr/>
          <p:nvPr/>
        </p:nvSpPr>
        <p:spPr>
          <a:xfrm>
            <a:off x="206881" y="3374136"/>
            <a:ext cx="3776472" cy="283524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010171A6-AAB3-6DF3-05DE-FE7790847D69}"/>
              </a:ext>
            </a:extLst>
          </p:cNvPr>
          <p:cNvSpPr txBox="1"/>
          <p:nvPr/>
        </p:nvSpPr>
        <p:spPr>
          <a:xfrm>
            <a:off x="190731" y="3474720"/>
            <a:ext cx="3776472" cy="261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 5 e-PV Models (Apr-Sept 2026)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5" name="Models table">
            <a:extLst>
              <a:ext uri="{FF2B5EF4-FFF2-40B4-BE49-F238E27FC236}">
                <a16:creationId xmlns:a16="http://schemas.microsoft.com/office/drawing/2014/main" id="{3BBC3492-8C00-4E47-5CF7-1B3F7B5F4738}"/>
              </a:ext>
            </a:extLst>
          </p:cNvPr>
          <p:cNvGraphicFramePr>
            <a:graphicFrameLocks noGrp="1"/>
          </p:cNvGraphicFramePr>
          <p:nvPr/>
        </p:nvGraphicFramePr>
        <p:xfrm>
          <a:off x="263883" y="3736435"/>
          <a:ext cx="3630167" cy="2401314"/>
        </p:xfrm>
        <a:graphic>
          <a:graphicData uri="http://schemas.openxmlformats.org/drawingml/2006/table">
            <a:tbl>
              <a:tblPr/>
              <a:tblGrid>
                <a:gridCol w="326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0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SN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OEM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Sales (lakh)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  <a:ea typeface="Calibri" charset="0"/>
                          <a:cs typeface="Calibri" charset="0"/>
                        </a:rPr>
                        <a:t>Tata Punch EV</a:t>
                      </a: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262626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Tata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0.228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Mahindra XEV 9S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M&amp;M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MG Windsor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262626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JSW MG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Tata Nexon EV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Tata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Mahindra XEV 9e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M&amp;M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itle 1">
            <a:extLst>
              <a:ext uri="{FF2B5EF4-FFF2-40B4-BE49-F238E27FC236}">
                <a16:creationId xmlns:a16="http://schemas.microsoft.com/office/drawing/2014/main" id="{2C7B3119-0C94-B2B1-B0EA-3A083A3368DB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9793224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1.c Vehicles: India EV Outlook -4W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(FY 25-26 &amp; FY 26-27)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EE946EFB-FED2-155E-2DFA-AFA903DEEB24}"/>
              </a:ext>
            </a:extLst>
          </p:cNvPr>
          <p:cNvGraphicFramePr>
            <a:graphicFrameLocks/>
          </p:cNvGraphicFramePr>
          <p:nvPr/>
        </p:nvGraphicFramePr>
        <p:xfrm>
          <a:off x="4076931" y="3374136"/>
          <a:ext cx="7625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6FC3129-23BD-C148-6AC7-1119D83255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93690" y="4539066"/>
            <a:ext cx="267226" cy="2304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72249A-F6D0-5D42-6FBB-982FE3A02074}"/>
              </a:ext>
            </a:extLst>
          </p:cNvPr>
          <p:cNvSpPr txBox="1"/>
          <p:nvPr/>
        </p:nvSpPr>
        <p:spPr>
          <a:xfrm>
            <a:off x="103452" y="1733763"/>
            <a:ext cx="400110" cy="784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A54E2A7-C557-9F36-1549-914A153D4272}"/>
              </a:ext>
            </a:extLst>
          </p:cNvPr>
          <p:cNvCxnSpPr/>
          <p:nvPr/>
        </p:nvCxnSpPr>
        <p:spPr>
          <a:xfrm flipV="1">
            <a:off x="328854" y="1460162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43AB1EB-1EFD-E0DC-3456-0B5B75DF5EC7}"/>
              </a:ext>
            </a:extLst>
          </p:cNvPr>
          <p:cNvSpPr txBox="1"/>
          <p:nvPr/>
        </p:nvSpPr>
        <p:spPr>
          <a:xfrm>
            <a:off x="3959022" y="1666707"/>
            <a:ext cx="400110" cy="784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65F55-E842-E608-66D5-A18703F033F7}"/>
              </a:ext>
            </a:extLst>
          </p:cNvPr>
          <p:cNvCxnSpPr/>
          <p:nvPr/>
        </p:nvCxnSpPr>
        <p:spPr>
          <a:xfrm flipV="1">
            <a:off x="4184424" y="1393106"/>
            <a:ext cx="0" cy="48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C77AF1-8794-2C29-9A3E-BABAE708C889}"/>
              </a:ext>
            </a:extLst>
          </p:cNvPr>
          <p:cNvCxnSpPr>
            <a:cxnSpLocks/>
          </p:cNvCxnSpPr>
          <p:nvPr/>
        </p:nvCxnSpPr>
        <p:spPr>
          <a:xfrm flipV="1">
            <a:off x="4359132" y="3839972"/>
            <a:ext cx="0" cy="814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 15">
            <a:extLst>
              <a:ext uri="{FF2B5EF4-FFF2-40B4-BE49-F238E27FC236}">
                <a16:creationId xmlns:a16="http://schemas.microsoft.com/office/drawing/2014/main" id="{F22AF58F-ED3E-999E-DB8E-43F686E4FE1D}"/>
              </a:ext>
            </a:extLst>
          </p:cNvPr>
          <p:cNvSpPr txBox="1"/>
          <p:nvPr/>
        </p:nvSpPr>
        <p:spPr>
          <a:xfrm>
            <a:off x="57098" y="6257543"/>
            <a:ext cx="11928021" cy="28384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Lowest Y-o-Y growth in FY 24-25 due to absence of EV subsidy.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CEC3F11F-545D-DAC7-4C33-EFF0B2F27985}"/>
              </a:ext>
            </a:extLst>
          </p:cNvPr>
          <p:cNvSpPr/>
          <p:nvPr/>
        </p:nvSpPr>
        <p:spPr>
          <a:xfrm>
            <a:off x="1745941" y="1393106"/>
            <a:ext cx="1080438" cy="392758"/>
          </a:xfrm>
          <a:prstGeom prst="wedgeRoundRectCallout">
            <a:avLst>
              <a:gd name="adj1" fmla="val 37402"/>
              <a:gd name="adj2" fmla="val 73925"/>
              <a:gd name="adj3" fmla="val 16667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FAME-11 end in Mar’24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0A1C466F-EE7A-24B2-2A43-4C9B6A241D54}"/>
              </a:ext>
            </a:extLst>
          </p:cNvPr>
          <p:cNvSpPr/>
          <p:nvPr/>
        </p:nvSpPr>
        <p:spPr>
          <a:xfrm>
            <a:off x="2493817" y="968900"/>
            <a:ext cx="822037" cy="380018"/>
          </a:xfrm>
          <a:prstGeom prst="wedgeRoundRectCallout">
            <a:avLst>
              <a:gd name="adj1" fmla="val 34087"/>
              <a:gd name="adj2" fmla="val 88813"/>
              <a:gd name="adj3" fmla="val 16667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GST 2.0 in Sep’25</a:t>
            </a: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B1A8D682-9734-6324-DA5C-11F43BEE1F41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41989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6305" y="8870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Calibri" pitchFamily="34" charset="-122"/>
                <a:cs typeface="Calibri" pitchFamily="34" charset="-120"/>
              </a:rPr>
              <a:t>2. Policy: PM E-DRIVE Scheme – Components, Targets &amp; Progress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46305" y="540367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Launched Sep 2024 (₹10,900 cr); outlay now ₹11,900 cr and tenure extended to 31 Mar 2028 – fund-limited, closes per segment once money runs out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146305" y="839167"/>
          <a:ext cx="6135622" cy="5547360"/>
        </p:xfrm>
        <a:graphic>
          <a:graphicData uri="http://schemas.openxmlformats.org/drawingml/2006/table">
            <a:tbl>
              <a:tblPr/>
              <a:tblGrid>
                <a:gridCol w="1558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Outlay (₹ cr)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e-2W demand incentive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2,767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45.79 lakh e-2W (orig. 24.79 lakh)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Extended to March’28</a:t>
                      </a:r>
                      <a:endParaRPr lang="en-US" sz="16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e-3W (L5 autos)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Within ₹3,679 cr demand pool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3.16 lakh e-3W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Closed 26 Dec 2025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e-rickshaw / e-cart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Within demand pool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Open (FY26–FY28)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e-ambulances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e-trucks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Diesel truck scrappage linked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e-buses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4,391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14,028 e-buses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13,800 allotted to 7 cities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3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Public charging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72,300 chargers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₹851 cr approved, 8,147 chargers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Testing agencies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Upgrade MHI test centres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1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Total scheme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11,900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Till 31 Mar 2028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Fund-limited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00800" y="987552"/>
          <a:ext cx="5330952" cy="2852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146305" y="6441717"/>
            <a:ext cx="13578840" cy="143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Source: PIB – Cabinet approval (11 Sep 2024); extension (8 Aug 2025); Lok Sabha reply (28 Jul 2026); PM E-DRIVE update (1 Oct 2026)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aphicFrame>
        <p:nvGraphicFramePr>
          <p:cNvPr id="9" name="Table 1">
            <a:extLst>
              <a:ext uri="{FF2B5EF4-FFF2-40B4-BE49-F238E27FC236}">
                <a16:creationId xmlns:a16="http://schemas.microsoft.com/office/drawing/2014/main" id="{24D36005-7DD0-7506-8D7B-8F4EBEE587F6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4235754"/>
          <a:ext cx="5458967" cy="2164080"/>
        </p:xfrm>
        <a:graphic>
          <a:graphicData uri="http://schemas.openxmlformats.org/drawingml/2006/table">
            <a:tbl>
              <a:tblPr/>
              <a:tblGrid>
                <a:gridCol w="1264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7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Car incentive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Valid till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 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Dec 2026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 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Dec 2027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Road tax + registration exemption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Mar 2030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4E32A50C-D790-6546-4C9B-FB6E0DB00090}"/>
              </a:ext>
            </a:extLst>
          </p:cNvPr>
          <p:cNvSpPr txBox="1"/>
          <p:nvPr/>
        </p:nvSpPr>
        <p:spPr>
          <a:xfrm>
            <a:off x="7282779" y="3915714"/>
            <a:ext cx="394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Calibri" pitchFamily="34" charset="-122"/>
                <a:cs typeface="Calibri" pitchFamily="34" charset="-120"/>
              </a:rPr>
              <a:t>Current active Policies offered by States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314BC985-0EBF-6815-6959-6B96BFEA9F02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1_table">
            <a:extLst>
              <a:ext uri="{FF2B5EF4-FFF2-40B4-BE49-F238E27FC236}">
                <a16:creationId xmlns:a16="http://schemas.microsoft.com/office/drawing/2014/main" id="{7ACBFB9C-94D5-C06A-AA3E-5FA25B6FF76C}"/>
              </a:ext>
            </a:extLst>
          </p:cNvPr>
          <p:cNvGraphicFramePr>
            <a:graphicFrameLocks noGrp="1"/>
          </p:cNvGraphicFramePr>
          <p:nvPr/>
        </p:nvGraphicFramePr>
        <p:xfrm>
          <a:off x="458724" y="849376"/>
          <a:ext cx="11274552" cy="45272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ICE  ·  internal combustion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BEV  ·  battery electric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Energy source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Petrol or diesel, bought by the litre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Electricity, bought by the kilowatt-hour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Energy stored on board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≈45 litre tank — about 400 kWh of chemical 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40–60 kWh in a lithium-ion pack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Energy path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Chemical → heat → mechanical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Chemical → electrical → mechanical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Converter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Engine: hundreds of controlled ignitions per second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Motor: one rotating shaft, no combustion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Transmission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Clutch and 5–6 gear ratios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A single fixed reduction gear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Torque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Peak torque only in a narrow rpm band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Full torque from zero rpm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Moving parts in the powertrain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Roughly 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Roughly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Energy reaching the wheels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12–30% (tank-to-wheel)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Over 77% (grid-to-wheel, including regen)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</a:rPr>
                        <a:t>Waste heat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03C"/>
                          </a:solidFill>
                        </a:rPr>
                        <a:t>Large — radiator, water pump and oil cooler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3D38"/>
                          </a:solidFill>
                        </a:rPr>
                        <a:t>Small — the thermal loop mainly keeps the pack in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C071401-8852-00A8-9723-CA70DEF7BFE3}"/>
              </a:ext>
            </a:extLst>
          </p:cNvPr>
          <p:cNvGrpSpPr/>
          <p:nvPr/>
        </p:nvGrpSpPr>
        <p:grpSpPr>
          <a:xfrm>
            <a:off x="458724" y="5541264"/>
            <a:ext cx="11274552" cy="566928"/>
            <a:chOff x="458724" y="5879592"/>
            <a:chExt cx="11274552" cy="566928"/>
          </a:xfrm>
        </p:grpSpPr>
        <p:sp>
          <p:nvSpPr>
            <p:cNvPr id="3" name="a2_box">
              <a:extLst>
                <a:ext uri="{FF2B5EF4-FFF2-40B4-BE49-F238E27FC236}">
                  <a16:creationId xmlns:a16="http://schemas.microsoft.com/office/drawing/2014/main" id="{DF546668-BA8D-1E1D-E55F-4131076FA043}"/>
                </a:ext>
              </a:extLst>
            </p:cNvPr>
            <p:cNvSpPr/>
            <p:nvPr/>
          </p:nvSpPr>
          <p:spPr>
            <a:xfrm>
              <a:off x="458724" y="5879592"/>
              <a:ext cx="11274552" cy="566928"/>
            </a:xfrm>
            <a:prstGeom prst="roundRect">
              <a:avLst>
                <a:gd name="adj" fmla="val 6452"/>
              </a:avLst>
            </a:prstGeom>
            <a:solidFill>
              <a:srgbClr val="13223A"/>
            </a:solidFill>
            <a:ln w="12700">
              <a:solidFill>
                <a:srgbClr val="13223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a2_t">
              <a:extLst>
                <a:ext uri="{FF2B5EF4-FFF2-40B4-BE49-F238E27FC236}">
                  <a16:creationId xmlns:a16="http://schemas.microsoft.com/office/drawing/2014/main" id="{DF430A95-B560-35F4-B78B-EB265E773789}"/>
                </a:ext>
              </a:extLst>
            </p:cNvPr>
            <p:cNvSpPr/>
            <p:nvPr/>
          </p:nvSpPr>
          <p:spPr>
            <a:xfrm>
              <a:off x="746760" y="5879592"/>
              <a:ext cx="10698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one line:   </a:t>
              </a:r>
              <a:r>
                <a:rPr lang="en-US" sz="1600" dirty="0">
                  <a:solidFill>
                    <a:srgbClr val="C9D3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engine converts heat into motion and throws most of it away; the motor converts electricity into motion and keeps most of it.</a:t>
              </a:r>
              <a:endParaRPr lang="en-US" sz="1600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7DF5391-A29D-DD6A-64D5-C8A4BD4C8E57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6025896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Difference Between ICE vs BEV</a:t>
            </a:r>
          </a:p>
        </p:txBody>
      </p:sp>
    </p:spTree>
    <p:extLst>
      <p:ext uri="{BB962C8B-B14F-4D97-AF65-F5344CB8AC3E}">
        <p14:creationId xmlns:p14="http://schemas.microsoft.com/office/powerpoint/2010/main" val="4462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1_table">
            <a:extLst>
              <a:ext uri="{FF2B5EF4-FFF2-40B4-BE49-F238E27FC236}">
                <a16:creationId xmlns:a16="http://schemas.microsoft.com/office/drawing/2014/main" id="{EC7F3878-0ECD-2B22-4382-45E7836F28D1}"/>
              </a:ext>
            </a:extLst>
          </p:cNvPr>
          <p:cNvGraphicFramePr>
            <a:graphicFrameLocks noGrp="1"/>
          </p:cNvGraphicFramePr>
          <p:nvPr/>
        </p:nvGraphicFramePr>
        <p:xfrm>
          <a:off x="164592" y="667512"/>
          <a:ext cx="11878055" cy="5873302"/>
        </p:xfrm>
        <a:graphic>
          <a:graphicData uri="http://schemas.openxmlformats.org/drawingml/2006/table">
            <a:tbl>
              <a:tblPr/>
              <a:tblGrid>
                <a:gridCol w="2458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4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4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4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Parameters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MHEV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HEV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1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PHEV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BEV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0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What drives the wheels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Engine only — the motor assists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Engine and motor, together or alone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Motor first, engine for long trips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Motor only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9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Battery size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0.2–0.5 kWh (48V)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1–2 kWh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8–25 kWh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30–120 kWh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Electric-only range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1–2 km at low speed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40–100 km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250–1000 km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Can you plug it in?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0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Where the charge comes from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The engine and braking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The engine and braking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The grid, plus the engine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The grid only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0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Fuel saved vs a petrol car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5–15%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25–40%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50–70% if charged daily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 fuel used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0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Tailpipe emissions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None while in electric mode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79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Complexity and cost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Cheapest step up; small premium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Two powertrains; moderate premium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Two powertrains and a charger; high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One powertrain; the pack is 30–40% of cost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79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2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Where India stands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Standard on many new petrol cars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Toyota, Honda and Maruti strong hybrids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Luxury imports today; mass-market models due from late 2026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3F44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Tata, Mahindra, MG, Maruti — the volume story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19FFAFF-2F26-4935-EF66-50E61944BCC7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3301465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EV TYPES</a:t>
            </a:r>
          </a:p>
        </p:txBody>
      </p:sp>
    </p:spTree>
    <p:extLst>
      <p:ext uri="{BB962C8B-B14F-4D97-AF65-F5344CB8AC3E}">
        <p14:creationId xmlns:p14="http://schemas.microsoft.com/office/powerpoint/2010/main" val="106253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ing-1">
            <a:extLst>
              <a:ext uri="{FF2B5EF4-FFF2-40B4-BE49-F238E27FC236}">
                <a16:creationId xmlns:a16="http://schemas.microsoft.com/office/drawing/2014/main" id="{65586F42-E8CD-664D-7E92-DA817582A4C1}"/>
              </a:ext>
            </a:extLst>
          </p:cNvPr>
          <p:cNvSpPr/>
          <p:nvPr/>
        </p:nvSpPr>
        <p:spPr>
          <a:xfrm>
            <a:off x="574548" y="2152412"/>
            <a:ext cx="5029200" cy="2926080"/>
          </a:xfrm>
          <a:prstGeom prst="roundRect">
            <a:avLst>
              <a:gd name="adj" fmla="val 3125"/>
            </a:avLst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pper-foil-2">
            <a:extLst>
              <a:ext uri="{FF2B5EF4-FFF2-40B4-BE49-F238E27FC236}">
                <a16:creationId xmlns:a16="http://schemas.microsoft.com/office/drawing/2014/main" id="{74FD3A43-2510-90BE-DB36-DA9C6BE4A167}"/>
              </a:ext>
            </a:extLst>
          </p:cNvPr>
          <p:cNvSpPr/>
          <p:nvPr/>
        </p:nvSpPr>
        <p:spPr>
          <a:xfrm>
            <a:off x="803148" y="2335292"/>
            <a:ext cx="109728" cy="256032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anode-3">
            <a:extLst>
              <a:ext uri="{FF2B5EF4-FFF2-40B4-BE49-F238E27FC236}">
                <a16:creationId xmlns:a16="http://schemas.microsoft.com/office/drawing/2014/main" id="{BCB98956-C5F3-4533-A48B-F0F001A631F0}"/>
              </a:ext>
            </a:extLst>
          </p:cNvPr>
          <p:cNvSpPr/>
          <p:nvPr/>
        </p:nvSpPr>
        <p:spPr>
          <a:xfrm>
            <a:off x="912876" y="2335292"/>
            <a:ext cx="1188720" cy="256032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graphite-layer-4">
            <a:extLst>
              <a:ext uri="{FF2B5EF4-FFF2-40B4-BE49-F238E27FC236}">
                <a16:creationId xmlns:a16="http://schemas.microsoft.com/office/drawing/2014/main" id="{E5B7FA49-F378-4C87-56CE-BEEBD6BA2200}"/>
              </a:ext>
            </a:extLst>
          </p:cNvPr>
          <p:cNvSpPr/>
          <p:nvPr/>
        </p:nvSpPr>
        <p:spPr>
          <a:xfrm>
            <a:off x="986028" y="276201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graphite-layer-5">
            <a:extLst>
              <a:ext uri="{FF2B5EF4-FFF2-40B4-BE49-F238E27FC236}">
                <a16:creationId xmlns:a16="http://schemas.microsoft.com/office/drawing/2014/main" id="{D8144FBB-C4F1-BF6F-C6CB-6310378BE68D}"/>
              </a:ext>
            </a:extLst>
          </p:cNvPr>
          <p:cNvSpPr/>
          <p:nvPr/>
        </p:nvSpPr>
        <p:spPr>
          <a:xfrm>
            <a:off x="986028" y="318873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graphite-layer-6">
            <a:extLst>
              <a:ext uri="{FF2B5EF4-FFF2-40B4-BE49-F238E27FC236}">
                <a16:creationId xmlns:a16="http://schemas.microsoft.com/office/drawing/2014/main" id="{B7631583-1801-3474-4982-3240554D60CD}"/>
              </a:ext>
            </a:extLst>
          </p:cNvPr>
          <p:cNvSpPr/>
          <p:nvPr/>
        </p:nvSpPr>
        <p:spPr>
          <a:xfrm>
            <a:off x="986028" y="361545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graphite-layer-7">
            <a:extLst>
              <a:ext uri="{FF2B5EF4-FFF2-40B4-BE49-F238E27FC236}">
                <a16:creationId xmlns:a16="http://schemas.microsoft.com/office/drawing/2014/main" id="{8230C7C0-4336-6E4F-10AF-84C0E1765FF4}"/>
              </a:ext>
            </a:extLst>
          </p:cNvPr>
          <p:cNvSpPr/>
          <p:nvPr/>
        </p:nvSpPr>
        <p:spPr>
          <a:xfrm>
            <a:off x="986028" y="404217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graphite-layer-8">
            <a:extLst>
              <a:ext uri="{FF2B5EF4-FFF2-40B4-BE49-F238E27FC236}">
                <a16:creationId xmlns:a16="http://schemas.microsoft.com/office/drawing/2014/main" id="{1865B4F6-0951-45E1-8F25-15E40A6D62D8}"/>
              </a:ext>
            </a:extLst>
          </p:cNvPr>
          <p:cNvSpPr/>
          <p:nvPr/>
        </p:nvSpPr>
        <p:spPr>
          <a:xfrm>
            <a:off x="986028" y="4468892"/>
            <a:ext cx="1042416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electrolyte-9">
            <a:extLst>
              <a:ext uri="{FF2B5EF4-FFF2-40B4-BE49-F238E27FC236}">
                <a16:creationId xmlns:a16="http://schemas.microsoft.com/office/drawing/2014/main" id="{4D737ACA-E37F-3A10-9B91-66745EC19C55}"/>
              </a:ext>
            </a:extLst>
          </p:cNvPr>
          <p:cNvSpPr/>
          <p:nvPr/>
        </p:nvSpPr>
        <p:spPr>
          <a:xfrm>
            <a:off x="2101596" y="2335292"/>
            <a:ext cx="1965960" cy="25603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eparator-10">
            <a:extLst>
              <a:ext uri="{FF2B5EF4-FFF2-40B4-BE49-F238E27FC236}">
                <a16:creationId xmlns:a16="http://schemas.microsoft.com/office/drawing/2014/main" id="{B976AAC7-9206-FC63-7ED1-52BD82947FA6}"/>
              </a:ext>
            </a:extLst>
          </p:cNvPr>
          <p:cNvSpPr/>
          <p:nvPr/>
        </p:nvSpPr>
        <p:spPr>
          <a:xfrm>
            <a:off x="2997708" y="2335292"/>
            <a:ext cx="164592" cy="2560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thode-11">
            <a:extLst>
              <a:ext uri="{FF2B5EF4-FFF2-40B4-BE49-F238E27FC236}">
                <a16:creationId xmlns:a16="http://schemas.microsoft.com/office/drawing/2014/main" id="{A47D9CAE-6682-C828-DA41-6334C182EF51}"/>
              </a:ext>
            </a:extLst>
          </p:cNvPr>
          <p:cNvSpPr/>
          <p:nvPr/>
        </p:nvSpPr>
        <p:spPr>
          <a:xfrm>
            <a:off x="4067556" y="2335292"/>
            <a:ext cx="1188720" cy="2560320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aluminium-foil-12">
            <a:extLst>
              <a:ext uri="{FF2B5EF4-FFF2-40B4-BE49-F238E27FC236}">
                <a16:creationId xmlns:a16="http://schemas.microsoft.com/office/drawing/2014/main" id="{B3291C78-9E66-2FB2-059F-5A6D3149678C}"/>
              </a:ext>
            </a:extLst>
          </p:cNvPr>
          <p:cNvSpPr/>
          <p:nvPr/>
        </p:nvSpPr>
        <p:spPr>
          <a:xfrm>
            <a:off x="5256276" y="2335292"/>
            <a:ext cx="109728" cy="25603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neg-tab-13">
            <a:extLst>
              <a:ext uri="{FF2B5EF4-FFF2-40B4-BE49-F238E27FC236}">
                <a16:creationId xmlns:a16="http://schemas.microsoft.com/office/drawing/2014/main" id="{8551EDC1-7D2B-D48C-4194-74CCB4BAD840}"/>
              </a:ext>
            </a:extLst>
          </p:cNvPr>
          <p:cNvSpPr/>
          <p:nvPr/>
        </p:nvSpPr>
        <p:spPr>
          <a:xfrm>
            <a:off x="803148" y="1786652"/>
            <a:ext cx="109728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pos-tab-14">
            <a:extLst>
              <a:ext uri="{FF2B5EF4-FFF2-40B4-BE49-F238E27FC236}">
                <a16:creationId xmlns:a16="http://schemas.microsoft.com/office/drawing/2014/main" id="{5C4E826A-FBD2-F0AF-8160-62D49746F5A6}"/>
              </a:ext>
            </a:extLst>
          </p:cNvPr>
          <p:cNvSpPr/>
          <p:nvPr/>
        </p:nvSpPr>
        <p:spPr>
          <a:xfrm>
            <a:off x="5256276" y="1786652"/>
            <a:ext cx="109728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-15">
            <a:extLst>
              <a:ext uri="{FF2B5EF4-FFF2-40B4-BE49-F238E27FC236}">
                <a16:creationId xmlns:a16="http://schemas.microsoft.com/office/drawing/2014/main" id="{D0361244-2961-A7F4-CC55-FEF82E4A2B2E}"/>
              </a:ext>
            </a:extLst>
          </p:cNvPr>
          <p:cNvSpPr txBox="1"/>
          <p:nvPr/>
        </p:nvSpPr>
        <p:spPr>
          <a:xfrm>
            <a:off x="391668" y="1695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−</a:t>
            </a:r>
            <a:endParaRPr lang="en-US" sz="2200" dirty="0"/>
          </a:p>
        </p:txBody>
      </p:sp>
      <p:sp>
        <p:nvSpPr>
          <p:cNvPr id="33" name="text-16">
            <a:extLst>
              <a:ext uri="{FF2B5EF4-FFF2-40B4-BE49-F238E27FC236}">
                <a16:creationId xmlns:a16="http://schemas.microsoft.com/office/drawing/2014/main" id="{DC892FA3-52BF-E1C8-D3F6-07B43EC5102C}"/>
              </a:ext>
            </a:extLst>
          </p:cNvPr>
          <p:cNvSpPr txBox="1"/>
          <p:nvPr/>
        </p:nvSpPr>
        <p:spPr>
          <a:xfrm>
            <a:off x="5420868" y="1695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35" name="line-17">
            <a:extLst>
              <a:ext uri="{FF2B5EF4-FFF2-40B4-BE49-F238E27FC236}">
                <a16:creationId xmlns:a16="http://schemas.microsoft.com/office/drawing/2014/main" id="{4E6C6F16-A578-3F87-04C1-86F114471F2D}"/>
              </a:ext>
            </a:extLst>
          </p:cNvPr>
          <p:cNvSpPr/>
          <p:nvPr/>
        </p:nvSpPr>
        <p:spPr>
          <a:xfrm flipV="1">
            <a:off x="858012" y="1512332"/>
            <a:ext cx="0" cy="27432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line-18">
            <a:extLst>
              <a:ext uri="{FF2B5EF4-FFF2-40B4-BE49-F238E27FC236}">
                <a16:creationId xmlns:a16="http://schemas.microsoft.com/office/drawing/2014/main" id="{11D09CA8-794B-6163-72CC-4B6558BE95F1}"/>
              </a:ext>
            </a:extLst>
          </p:cNvPr>
          <p:cNvSpPr/>
          <p:nvPr/>
        </p:nvSpPr>
        <p:spPr>
          <a:xfrm>
            <a:off x="858012" y="1512332"/>
            <a:ext cx="1947672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motor-19">
            <a:extLst>
              <a:ext uri="{FF2B5EF4-FFF2-40B4-BE49-F238E27FC236}">
                <a16:creationId xmlns:a16="http://schemas.microsoft.com/office/drawing/2014/main" id="{F1995C1B-3ACF-6BDB-C755-7CB8B101519C}"/>
              </a:ext>
            </a:extLst>
          </p:cNvPr>
          <p:cNvSpPr/>
          <p:nvPr/>
        </p:nvSpPr>
        <p:spPr>
          <a:xfrm>
            <a:off x="2805684" y="1238012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-20">
            <a:extLst>
              <a:ext uri="{FF2B5EF4-FFF2-40B4-BE49-F238E27FC236}">
                <a16:creationId xmlns:a16="http://schemas.microsoft.com/office/drawing/2014/main" id="{BA8A41DF-7B49-5693-9742-C81D9F113E38}"/>
              </a:ext>
            </a:extLst>
          </p:cNvPr>
          <p:cNvSpPr txBox="1"/>
          <p:nvPr/>
        </p:nvSpPr>
        <p:spPr>
          <a:xfrm>
            <a:off x="2805684" y="12380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</a:t>
            </a:r>
            <a:endParaRPr lang="en-US" sz="1600" dirty="0"/>
          </a:p>
        </p:txBody>
      </p:sp>
      <p:sp>
        <p:nvSpPr>
          <p:cNvPr id="43" name="line-21">
            <a:extLst>
              <a:ext uri="{FF2B5EF4-FFF2-40B4-BE49-F238E27FC236}">
                <a16:creationId xmlns:a16="http://schemas.microsoft.com/office/drawing/2014/main" id="{90840198-FECA-FFD4-2BA3-7BC8D1A09E4F}"/>
              </a:ext>
            </a:extLst>
          </p:cNvPr>
          <p:cNvSpPr/>
          <p:nvPr/>
        </p:nvSpPr>
        <p:spPr>
          <a:xfrm>
            <a:off x="3354324" y="1512332"/>
            <a:ext cx="1956816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line-22">
            <a:extLst>
              <a:ext uri="{FF2B5EF4-FFF2-40B4-BE49-F238E27FC236}">
                <a16:creationId xmlns:a16="http://schemas.microsoft.com/office/drawing/2014/main" id="{C8EE401C-25DB-FDB7-93EA-C31720DB21E0}"/>
              </a:ext>
            </a:extLst>
          </p:cNvPr>
          <p:cNvSpPr/>
          <p:nvPr/>
        </p:nvSpPr>
        <p:spPr>
          <a:xfrm>
            <a:off x="5311140" y="1512332"/>
            <a:ext cx="0" cy="27432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-23">
            <a:extLst>
              <a:ext uri="{FF2B5EF4-FFF2-40B4-BE49-F238E27FC236}">
                <a16:creationId xmlns:a16="http://schemas.microsoft.com/office/drawing/2014/main" id="{954FE209-BA01-1CFC-4C69-07FE876AA8A3}"/>
              </a:ext>
            </a:extLst>
          </p:cNvPr>
          <p:cNvSpPr txBox="1"/>
          <p:nvPr/>
        </p:nvSpPr>
        <p:spPr>
          <a:xfrm>
            <a:off x="1077468" y="11740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Electrons (e⁻)</a:t>
            </a:r>
            <a:endParaRPr lang="en-US" sz="1200" dirty="0"/>
          </a:p>
        </p:txBody>
      </p:sp>
      <p:sp>
        <p:nvSpPr>
          <p:cNvPr id="49" name="text-24">
            <a:extLst>
              <a:ext uri="{FF2B5EF4-FFF2-40B4-BE49-F238E27FC236}">
                <a16:creationId xmlns:a16="http://schemas.microsoft.com/office/drawing/2014/main" id="{C5392547-E06C-267E-A914-D84AABF43463}"/>
              </a:ext>
            </a:extLst>
          </p:cNvPr>
          <p:cNvSpPr txBox="1"/>
          <p:nvPr/>
        </p:nvSpPr>
        <p:spPr>
          <a:xfrm>
            <a:off x="3454908" y="11740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Motor</a:t>
            </a:r>
            <a:endParaRPr lang="en-US" sz="1200" dirty="0"/>
          </a:p>
        </p:txBody>
      </p:sp>
      <p:sp>
        <p:nvSpPr>
          <p:cNvPr id="51" name="li-ion-25">
            <a:extLst>
              <a:ext uri="{FF2B5EF4-FFF2-40B4-BE49-F238E27FC236}">
                <a16:creationId xmlns:a16="http://schemas.microsoft.com/office/drawing/2014/main" id="{BEA76F1C-2A32-5C51-F7C2-29F5A5FD7157}"/>
              </a:ext>
            </a:extLst>
          </p:cNvPr>
          <p:cNvSpPr/>
          <p:nvPr/>
        </p:nvSpPr>
        <p:spPr>
          <a:xfrm>
            <a:off x="2174748" y="251817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-26">
            <a:extLst>
              <a:ext uri="{FF2B5EF4-FFF2-40B4-BE49-F238E27FC236}">
                <a16:creationId xmlns:a16="http://schemas.microsoft.com/office/drawing/2014/main" id="{26114F7C-7B82-2BDC-A264-654B8934B528}"/>
              </a:ext>
            </a:extLst>
          </p:cNvPr>
          <p:cNvSpPr txBox="1"/>
          <p:nvPr/>
        </p:nvSpPr>
        <p:spPr>
          <a:xfrm>
            <a:off x="2174748" y="2518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55" name="ion-path-27">
            <a:extLst>
              <a:ext uri="{FF2B5EF4-FFF2-40B4-BE49-F238E27FC236}">
                <a16:creationId xmlns:a16="http://schemas.microsoft.com/office/drawing/2014/main" id="{CEA78B50-BAF2-0F43-11FF-F4C8814B1F41}"/>
              </a:ext>
            </a:extLst>
          </p:cNvPr>
          <p:cNvSpPr/>
          <p:nvPr/>
        </p:nvSpPr>
        <p:spPr>
          <a:xfrm>
            <a:off x="2604516" y="270105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li-ion-28">
            <a:extLst>
              <a:ext uri="{FF2B5EF4-FFF2-40B4-BE49-F238E27FC236}">
                <a16:creationId xmlns:a16="http://schemas.microsoft.com/office/drawing/2014/main" id="{0BDE8D10-AA68-EA3D-C78A-B2798F1C47DC}"/>
              </a:ext>
            </a:extLst>
          </p:cNvPr>
          <p:cNvSpPr/>
          <p:nvPr/>
        </p:nvSpPr>
        <p:spPr>
          <a:xfrm>
            <a:off x="2174748" y="31125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-29">
            <a:extLst>
              <a:ext uri="{FF2B5EF4-FFF2-40B4-BE49-F238E27FC236}">
                <a16:creationId xmlns:a16="http://schemas.microsoft.com/office/drawing/2014/main" id="{1F060143-3DDE-4CC5-8E37-566CCC95C955}"/>
              </a:ext>
            </a:extLst>
          </p:cNvPr>
          <p:cNvSpPr txBox="1"/>
          <p:nvPr/>
        </p:nvSpPr>
        <p:spPr>
          <a:xfrm>
            <a:off x="2174748" y="3112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61" name="ion-path-30">
            <a:extLst>
              <a:ext uri="{FF2B5EF4-FFF2-40B4-BE49-F238E27FC236}">
                <a16:creationId xmlns:a16="http://schemas.microsoft.com/office/drawing/2014/main" id="{92A54629-1ED3-7FFE-56AB-89E69FC70E87}"/>
              </a:ext>
            </a:extLst>
          </p:cNvPr>
          <p:cNvSpPr/>
          <p:nvPr/>
        </p:nvSpPr>
        <p:spPr>
          <a:xfrm>
            <a:off x="2604516" y="329541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3" name="li-ion-31">
            <a:extLst>
              <a:ext uri="{FF2B5EF4-FFF2-40B4-BE49-F238E27FC236}">
                <a16:creationId xmlns:a16="http://schemas.microsoft.com/office/drawing/2014/main" id="{8349846E-E892-2ADD-B86B-FE8BA521A215}"/>
              </a:ext>
            </a:extLst>
          </p:cNvPr>
          <p:cNvSpPr/>
          <p:nvPr/>
        </p:nvSpPr>
        <p:spPr>
          <a:xfrm>
            <a:off x="2174748" y="37068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-32">
            <a:extLst>
              <a:ext uri="{FF2B5EF4-FFF2-40B4-BE49-F238E27FC236}">
                <a16:creationId xmlns:a16="http://schemas.microsoft.com/office/drawing/2014/main" id="{42F48EF1-F69E-1EAB-A0A9-651858250107}"/>
              </a:ext>
            </a:extLst>
          </p:cNvPr>
          <p:cNvSpPr txBox="1"/>
          <p:nvPr/>
        </p:nvSpPr>
        <p:spPr>
          <a:xfrm>
            <a:off x="2174748" y="370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Li⁺</a:t>
            </a:r>
            <a:endParaRPr lang="en-US" sz="1100" dirty="0"/>
          </a:p>
        </p:txBody>
      </p:sp>
      <p:sp>
        <p:nvSpPr>
          <p:cNvPr id="67" name="ion-path-33">
            <a:extLst>
              <a:ext uri="{FF2B5EF4-FFF2-40B4-BE49-F238E27FC236}">
                <a16:creationId xmlns:a16="http://schemas.microsoft.com/office/drawing/2014/main" id="{48113EF7-A515-71F9-40AA-EE4E0856B113}"/>
              </a:ext>
            </a:extLst>
          </p:cNvPr>
          <p:cNvSpPr/>
          <p:nvPr/>
        </p:nvSpPr>
        <p:spPr>
          <a:xfrm>
            <a:off x="2604516" y="3889772"/>
            <a:ext cx="1399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-34">
            <a:extLst>
              <a:ext uri="{FF2B5EF4-FFF2-40B4-BE49-F238E27FC236}">
                <a16:creationId xmlns:a16="http://schemas.microsoft.com/office/drawing/2014/main" id="{7E35EFA7-B798-7B04-BFE3-69C409610738}"/>
              </a:ext>
            </a:extLst>
          </p:cNvPr>
          <p:cNvSpPr txBox="1"/>
          <p:nvPr/>
        </p:nvSpPr>
        <p:spPr>
          <a:xfrm>
            <a:off x="2147316" y="44384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Electrolyte</a:t>
            </a:r>
            <a:endParaRPr lang="en-US" sz="1100" dirty="0"/>
          </a:p>
        </p:txBody>
      </p:sp>
      <p:sp>
        <p:nvSpPr>
          <p:cNvPr id="71" name="text-35">
            <a:extLst>
              <a:ext uri="{FF2B5EF4-FFF2-40B4-BE49-F238E27FC236}">
                <a16:creationId xmlns:a16="http://schemas.microsoft.com/office/drawing/2014/main" id="{47CE1969-58AD-7974-A71B-CB2946C0824E}"/>
              </a:ext>
            </a:extLst>
          </p:cNvPr>
          <p:cNvSpPr txBox="1"/>
          <p:nvPr/>
        </p:nvSpPr>
        <p:spPr>
          <a:xfrm>
            <a:off x="6202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Anode (−)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graphite on copper foil</a:t>
            </a:r>
            <a:endParaRPr lang="en-US" sz="1400" dirty="0"/>
          </a:p>
        </p:txBody>
      </p:sp>
      <p:sp>
        <p:nvSpPr>
          <p:cNvPr id="73" name="text-36">
            <a:extLst>
              <a:ext uri="{FF2B5EF4-FFF2-40B4-BE49-F238E27FC236}">
                <a16:creationId xmlns:a16="http://schemas.microsoft.com/office/drawing/2014/main" id="{053C6FDA-BF2E-B2F0-6AA6-FC0EFA163089}"/>
              </a:ext>
            </a:extLst>
          </p:cNvPr>
          <p:cNvSpPr txBox="1"/>
          <p:nvPr/>
        </p:nvSpPr>
        <p:spPr>
          <a:xfrm>
            <a:off x="22204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Separator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porous film, blocks e⁻</a:t>
            </a:r>
            <a:endParaRPr lang="en-US" sz="1400" dirty="0"/>
          </a:p>
        </p:txBody>
      </p:sp>
      <p:sp>
        <p:nvSpPr>
          <p:cNvPr id="75" name="text-37">
            <a:extLst>
              <a:ext uri="{FF2B5EF4-FFF2-40B4-BE49-F238E27FC236}">
                <a16:creationId xmlns:a16="http://schemas.microsoft.com/office/drawing/2014/main" id="{E7293891-576E-FEA3-4F93-C738765A37CA}"/>
              </a:ext>
            </a:extLst>
          </p:cNvPr>
          <p:cNvSpPr txBox="1"/>
          <p:nvPr/>
        </p:nvSpPr>
        <p:spPr>
          <a:xfrm>
            <a:off x="3820668" y="51699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Cathode (+)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LFP on aluminium foil</a:t>
            </a:r>
            <a:endParaRPr lang="en-US" sz="1400" dirty="0"/>
          </a:p>
        </p:txBody>
      </p:sp>
      <p:sp>
        <p:nvSpPr>
          <p:cNvPr id="77" name="text-38">
            <a:extLst>
              <a:ext uri="{FF2B5EF4-FFF2-40B4-BE49-F238E27FC236}">
                <a16:creationId xmlns:a16="http://schemas.microsoft.com/office/drawing/2014/main" id="{FB3BC22A-BD80-ECDA-CF76-9C2FA7919B76}"/>
              </a:ext>
            </a:extLst>
          </p:cNvPr>
          <p:cNvSpPr txBox="1"/>
          <p:nvPr/>
        </p:nvSpPr>
        <p:spPr>
          <a:xfrm>
            <a:off x="483108" y="57825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/>
              </a:rPr>
              <a:t>Discharge: electrons travel round the wire and turn the motor; Li⁺ ions cross the electrolyte. Charging reverses both process.</a:t>
            </a:r>
            <a:endParaRPr lang="en-US" sz="1600" b="1" dirty="0">
              <a:latin typeface="+mj-lt"/>
            </a:endParaRPr>
          </a:p>
        </p:txBody>
      </p:sp>
      <p:sp>
        <p:nvSpPr>
          <p:cNvPr id="79" name="inlet-39">
            <a:extLst>
              <a:ext uri="{FF2B5EF4-FFF2-40B4-BE49-F238E27FC236}">
                <a16:creationId xmlns:a16="http://schemas.microsoft.com/office/drawing/2014/main" id="{CC103CD2-6722-4D9C-92FF-CB17CF9E0C09}"/>
              </a:ext>
            </a:extLst>
          </p:cNvPr>
          <p:cNvSpPr/>
          <p:nvPr/>
        </p:nvSpPr>
        <p:spPr>
          <a:xfrm>
            <a:off x="7315200" y="1174004"/>
            <a:ext cx="274320" cy="429768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-40">
            <a:extLst>
              <a:ext uri="{FF2B5EF4-FFF2-40B4-BE49-F238E27FC236}">
                <a16:creationId xmlns:a16="http://schemas.microsoft.com/office/drawing/2014/main" id="{BB21FBB6-6BEF-3237-9CD9-223F03A1B94B}"/>
              </a:ext>
            </a:extLst>
          </p:cNvPr>
          <p:cNvSpPr txBox="1"/>
          <p:nvPr/>
        </p:nvSpPr>
        <p:spPr>
          <a:xfrm>
            <a:off x="7699248" y="1216152"/>
            <a:ext cx="1572768" cy="323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Charger fills the tank</a:t>
            </a:r>
            <a:endParaRPr lang="en-US" sz="1200" dirty="0"/>
          </a:p>
        </p:txBody>
      </p:sp>
      <p:sp>
        <p:nvSpPr>
          <p:cNvPr id="83" name="tank-41">
            <a:extLst>
              <a:ext uri="{FF2B5EF4-FFF2-40B4-BE49-F238E27FC236}">
                <a16:creationId xmlns:a16="http://schemas.microsoft.com/office/drawing/2014/main" id="{5DFB024B-7DE9-8A53-39E0-E6194939F3EC}"/>
              </a:ext>
            </a:extLst>
          </p:cNvPr>
          <p:cNvSpPr/>
          <p:nvPr/>
        </p:nvSpPr>
        <p:spPr>
          <a:xfrm>
            <a:off x="6583680" y="1585484"/>
            <a:ext cx="2103120" cy="3291840"/>
          </a:xfrm>
          <a:prstGeom prst="rect">
            <a:avLst/>
          </a:prstGeom>
          <a:ln w="285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water-42">
            <a:extLst>
              <a:ext uri="{FF2B5EF4-FFF2-40B4-BE49-F238E27FC236}">
                <a16:creationId xmlns:a16="http://schemas.microsoft.com/office/drawing/2014/main" id="{0698EC8A-A08D-5B80-049E-4000E7DCBE8C}"/>
              </a:ext>
            </a:extLst>
          </p:cNvPr>
          <p:cNvSpPr/>
          <p:nvPr/>
        </p:nvSpPr>
        <p:spPr>
          <a:xfrm>
            <a:off x="6611112" y="2362724"/>
            <a:ext cx="2048256" cy="2487168"/>
          </a:xfrm>
          <a:prstGeom prst="rect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-43">
            <a:extLst>
              <a:ext uri="{FF2B5EF4-FFF2-40B4-BE49-F238E27FC236}">
                <a16:creationId xmlns:a16="http://schemas.microsoft.com/office/drawing/2014/main" id="{AC288D61-C3CF-E63B-00E3-CE13B60F51E5}"/>
              </a:ext>
            </a:extLst>
          </p:cNvPr>
          <p:cNvSpPr txBox="1"/>
          <p:nvPr/>
        </p:nvSpPr>
        <p:spPr>
          <a:xfrm>
            <a:off x="6629400" y="31856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Stored water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= ENERGY (kWh)</a:t>
            </a:r>
            <a:endParaRPr lang="en-US" sz="1400" dirty="0"/>
          </a:p>
        </p:txBody>
      </p:sp>
      <p:sp>
        <p:nvSpPr>
          <p:cNvPr id="89" name="height-44">
            <a:extLst>
              <a:ext uri="{FF2B5EF4-FFF2-40B4-BE49-F238E27FC236}">
                <a16:creationId xmlns:a16="http://schemas.microsoft.com/office/drawing/2014/main" id="{F769A445-E6A1-FF1E-685F-7342FD8B04F9}"/>
              </a:ext>
            </a:extLst>
          </p:cNvPr>
          <p:cNvSpPr/>
          <p:nvPr/>
        </p:nvSpPr>
        <p:spPr>
          <a:xfrm>
            <a:off x="8458200" y="2408444"/>
            <a:ext cx="0" cy="24048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-45">
            <a:extLst>
              <a:ext uri="{FF2B5EF4-FFF2-40B4-BE49-F238E27FC236}">
                <a16:creationId xmlns:a16="http://schemas.microsoft.com/office/drawing/2014/main" id="{BFA11EBF-FFB0-02CA-E179-F81049E1386B}"/>
              </a:ext>
            </a:extLst>
          </p:cNvPr>
          <p:cNvSpPr txBox="1"/>
          <p:nvPr/>
        </p:nvSpPr>
        <p:spPr>
          <a:xfrm>
            <a:off x="8869680" y="20884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Water height = VOLTAGE (V)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 taller column pushes harder</a:t>
            </a:r>
            <a:endParaRPr lang="en-US" sz="1400" dirty="0"/>
          </a:p>
        </p:txBody>
      </p:sp>
      <p:sp>
        <p:nvSpPr>
          <p:cNvPr id="93" name="pipe-46">
            <a:extLst>
              <a:ext uri="{FF2B5EF4-FFF2-40B4-BE49-F238E27FC236}">
                <a16:creationId xmlns:a16="http://schemas.microsoft.com/office/drawing/2014/main" id="{4977872B-DCBA-9ECD-1885-1FC16F8DB01A}"/>
              </a:ext>
            </a:extLst>
          </p:cNvPr>
          <p:cNvSpPr/>
          <p:nvPr/>
        </p:nvSpPr>
        <p:spPr>
          <a:xfrm>
            <a:off x="8686800" y="4420124"/>
            <a:ext cx="2103120" cy="292608"/>
          </a:xfrm>
          <a:prstGeom prst="rect">
            <a:avLst/>
          </a:prstGeom>
          <a:solidFill>
            <a:schemeClr val="accent1">
              <a:alpha val="45000"/>
            </a:schemeClr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ap-47">
            <a:extLst>
              <a:ext uri="{FF2B5EF4-FFF2-40B4-BE49-F238E27FC236}">
                <a16:creationId xmlns:a16="http://schemas.microsoft.com/office/drawing/2014/main" id="{29A99325-CB82-019B-AF36-D4AE003FA853}"/>
              </a:ext>
            </a:extLst>
          </p:cNvPr>
          <p:cNvSpPr/>
          <p:nvPr/>
        </p:nvSpPr>
        <p:spPr>
          <a:xfrm>
            <a:off x="9144000" y="4246388"/>
            <a:ext cx="201168" cy="64008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-48">
            <a:extLst>
              <a:ext uri="{FF2B5EF4-FFF2-40B4-BE49-F238E27FC236}">
                <a16:creationId xmlns:a16="http://schemas.microsoft.com/office/drawing/2014/main" id="{93BA3021-87D8-936B-FAC2-CC36E5657FDD}"/>
              </a:ext>
            </a:extLst>
          </p:cNvPr>
          <p:cNvSpPr txBox="1"/>
          <p:nvPr/>
        </p:nvSpPr>
        <p:spPr>
          <a:xfrm>
            <a:off x="8686800" y="36428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Tap = BMS</a:t>
            </a:r>
          </a:p>
          <a:p>
            <a:pPr marL="0" indent="0" algn="ctr">
              <a:buNone/>
            </a:pPr>
            <a:r>
              <a:rPr lang="en-US" sz="1100" b="1" dirty="0"/>
              <a:t>power limit</a:t>
            </a:r>
          </a:p>
        </p:txBody>
      </p:sp>
      <p:sp>
        <p:nvSpPr>
          <p:cNvPr id="99" name="flow-49">
            <a:extLst>
              <a:ext uri="{FF2B5EF4-FFF2-40B4-BE49-F238E27FC236}">
                <a16:creationId xmlns:a16="http://schemas.microsoft.com/office/drawing/2014/main" id="{0701EB5A-4820-B9BF-B668-8327DBA32CDF}"/>
              </a:ext>
            </a:extLst>
          </p:cNvPr>
          <p:cNvSpPr/>
          <p:nvPr/>
        </p:nvSpPr>
        <p:spPr>
          <a:xfrm>
            <a:off x="9555480" y="4566428"/>
            <a:ext cx="73152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1" name="wheel-50">
            <a:extLst>
              <a:ext uri="{FF2B5EF4-FFF2-40B4-BE49-F238E27FC236}">
                <a16:creationId xmlns:a16="http://schemas.microsoft.com/office/drawing/2014/main" id="{62736FEA-29DB-8029-1EAA-C65BF8B6A8EA}"/>
              </a:ext>
            </a:extLst>
          </p:cNvPr>
          <p:cNvSpPr/>
          <p:nvPr/>
        </p:nvSpPr>
        <p:spPr>
          <a:xfrm>
            <a:off x="10789920" y="4127516"/>
            <a:ext cx="868680" cy="8686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-51">
            <a:extLst>
              <a:ext uri="{FF2B5EF4-FFF2-40B4-BE49-F238E27FC236}">
                <a16:creationId xmlns:a16="http://schemas.microsoft.com/office/drawing/2014/main" id="{03CBBB2B-B1EA-5B75-6147-548CB4213B84}"/>
              </a:ext>
            </a:extLst>
          </p:cNvPr>
          <p:cNvSpPr txBox="1"/>
          <p:nvPr/>
        </p:nvSpPr>
        <p:spPr>
          <a:xfrm>
            <a:off x="10789920" y="41275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Motor</a:t>
            </a:r>
            <a:endParaRPr lang="en-US" sz="1200" dirty="0"/>
          </a:p>
        </p:txBody>
      </p:sp>
      <p:sp>
        <p:nvSpPr>
          <p:cNvPr id="105" name="text-52">
            <a:extLst>
              <a:ext uri="{FF2B5EF4-FFF2-40B4-BE49-F238E27FC236}">
                <a16:creationId xmlns:a16="http://schemas.microsoft.com/office/drawing/2014/main" id="{F030AED2-3D0E-2B1D-EF25-F4BE47F18B66}"/>
              </a:ext>
            </a:extLst>
          </p:cNvPr>
          <p:cNvSpPr txBox="1"/>
          <p:nvPr/>
        </p:nvSpPr>
        <p:spPr>
          <a:xfrm>
            <a:off x="7748017" y="2413016"/>
            <a:ext cx="44439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Height × flow= POWER (kW</a:t>
            </a:r>
            <a:r>
              <a:rPr lang="en-US" sz="1600" b="1" dirty="0"/>
              <a:t>)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   More height or </a:t>
            </a:r>
            <a:r>
              <a:rPr lang="en-US" sz="1100" dirty="0" err="1">
                <a:solidFill>
                  <a:schemeClr val="tx2"/>
                </a:solidFill>
              </a:rPr>
              <a:t>dia</a:t>
            </a:r>
            <a:r>
              <a:rPr lang="en-US" sz="1100" dirty="0">
                <a:solidFill>
                  <a:schemeClr val="tx2"/>
                </a:solidFill>
              </a:rPr>
              <a:t> of pipe ,more power</a:t>
            </a:r>
          </a:p>
        </p:txBody>
      </p:sp>
      <p:sp>
        <p:nvSpPr>
          <p:cNvPr id="107" name="text-53">
            <a:extLst>
              <a:ext uri="{FF2B5EF4-FFF2-40B4-BE49-F238E27FC236}">
                <a16:creationId xmlns:a16="http://schemas.microsoft.com/office/drawing/2014/main" id="{B6488C01-3CDE-7166-35A9-96088CC26441}"/>
              </a:ext>
            </a:extLst>
          </p:cNvPr>
          <p:cNvSpPr txBox="1"/>
          <p:nvPr/>
        </p:nvSpPr>
        <p:spPr>
          <a:xfrm>
            <a:off x="9098280" y="49687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Flow = CURRENT (A)</a:t>
            </a:r>
            <a:endParaRPr lang="en-US" sz="1300" dirty="0"/>
          </a:p>
        </p:txBody>
      </p:sp>
      <p:sp>
        <p:nvSpPr>
          <p:cNvPr id="109" name="scale-54">
            <a:extLst>
              <a:ext uri="{FF2B5EF4-FFF2-40B4-BE49-F238E27FC236}">
                <a16:creationId xmlns:a16="http://schemas.microsoft.com/office/drawing/2014/main" id="{AF91050E-DBCB-0120-A989-22FF8BBAF2E6}"/>
              </a:ext>
            </a:extLst>
          </p:cNvPr>
          <p:cNvSpPr/>
          <p:nvPr/>
        </p:nvSpPr>
        <p:spPr>
          <a:xfrm>
            <a:off x="6400800" y="4968764"/>
            <a:ext cx="2468880" cy="914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-55">
            <a:extLst>
              <a:ext uri="{FF2B5EF4-FFF2-40B4-BE49-F238E27FC236}">
                <a16:creationId xmlns:a16="http://schemas.microsoft.com/office/drawing/2014/main" id="{760CC156-EB14-673F-0325-EE47FBEF1C9D}"/>
              </a:ext>
            </a:extLst>
          </p:cNvPr>
          <p:cNvSpPr txBox="1"/>
          <p:nvPr/>
        </p:nvSpPr>
        <p:spPr>
          <a:xfrm>
            <a:off x="6309360" y="51242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Wh/kg = water held ÷ tank weight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LFP cells ≈ 175 · NMC cells ≈ 260 Wh/kg</a:t>
            </a:r>
            <a:endParaRPr lang="en-US" sz="1200" dirty="0"/>
          </a:p>
        </p:txBody>
      </p:sp>
      <p:sp>
        <p:nvSpPr>
          <p:cNvPr id="113" name="text-56">
            <a:extLst>
              <a:ext uri="{FF2B5EF4-FFF2-40B4-BE49-F238E27FC236}">
                <a16:creationId xmlns:a16="http://schemas.microsoft.com/office/drawing/2014/main" id="{93BAA29D-A430-3171-1D15-AC4B5190E581}"/>
              </a:ext>
            </a:extLst>
          </p:cNvPr>
          <p:cNvSpPr txBox="1"/>
          <p:nvPr/>
        </p:nvSpPr>
        <p:spPr>
          <a:xfrm>
            <a:off x="6309360" y="57642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/>
              </a:rPr>
              <a:t>Bigger tank = more range (kWh). Wider pipe = more power (kW). Same water in a lighter tank = higher Wh/kg. Time to empty = kWh ÷ kW.</a:t>
            </a:r>
            <a:endParaRPr lang="en-US" sz="1600" b="1" dirty="0">
              <a:latin typeface="+mj-lt"/>
            </a:endParaRP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CF107013-6585-7E9B-91DD-A66977620611}"/>
              </a:ext>
            </a:extLst>
          </p:cNvPr>
          <p:cNvSpPr txBox="1">
            <a:spLocks/>
          </p:cNvSpPr>
          <p:nvPr/>
        </p:nvSpPr>
        <p:spPr>
          <a:xfrm>
            <a:off x="0" y="109728"/>
            <a:ext cx="6693408" cy="5029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Basics of Electrochemistry &amp; Cell Working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9755364-42E8-2B64-1A3C-472E0902A735}"/>
              </a:ext>
            </a:extLst>
          </p:cNvPr>
          <p:cNvSpPr txBox="1"/>
          <p:nvPr/>
        </p:nvSpPr>
        <p:spPr>
          <a:xfrm>
            <a:off x="8796528" y="2951059"/>
            <a:ext cx="3273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Water Volume = Charge capacity (Ah)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6BEC50B-7865-134F-1D17-BC6A990092D3}"/>
              </a:ext>
            </a:extLst>
          </p:cNvPr>
          <p:cNvSpPr txBox="1"/>
          <p:nvPr/>
        </p:nvSpPr>
        <p:spPr>
          <a:xfrm>
            <a:off x="7978140" y="590788"/>
            <a:ext cx="3739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Hydraulic Analogy for EV cell</a:t>
            </a:r>
          </a:p>
        </p:txBody>
      </p:sp>
    </p:spTree>
    <p:extLst>
      <p:ext uri="{BB962C8B-B14F-4D97-AF65-F5344CB8AC3E}">
        <p14:creationId xmlns:p14="http://schemas.microsoft.com/office/powerpoint/2010/main" val="207903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568EE2-E6CB-8F3B-5941-4D7FF0489E4E}"/>
              </a:ext>
            </a:extLst>
          </p:cNvPr>
          <p:cNvSpPr txBox="1"/>
          <p:nvPr/>
        </p:nvSpPr>
        <p:spPr>
          <a:xfrm>
            <a:off x="128016" y="136741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3.a Battery: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Five generations of the electric-vehicle battery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2E738-4A7E-3799-BCC5-B54F08020C2E}"/>
              </a:ext>
            </a:extLst>
          </p:cNvPr>
          <p:cNvSpPr/>
          <p:nvPr/>
        </p:nvSpPr>
        <p:spPr>
          <a:xfrm>
            <a:off x="448056" y="3699163"/>
            <a:ext cx="11064240" cy="15875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128E6-CCE9-CACA-46DB-469A378056CF}"/>
              </a:ext>
            </a:extLst>
          </p:cNvPr>
          <p:cNvSpPr txBox="1"/>
          <p:nvPr/>
        </p:nvSpPr>
        <p:spPr>
          <a:xfrm>
            <a:off x="539496" y="919387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GEN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EC6F7-0E77-86DC-DD6A-272A7ACFE905}"/>
              </a:ext>
            </a:extLst>
          </p:cNvPr>
          <p:cNvSpPr txBox="1"/>
          <p:nvPr/>
        </p:nvSpPr>
        <p:spPr>
          <a:xfrm>
            <a:off x="539496" y="1266859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1900s – 2000s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45E57-A421-6D01-9F93-0B574F30F7E6}"/>
              </a:ext>
            </a:extLst>
          </p:cNvPr>
          <p:cNvSpPr txBox="1"/>
          <p:nvPr/>
        </p:nvSpPr>
        <p:spPr>
          <a:xfrm>
            <a:off x="539496" y="1504603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Lead–acid · NiMH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26008-3F8D-9CAE-1D09-3E15C6C01F0A}"/>
              </a:ext>
            </a:extLst>
          </p:cNvPr>
          <p:cNvSpPr txBox="1"/>
          <p:nvPr/>
        </p:nvSpPr>
        <p:spPr>
          <a:xfrm>
            <a:off x="456821" y="1750921"/>
            <a:ext cx="2121409" cy="11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Water-based chemistry. Cheap and dependable, but the electrodes are consumed as they work and a single cell tops out near 2 volts.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FC342-F9C8-2CA3-45D7-A9D78A3499C5}"/>
              </a:ext>
            </a:extLst>
          </p:cNvPr>
          <p:cNvSpPr txBox="1"/>
          <p:nvPr/>
        </p:nvSpPr>
        <p:spPr>
          <a:xfrm>
            <a:off x="539496" y="301303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HELD BACK BY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8D83B-97E7-994A-8794-2D798D4B7FA0}"/>
              </a:ext>
            </a:extLst>
          </p:cNvPr>
          <p:cNvSpPr txBox="1"/>
          <p:nvPr/>
        </p:nvSpPr>
        <p:spPr>
          <a:xfrm>
            <a:off x="505968" y="3251619"/>
            <a:ext cx="1920240" cy="385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Weight. A usable range meant a pack no car could carry.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B0A93-D71C-8AC6-DF0F-5D82FF3B02B4}"/>
              </a:ext>
            </a:extLst>
          </p:cNvPr>
          <p:cNvSpPr txBox="1"/>
          <p:nvPr/>
        </p:nvSpPr>
        <p:spPr>
          <a:xfrm>
            <a:off x="602127" y="389525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F5F5F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SPECIFIC ENERGY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A6AC83-29C3-3D3A-CF1C-C63C5FD879A0}"/>
              </a:ext>
            </a:extLst>
          </p:cNvPr>
          <p:cNvSpPr/>
          <p:nvPr/>
        </p:nvSpPr>
        <p:spPr>
          <a:xfrm>
            <a:off x="583838" y="4247803"/>
            <a:ext cx="786384" cy="786384"/>
          </a:xfrm>
          <a:prstGeom prst="ellipse">
            <a:avLst/>
          </a:prstGeom>
          <a:solidFill>
            <a:srgbClr val="DDE6E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Pie 14">
            <a:extLst>
              <a:ext uri="{FF2B5EF4-FFF2-40B4-BE49-F238E27FC236}">
                <a16:creationId xmlns:a16="http://schemas.microsoft.com/office/drawing/2014/main" id="{486F5C79-4B5D-703A-1B93-58719F60FB89}"/>
              </a:ext>
            </a:extLst>
          </p:cNvPr>
          <p:cNvSpPr/>
          <p:nvPr/>
        </p:nvSpPr>
        <p:spPr>
          <a:xfrm>
            <a:off x="583838" y="4247803"/>
            <a:ext cx="786384" cy="786384"/>
          </a:xfrm>
          <a:prstGeom prst="pie">
            <a:avLst>
              <a:gd name="adj1" fmla="val 16200000"/>
              <a:gd name="adj2" fmla="val 1857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B110E-917A-FBAC-6B3F-E1D66626350F}"/>
              </a:ext>
            </a:extLst>
          </p:cNvPr>
          <p:cNvSpPr txBox="1"/>
          <p:nvPr/>
        </p:nvSpPr>
        <p:spPr>
          <a:xfrm>
            <a:off x="1443374" y="4320955"/>
            <a:ext cx="1078992" cy="813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30–80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11% of the 500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 ceiling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EF3E9-5BC6-EE94-DD1E-E59EA0E7AB58}"/>
              </a:ext>
            </a:extLst>
          </p:cNvPr>
          <p:cNvSpPr txBox="1"/>
          <p:nvPr/>
        </p:nvSpPr>
        <p:spPr>
          <a:xfrm>
            <a:off x="294504" y="5410312"/>
            <a:ext cx="2257191" cy="221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GM EV1 · Toyota Prius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2C041-6426-55B9-430C-6712D359D4BF}"/>
              </a:ext>
            </a:extLst>
          </p:cNvPr>
          <p:cNvSpPr/>
          <p:nvPr/>
        </p:nvSpPr>
        <p:spPr>
          <a:xfrm flipH="1">
            <a:off x="2558563" y="919386"/>
            <a:ext cx="56622" cy="4884289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AF137-378B-4DD7-45BA-34B6810A3582}"/>
              </a:ext>
            </a:extLst>
          </p:cNvPr>
          <p:cNvSpPr txBox="1"/>
          <p:nvPr/>
        </p:nvSpPr>
        <p:spPr>
          <a:xfrm>
            <a:off x="2752344" y="919387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b="1" i="0">
                <a:solidFill>
                  <a:srgbClr val="1F4E79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GEN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A39DB-7782-B216-6318-B3CBBEDFCF16}"/>
              </a:ext>
            </a:extLst>
          </p:cNvPr>
          <p:cNvSpPr txBox="1"/>
          <p:nvPr/>
        </p:nvSpPr>
        <p:spPr>
          <a:xfrm>
            <a:off x="2752344" y="1266859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2008 – 2015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Aptos Display" panose="0211000402020202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84F718-6F20-EC10-1499-08A142BC4717}"/>
              </a:ext>
            </a:extLst>
          </p:cNvPr>
          <p:cNvSpPr txBox="1"/>
          <p:nvPr/>
        </p:nvSpPr>
        <p:spPr>
          <a:xfrm>
            <a:off x="2752344" y="1504603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LCO · LMO · NCA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014E49-99C9-2DFD-CC26-435DA7424AEF}"/>
              </a:ext>
            </a:extLst>
          </p:cNvPr>
          <p:cNvSpPr txBox="1"/>
          <p:nvPr/>
        </p:nvSpPr>
        <p:spPr>
          <a:xfrm>
            <a:off x="2752343" y="1824300"/>
            <a:ext cx="2121409" cy="11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Lithium moves through an organic solvent and inserts itself into a host lattice that stays intact. Range becomes a commercial proposition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6E517B-1512-0260-4FF4-2E4B9D03C46F}"/>
              </a:ext>
            </a:extLst>
          </p:cNvPr>
          <p:cNvSpPr txBox="1"/>
          <p:nvPr/>
        </p:nvSpPr>
        <p:spPr>
          <a:xfrm>
            <a:off x="2752344" y="301303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12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HELD BACK BY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462714-6791-9F68-E30B-5E6838F0FEB4}"/>
              </a:ext>
            </a:extLst>
          </p:cNvPr>
          <p:cNvSpPr txBox="1"/>
          <p:nvPr/>
        </p:nvSpPr>
        <p:spPr>
          <a:xfrm>
            <a:off x="2733866" y="3248839"/>
            <a:ext cx="1920240" cy="38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Cost and cobalt. Cells came from consumer electronics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D9304-2390-5A60-F1FE-448A3E8D861E}"/>
              </a:ext>
            </a:extLst>
          </p:cNvPr>
          <p:cNvSpPr txBox="1"/>
          <p:nvPr/>
        </p:nvSpPr>
        <p:spPr>
          <a:xfrm>
            <a:off x="2814975" y="389525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F5F5F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SPECIFIC ENERGY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BC36A0-9E0E-B854-9B1B-54692041D8B8}"/>
              </a:ext>
            </a:extLst>
          </p:cNvPr>
          <p:cNvSpPr/>
          <p:nvPr/>
        </p:nvSpPr>
        <p:spPr>
          <a:xfrm>
            <a:off x="2796686" y="4247803"/>
            <a:ext cx="786384" cy="786384"/>
          </a:xfrm>
          <a:prstGeom prst="ellipse">
            <a:avLst/>
          </a:prstGeom>
          <a:solidFill>
            <a:srgbClr val="DDE6E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Pie 27">
            <a:extLst>
              <a:ext uri="{FF2B5EF4-FFF2-40B4-BE49-F238E27FC236}">
                <a16:creationId xmlns:a16="http://schemas.microsoft.com/office/drawing/2014/main" id="{9C88E37A-7906-C2D5-BCCE-D1C34CFA4C96}"/>
              </a:ext>
            </a:extLst>
          </p:cNvPr>
          <p:cNvSpPr/>
          <p:nvPr/>
        </p:nvSpPr>
        <p:spPr>
          <a:xfrm>
            <a:off x="2796686" y="4247803"/>
            <a:ext cx="786384" cy="786384"/>
          </a:xfrm>
          <a:prstGeom prst="pie">
            <a:avLst>
              <a:gd name="adj1" fmla="val 16200000"/>
              <a:gd name="adj2" fmla="val 237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ADE90F-033A-1394-5E1E-E0EE7E5236C2}"/>
              </a:ext>
            </a:extLst>
          </p:cNvPr>
          <p:cNvSpPr txBox="1"/>
          <p:nvPr/>
        </p:nvSpPr>
        <p:spPr>
          <a:xfrm>
            <a:off x="3656222" y="4320955"/>
            <a:ext cx="1078992" cy="813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100–260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36% of the 500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 ceiling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08B330-D055-EED5-D10B-F04743581DAB}"/>
              </a:ext>
            </a:extLst>
          </p:cNvPr>
          <p:cNvSpPr txBox="1"/>
          <p:nvPr/>
        </p:nvSpPr>
        <p:spPr>
          <a:xfrm>
            <a:off x="2622053" y="5429848"/>
            <a:ext cx="2257191" cy="221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0" i="0"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Tesla Roadster · Nissan Leaf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CF1AE5-347B-E144-2F16-3D155C2DE78A}"/>
              </a:ext>
            </a:extLst>
          </p:cNvPr>
          <p:cNvSpPr/>
          <p:nvPr/>
        </p:nvSpPr>
        <p:spPr>
          <a:xfrm>
            <a:off x="4855274" y="1000293"/>
            <a:ext cx="45719" cy="4773168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633AAE-87D6-A96F-3820-0D59ADCD4429}"/>
              </a:ext>
            </a:extLst>
          </p:cNvPr>
          <p:cNvSpPr txBox="1"/>
          <p:nvPr/>
        </p:nvSpPr>
        <p:spPr>
          <a:xfrm>
            <a:off x="4965192" y="919387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GEN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9076ED-CB11-636F-E9F2-326312B68181}"/>
              </a:ext>
            </a:extLst>
          </p:cNvPr>
          <p:cNvSpPr txBox="1"/>
          <p:nvPr/>
        </p:nvSpPr>
        <p:spPr>
          <a:xfrm>
            <a:off x="4965192" y="1266859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5F5F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2015 – today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A8E299-ECED-94C0-DF05-1E9E89E706F5}"/>
              </a:ext>
            </a:extLst>
          </p:cNvPr>
          <p:cNvSpPr txBox="1"/>
          <p:nvPr/>
        </p:nvSpPr>
        <p:spPr>
          <a:xfrm>
            <a:off x="4965192" y="1504603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NMC · LFP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ptos Display" panose="0211000402020202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6ACD5C-E290-456B-DEBF-59ABEFC6A24B}"/>
              </a:ext>
            </a:extLst>
          </p:cNvPr>
          <p:cNvSpPr txBox="1"/>
          <p:nvPr/>
        </p:nvSpPr>
        <p:spPr>
          <a:xfrm>
            <a:off x="4928995" y="1824300"/>
            <a:ext cx="2121409" cy="11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The market splits in two. Nickel-rich NMC buys range for premium cars; cobalt-free LFP buys safety and low cost for the mass market.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9C003F-6115-57F9-3643-226771E5F7C3}"/>
              </a:ext>
            </a:extLst>
          </p:cNvPr>
          <p:cNvSpPr txBox="1"/>
          <p:nvPr/>
        </p:nvSpPr>
        <p:spPr>
          <a:xfrm>
            <a:off x="4965192" y="301303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HELD BACK BY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66A84-D634-3CD1-2EF5-BB470416A28C}"/>
              </a:ext>
            </a:extLst>
          </p:cNvPr>
          <p:cNvSpPr txBox="1"/>
          <p:nvPr/>
        </p:nvSpPr>
        <p:spPr>
          <a:xfrm>
            <a:off x="4954671" y="3248839"/>
            <a:ext cx="1920240" cy="385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Nickel supply, and a Chinese lock on LFP refining.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4E0D25-BF9C-DE48-EA38-B17B8C255802}"/>
              </a:ext>
            </a:extLst>
          </p:cNvPr>
          <p:cNvSpPr txBox="1"/>
          <p:nvPr/>
        </p:nvSpPr>
        <p:spPr>
          <a:xfrm>
            <a:off x="5027823" y="389525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F5F5F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SPECIFIC ENERGY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F27E539-C0A0-917E-F631-70A92DA059E1}"/>
              </a:ext>
            </a:extLst>
          </p:cNvPr>
          <p:cNvSpPr/>
          <p:nvPr/>
        </p:nvSpPr>
        <p:spPr>
          <a:xfrm>
            <a:off x="5009534" y="4247803"/>
            <a:ext cx="786384" cy="786384"/>
          </a:xfrm>
          <a:prstGeom prst="ellipse">
            <a:avLst/>
          </a:prstGeom>
          <a:solidFill>
            <a:srgbClr val="DDE6E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" name="Pie 40">
            <a:extLst>
              <a:ext uri="{FF2B5EF4-FFF2-40B4-BE49-F238E27FC236}">
                <a16:creationId xmlns:a16="http://schemas.microsoft.com/office/drawing/2014/main" id="{71C8B220-4092-F532-EC95-1B1150064EE8}"/>
              </a:ext>
            </a:extLst>
          </p:cNvPr>
          <p:cNvSpPr/>
          <p:nvPr/>
        </p:nvSpPr>
        <p:spPr>
          <a:xfrm>
            <a:off x="5009534" y="4247803"/>
            <a:ext cx="786384" cy="786384"/>
          </a:xfrm>
          <a:prstGeom prst="pie">
            <a:avLst>
              <a:gd name="adj1" fmla="val 16200000"/>
              <a:gd name="adj2" fmla="val 1943999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FBA5B1-F28E-AE44-8F05-5383D1ABF9EB}"/>
              </a:ext>
            </a:extLst>
          </p:cNvPr>
          <p:cNvSpPr txBox="1"/>
          <p:nvPr/>
        </p:nvSpPr>
        <p:spPr>
          <a:xfrm>
            <a:off x="5869070" y="4320955"/>
            <a:ext cx="1078992" cy="813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90–250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34% of the 500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 ceiling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755455-8A28-6FF4-47B7-8DE456E78AE9}"/>
              </a:ext>
            </a:extLst>
          </p:cNvPr>
          <p:cNvSpPr txBox="1"/>
          <p:nvPr/>
        </p:nvSpPr>
        <p:spPr>
          <a:xfrm>
            <a:off x="5080412" y="5335531"/>
            <a:ext cx="1920240" cy="449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VW ID.4 · BYD Blade · Tata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Curvv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60ED73-9B02-9AE6-CD89-979C245AE5F7}"/>
              </a:ext>
            </a:extLst>
          </p:cNvPr>
          <p:cNvSpPr/>
          <p:nvPr/>
        </p:nvSpPr>
        <p:spPr>
          <a:xfrm>
            <a:off x="7040880" y="919387"/>
            <a:ext cx="45719" cy="4854074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CE58C2-6B60-AFF4-E464-4454EB418F03}"/>
              </a:ext>
            </a:extLst>
          </p:cNvPr>
          <p:cNvSpPr txBox="1"/>
          <p:nvPr/>
        </p:nvSpPr>
        <p:spPr>
          <a:xfrm>
            <a:off x="7178040" y="919387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b="1" i="0">
                <a:solidFill>
                  <a:srgbClr val="1F4E79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GEN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6845CD-0230-F96F-C3EB-3A3BB65174FA}"/>
              </a:ext>
            </a:extLst>
          </p:cNvPr>
          <p:cNvSpPr txBox="1"/>
          <p:nvPr/>
        </p:nvSpPr>
        <p:spPr>
          <a:xfrm>
            <a:off x="7178040" y="1266859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emerging now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CC36B5-1A2F-ED4A-38EC-9B8B38E2D21C}"/>
              </a:ext>
            </a:extLst>
          </p:cNvPr>
          <p:cNvSpPr txBox="1"/>
          <p:nvPr/>
        </p:nvSpPr>
        <p:spPr>
          <a:xfrm>
            <a:off x="7178039" y="1504603"/>
            <a:ext cx="2203321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Sodium-ion · Silicon anode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C0FE4E-5A53-44A2-331C-6FE84F81E36E}"/>
              </a:ext>
            </a:extLst>
          </p:cNvPr>
          <p:cNvSpPr txBox="1"/>
          <p:nvPr/>
        </p:nvSpPr>
        <p:spPr>
          <a:xfrm>
            <a:off x="7114417" y="1824300"/>
            <a:ext cx="2203320" cy="11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Sodium replaces scarce lithium in cheap city cars. Silicon in the anode holds far more lithium than graphite if the swelling can be contained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273F0F-4119-958B-11A2-282B1D381E27}"/>
              </a:ext>
            </a:extLst>
          </p:cNvPr>
          <p:cNvSpPr txBox="1"/>
          <p:nvPr/>
        </p:nvSpPr>
        <p:spPr>
          <a:xfrm>
            <a:off x="7178040" y="301303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HELD BACK BY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42FB61-7335-8FB3-33DE-5DBAFE229076}"/>
              </a:ext>
            </a:extLst>
          </p:cNvPr>
          <p:cNvSpPr txBox="1"/>
          <p:nvPr/>
        </p:nvSpPr>
        <p:spPr>
          <a:xfrm>
            <a:off x="7178040" y="3240940"/>
            <a:ext cx="1920240" cy="385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Silicon expands up to 300% and cracks the anode.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60884B-46DD-4D96-F302-5B297DF91419}"/>
              </a:ext>
            </a:extLst>
          </p:cNvPr>
          <p:cNvSpPr txBox="1"/>
          <p:nvPr/>
        </p:nvSpPr>
        <p:spPr>
          <a:xfrm>
            <a:off x="7240671" y="389525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5F5F5F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SPECIFIC ENERGY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3A84DB9-238D-7526-8470-DAA6526A3C19}"/>
              </a:ext>
            </a:extLst>
          </p:cNvPr>
          <p:cNvSpPr/>
          <p:nvPr/>
        </p:nvSpPr>
        <p:spPr>
          <a:xfrm>
            <a:off x="7222382" y="4247803"/>
            <a:ext cx="786384" cy="786384"/>
          </a:xfrm>
          <a:prstGeom prst="ellipse">
            <a:avLst/>
          </a:prstGeom>
          <a:solidFill>
            <a:srgbClr val="DDE6E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9" name="Pie 53">
            <a:extLst>
              <a:ext uri="{FF2B5EF4-FFF2-40B4-BE49-F238E27FC236}">
                <a16:creationId xmlns:a16="http://schemas.microsoft.com/office/drawing/2014/main" id="{A31C4FA8-4787-E1B4-7477-039DFB9CD932}"/>
              </a:ext>
            </a:extLst>
          </p:cNvPr>
          <p:cNvSpPr/>
          <p:nvPr/>
        </p:nvSpPr>
        <p:spPr>
          <a:xfrm>
            <a:off x="7222382" y="4247803"/>
            <a:ext cx="786384" cy="786384"/>
          </a:xfrm>
          <a:prstGeom prst="pie">
            <a:avLst>
              <a:gd name="adj1" fmla="val 16200000"/>
              <a:gd name="adj2" fmla="val 3671999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E11CE5-8B27-822C-2F7B-5DF0CFB57776}"/>
              </a:ext>
            </a:extLst>
          </p:cNvPr>
          <p:cNvSpPr txBox="1"/>
          <p:nvPr/>
        </p:nvSpPr>
        <p:spPr>
          <a:xfrm>
            <a:off x="8081918" y="4320955"/>
            <a:ext cx="1078992" cy="813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120–300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42% of the 500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 ceiling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94879B-D859-ECB5-B5F9-02C2781D4BC5}"/>
              </a:ext>
            </a:extLst>
          </p:cNvPr>
          <p:cNvSpPr txBox="1"/>
          <p:nvPr/>
        </p:nvSpPr>
        <p:spPr>
          <a:xfrm>
            <a:off x="7285848" y="5327356"/>
            <a:ext cx="1890155" cy="4494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0" i="0"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CATL sodium-ion · silicon-blend packs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FFBCB77-A964-C7C2-9F40-C31BC80E8DF6}"/>
              </a:ext>
            </a:extLst>
          </p:cNvPr>
          <p:cNvSpPr/>
          <p:nvPr/>
        </p:nvSpPr>
        <p:spPr>
          <a:xfrm>
            <a:off x="9253727" y="919387"/>
            <a:ext cx="45719" cy="4854074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9B0093-E94B-03B4-91A9-21D8DE5E7144}"/>
              </a:ext>
            </a:extLst>
          </p:cNvPr>
          <p:cNvSpPr txBox="1"/>
          <p:nvPr/>
        </p:nvSpPr>
        <p:spPr>
          <a:xfrm>
            <a:off x="9390887" y="910632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b="1" i="0">
                <a:solidFill>
                  <a:srgbClr val="1F4E79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GEN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9681C8-F1F7-3E3D-06F2-616C3433E3D8}"/>
              </a:ext>
            </a:extLst>
          </p:cNvPr>
          <p:cNvSpPr txBox="1"/>
          <p:nvPr/>
        </p:nvSpPr>
        <p:spPr>
          <a:xfrm>
            <a:off x="9390887" y="1266859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late 2020s – 2030s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7EA590-8BF3-6450-8A7B-9066CC2519BA}"/>
              </a:ext>
            </a:extLst>
          </p:cNvPr>
          <p:cNvSpPr txBox="1"/>
          <p:nvPr/>
        </p:nvSpPr>
        <p:spPr>
          <a:xfrm>
            <a:off x="9390887" y="1504603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Solid-state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202243-CBC3-2385-E0B5-6A635E421F84}"/>
              </a:ext>
            </a:extLst>
          </p:cNvPr>
          <p:cNvSpPr txBox="1"/>
          <p:nvPr/>
        </p:nvSpPr>
        <p:spPr>
          <a:xfrm>
            <a:off x="9381359" y="1843387"/>
            <a:ext cx="2121409" cy="1167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The liquid disappears. A solid ceramic or polymer separator removes the fire risk and opens the door to a pure lithium-metal anode.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59D774-9905-DBC8-7FAA-1C1C65169FD9}"/>
              </a:ext>
            </a:extLst>
          </p:cNvPr>
          <p:cNvSpPr txBox="1"/>
          <p:nvPr/>
        </p:nvSpPr>
        <p:spPr>
          <a:xfrm>
            <a:off x="9390887" y="301303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12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HELD BACK BY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EB4456-F866-B5A2-4642-2272B777FBD9}"/>
              </a:ext>
            </a:extLst>
          </p:cNvPr>
          <p:cNvSpPr txBox="1"/>
          <p:nvPr/>
        </p:nvSpPr>
        <p:spPr>
          <a:xfrm>
            <a:off x="9366209" y="3248839"/>
            <a:ext cx="1920240" cy="3851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Manufacturing. Nobody builds these at automotive scale.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EB4D20-04AA-4FD1-C902-A2AE3C3A5DC7}"/>
              </a:ext>
            </a:extLst>
          </p:cNvPr>
          <p:cNvSpPr txBox="1"/>
          <p:nvPr/>
        </p:nvSpPr>
        <p:spPr>
          <a:xfrm>
            <a:off x="9453518" y="3895256"/>
            <a:ext cx="19202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SPECIFIC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ENERGY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788459C-1CEC-8B78-BA5F-26A332D2C330}"/>
              </a:ext>
            </a:extLst>
          </p:cNvPr>
          <p:cNvSpPr/>
          <p:nvPr/>
        </p:nvSpPr>
        <p:spPr>
          <a:xfrm>
            <a:off x="9435229" y="4247803"/>
            <a:ext cx="786384" cy="786384"/>
          </a:xfrm>
          <a:prstGeom prst="ellipse">
            <a:avLst/>
          </a:prstGeom>
          <a:solidFill>
            <a:srgbClr val="DDE6E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Pie 66">
            <a:extLst>
              <a:ext uri="{FF2B5EF4-FFF2-40B4-BE49-F238E27FC236}">
                <a16:creationId xmlns:a16="http://schemas.microsoft.com/office/drawing/2014/main" id="{3CD88774-F3FC-8A55-FD20-6FEBC873EFA8}"/>
              </a:ext>
            </a:extLst>
          </p:cNvPr>
          <p:cNvSpPr/>
          <p:nvPr/>
        </p:nvSpPr>
        <p:spPr>
          <a:xfrm>
            <a:off x="9435229" y="4247803"/>
            <a:ext cx="786384" cy="786384"/>
          </a:xfrm>
          <a:prstGeom prst="pie">
            <a:avLst>
              <a:gd name="adj1" fmla="val 16200000"/>
              <a:gd name="adj2" fmla="val 1296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62174E-5050-1B08-A510-21B04BD25CBC}"/>
              </a:ext>
            </a:extLst>
          </p:cNvPr>
          <p:cNvSpPr txBox="1"/>
          <p:nvPr/>
        </p:nvSpPr>
        <p:spPr>
          <a:xfrm>
            <a:off x="10294766" y="4320955"/>
            <a:ext cx="1078992" cy="8130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350–500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85% of the 500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Wh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/kg ceiling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50C1F7-D6A7-290E-572A-9EBEB10465DA}"/>
              </a:ext>
            </a:extLst>
          </p:cNvPr>
          <p:cNvSpPr txBox="1"/>
          <p:nvPr/>
        </p:nvSpPr>
        <p:spPr>
          <a:xfrm>
            <a:off x="9375252" y="5364869"/>
            <a:ext cx="2738482" cy="221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0" i="0">
                <a:latin typeface="+mj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Toyota · Quantum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Times New Roman" panose="02020603050405020304" pitchFamily="18" charset="0"/>
              </a:rPr>
              <a:t>Scape (pilot lines)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73F096-6F43-3675-074A-C52880289FA4}"/>
              </a:ext>
            </a:extLst>
          </p:cNvPr>
          <p:cNvSpPr/>
          <p:nvPr/>
        </p:nvSpPr>
        <p:spPr>
          <a:xfrm>
            <a:off x="583837" y="5812821"/>
            <a:ext cx="11064240" cy="1905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B540F0-8081-2685-B2A0-A0DD1F6CA802}"/>
              </a:ext>
            </a:extLst>
          </p:cNvPr>
          <p:cNvSpPr txBox="1"/>
          <p:nvPr/>
        </p:nvSpPr>
        <p:spPr>
          <a:xfrm>
            <a:off x="137995" y="6205234"/>
            <a:ext cx="119160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Sources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/>
              </a:rPr>
              <a:t>S&amp;P Global Mobility: evolution of EV battery technology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·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/>
              </a:rPr>
              <a:t>Battery University BU-205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·   </a:t>
            </a:r>
            <a:r>
              <a:rPr kumimoji="0" sz="1600" b="0" i="0" u="sng" strike="noStrike" kern="1200" cap="none" spc="0" normalizeH="0" baseline="0" noProof="0" dirty="0" err="1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/>
              </a:rPr>
              <a:t>InsideEVs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/>
              </a:rPr>
              <a:t>: NMC, LFP and solid-state</a:t>
            </a: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2B39DADA-A460-9173-F81F-3FFA748F1B96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396550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450686-00DA-C336-C519-63C2403B250D}"/>
              </a:ext>
            </a:extLst>
          </p:cNvPr>
          <p:cNvSpPr txBox="1"/>
          <p:nvPr/>
        </p:nvSpPr>
        <p:spPr>
          <a:xfrm>
            <a:off x="127093" y="142439"/>
            <a:ext cx="11064240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3.b Battery: 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Chemistry </a:t>
            </a: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&amp;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mechanism</a:t>
            </a: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:</a:t>
            </a: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Gen-1 &amp; Gen-2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455AD0-8A06-6209-CB65-6DD8C66EA3A7}"/>
              </a:ext>
            </a:extLst>
          </p:cNvPr>
          <p:cNvSpPr/>
          <p:nvPr/>
        </p:nvSpPr>
        <p:spPr>
          <a:xfrm>
            <a:off x="219456" y="5559552"/>
            <a:ext cx="11695174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3EC68-13DC-4892-86E9-48715C31E157}"/>
              </a:ext>
            </a:extLst>
          </p:cNvPr>
          <p:cNvSpPr txBox="1"/>
          <p:nvPr/>
        </p:nvSpPr>
        <p:spPr>
          <a:xfrm>
            <a:off x="219456" y="6194779"/>
            <a:ext cx="1197254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Sources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2"/>
              </a:rPr>
              <a:t>Battery University BU-205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·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3"/>
              </a:rPr>
              <a:t>GM EV1 (lead-acid vs NiMH)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·   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4"/>
              </a:rPr>
              <a:t>Nickel-metal hydride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C9D3DD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·   </a:t>
            </a:r>
            <a:r>
              <a:rPr kumimoji="0" sz="1600" b="0" i="0" u="sng" strike="noStrike" kern="1200" cap="none" spc="0" normalizeH="0" baseline="0" noProof="0" dirty="0" err="1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InsideEVs</a:t>
            </a:r>
            <a:r>
              <a:rPr kumimoji="0" sz="1600" b="0" i="0" u="sng" strike="noStrike" kern="1200" cap="none" spc="0" normalizeH="0" baseline="0" noProof="0" dirty="0">
                <a:ln>
                  <a:noFill/>
                </a:ln>
                <a:solidFill>
                  <a:srgbClr val="2E74B5"/>
                </a:solidFill>
                <a:effectLst/>
                <a:uLnTx/>
                <a:uFillTx/>
                <a:latin typeface="Times New Roman"/>
                <a:ea typeface="+mn-ea"/>
                <a:cs typeface="+mn-cs"/>
                <a:hlinkClick r:id="rId5"/>
              </a:rPr>
              <a:t>: EV battery chemistries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3B5E9E-5051-5FE8-9AF0-0595C21742A3}"/>
              </a:ext>
            </a:extLst>
          </p:cNvPr>
          <p:cNvGraphicFramePr>
            <a:graphicFrameLocks noGrp="1"/>
          </p:cNvGraphicFramePr>
          <p:nvPr/>
        </p:nvGraphicFramePr>
        <p:xfrm>
          <a:off x="219456" y="663221"/>
          <a:ext cx="11869876" cy="54902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6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8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9963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INSIDE THE CELL</a:t>
                      </a:r>
                    </a:p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anode  ·  electrolyte  ·  cathode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CARRIER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HOW IT WORKS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WHAT HOLDS IT BACK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Wh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/kg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424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+mj-lt"/>
                        </a:rPr>
                        <a:t>Lead–acid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dirty="0">
                          <a:solidFill>
                            <a:srgbClr val="5F5F5F"/>
                          </a:solidFill>
                          <a:latin typeface="+mj-lt"/>
                        </a:rPr>
                        <a:t>Flooded lead plates · 1859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Pb   →   H₂SO₄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PbO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₂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Times New Roman"/>
                        </a:rPr>
                        <a:t>SO₄²⁻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+mj-lt"/>
                        </a:rPr>
                        <a:t>Both plates turn to lead sulphate as the cell discharges. The acid is a reactant, not just a medium — the electrodes are consumed and rebuilt on every cycle.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5F5F5F"/>
                          </a:solidFill>
                          <a:latin typeface="+mj-lt"/>
                        </a:rPr>
                        <a:t>Heavy, gasses on overcharge, roughly 300 cycles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30–40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424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NiMH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>
                          <a:solidFill>
                            <a:srgbClr val="5F5F5F"/>
                          </a:solidFill>
                          <a:latin typeface="+mj-lt"/>
                        </a:rPr>
                        <a:t>Nickel–metal hydride · 1990s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MH   →   KOH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NiOOH</a:t>
                      </a:r>
                      <a:endParaRPr sz="1400" b="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Times New Roman"/>
                        </a:rPr>
                        <a:t>OH⁻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+mj-lt"/>
                        </a:rPr>
                        <a:t>Hydrogen, not lithium, does the work. It is absorbed into a metal alloy on one side and released on the other — proton transfer rather than ion insertion.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5F5F5F"/>
                          </a:solidFill>
                          <a:latin typeface="+mj-lt"/>
                        </a:rPr>
                        <a:t>Self-discharges, runs hot, only 1.2 volts per cell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60–80</a:t>
                      </a:r>
                    </a:p>
                  </a:txBody>
                  <a:tcPr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424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LCO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>
                          <a:solidFill>
                            <a:srgbClr val="5F5F5F"/>
                          </a:solidFill>
                          <a:latin typeface="+mj-lt"/>
                        </a:rPr>
                        <a:t>Lithium cobalt oxide · 2008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C₆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LiPF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LiCoO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₂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Times New Roman"/>
                        </a:rPr>
                        <a:t>Li⁺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+mj-lt"/>
                        </a:rPr>
                        <a:t>Lithium slides between flat sheets of cobalt oxide and back out again. Nothing is consumed — the host lattice simply holds the ions until they are called for.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5F5F5F"/>
                          </a:solidFill>
                          <a:latin typeface="+mj-lt"/>
                        </a:rPr>
                        <a:t>Slow charging, short life, cobalt cost and sourcing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150–200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5424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LMO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>
                          <a:solidFill>
                            <a:srgbClr val="5F5F5F"/>
                          </a:solidFill>
                          <a:latin typeface="+mj-lt"/>
                        </a:rPr>
                        <a:t>Lithium manganese oxide · 2010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C₆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LiPF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LiMn₂O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₄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Times New Roman"/>
                        </a:rPr>
                        <a:t>Li⁺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+mj-lt"/>
                        </a:rPr>
                        <a:t>The same idea, but lithium travels through a three-dimensional spinel framework instead of flat sheets. Less resistance, more current, safer when hot.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5F5F5F"/>
                          </a:solidFill>
                          <a:latin typeface="+mj-lt"/>
                        </a:rPr>
                        <a:t>Manganese leaches into the electrolyte; poor calendar life</a:t>
                      </a:r>
                    </a:p>
                  </a:txBody>
                  <a:tcPr marT="36576" marB="36576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100–150</a:t>
                      </a:r>
                    </a:p>
                  </a:txBody>
                  <a:tcPr marT="36576" marB="36576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339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+mj-lt"/>
                        </a:rPr>
                        <a:t>NCA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dirty="0">
                          <a:solidFill>
                            <a:srgbClr val="5F5F5F"/>
                          </a:solidFill>
                          <a:latin typeface="+mj-lt"/>
                        </a:rPr>
                        <a:t>Nickel cobalt </a:t>
                      </a:r>
                      <a:r>
                        <a:rPr sz="1600" dirty="0" err="1">
                          <a:solidFill>
                            <a:srgbClr val="5F5F5F"/>
                          </a:solidFill>
                          <a:latin typeface="+mj-lt"/>
                        </a:rPr>
                        <a:t>aluminium</a:t>
                      </a:r>
                      <a:r>
                        <a:rPr sz="1600" dirty="0">
                          <a:solidFill>
                            <a:srgbClr val="5F5F5F"/>
                          </a:solidFill>
                          <a:latin typeface="+mj-lt"/>
                        </a:rPr>
                        <a:t> · 2012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C₆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LiPF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₆   →   </a:t>
                      </a:r>
                      <a:r>
                        <a:rPr sz="14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LiNiCoAlO</a:t>
                      </a:r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₂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Times New Roman"/>
                        </a:rPr>
                        <a:t>Li⁺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A1A1A"/>
                          </a:solidFill>
                          <a:latin typeface="+mj-lt"/>
                        </a:rPr>
                        <a:t>Mostly nickel, which stores the most lithium. A little aluminium is added purely to stop the nickel-rich lattice from collapsing as it is cycled.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5F5F5F"/>
                          </a:solidFill>
                          <a:latin typeface="+mj-lt"/>
                        </a:rPr>
                        <a:t>Narrow safe window; needs liquid cooling and a strict BMS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+mj-lt"/>
                        </a:rPr>
                        <a:t>200–260</a:t>
                      </a:r>
                    </a:p>
                  </a:txBody>
                  <a:tcPr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5">
            <a:extLst>
              <a:ext uri="{FF2B5EF4-FFF2-40B4-BE49-F238E27FC236}">
                <a16:creationId xmlns:a16="http://schemas.microsoft.com/office/drawing/2014/main" id="{CA863C99-1650-2E00-3DBD-282A6C34A55D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114992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6068D-CA00-345F-EFE0-2B4FEBDE6ADC}"/>
              </a:ext>
            </a:extLst>
          </p:cNvPr>
          <p:cNvSpPr txBox="1"/>
          <p:nvPr/>
        </p:nvSpPr>
        <p:spPr>
          <a:xfrm>
            <a:off x="301752" y="182880"/>
            <a:ext cx="1158544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800" b="1" i="0" dirty="0">
                <a:solidFill>
                  <a:srgbClr val="1F4E79"/>
                </a:solidFill>
                <a:latin typeface="+mj-lt"/>
              </a:rPr>
              <a:t>3.c Battery: </a:t>
            </a:r>
            <a:r>
              <a:rPr sz="2800" b="1" i="0" dirty="0">
                <a:solidFill>
                  <a:srgbClr val="1F4E79"/>
                </a:solidFill>
                <a:latin typeface="+mj-lt"/>
              </a:rPr>
              <a:t>Generation 3: </a:t>
            </a:r>
            <a:r>
              <a:rPr lang="en-US" sz="2800" b="1" i="0" dirty="0">
                <a:solidFill>
                  <a:srgbClr val="1F4E79"/>
                </a:solidFill>
                <a:latin typeface="+mj-lt"/>
              </a:rPr>
              <a:t>NMC or LFP</a:t>
            </a:r>
            <a:endParaRPr sz="2800" b="1" i="0" dirty="0">
              <a:solidFill>
                <a:srgbClr val="1F4E79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4EF2F-B434-0D8B-6F85-679641E5CF6F}"/>
              </a:ext>
            </a:extLst>
          </p:cNvPr>
          <p:cNvSpPr/>
          <p:nvPr/>
        </p:nvSpPr>
        <p:spPr>
          <a:xfrm>
            <a:off x="301752" y="1170432"/>
            <a:ext cx="1424723" cy="425318"/>
          </a:xfrm>
          <a:prstGeom prst="rect">
            <a:avLst/>
          </a:prstGeom>
          <a:noFill/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Times New Roman"/>
              </a:rPr>
              <a:t>Graphite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F77C7-DAB8-EBD5-4A41-8A2A4966F003}"/>
              </a:ext>
            </a:extLst>
          </p:cNvPr>
          <p:cNvSpPr/>
          <p:nvPr/>
        </p:nvSpPr>
        <p:spPr>
          <a:xfrm>
            <a:off x="1662379" y="1170432"/>
            <a:ext cx="2374538" cy="425318"/>
          </a:xfrm>
          <a:prstGeom prst="rect">
            <a:avLst/>
          </a:prstGeom>
          <a:noFill/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E7D3D-3C13-ECEF-8EC7-A220487AABA7}"/>
              </a:ext>
            </a:extLst>
          </p:cNvPr>
          <p:cNvSpPr/>
          <p:nvPr/>
        </p:nvSpPr>
        <p:spPr>
          <a:xfrm>
            <a:off x="3930090" y="1170432"/>
            <a:ext cx="2137083" cy="425318"/>
          </a:xfrm>
          <a:prstGeom prst="rect">
            <a:avLst/>
          </a:prstGeom>
          <a:solidFill>
            <a:srgbClr val="EEF3F8"/>
          </a:solidFill>
          <a:ln w="1143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Times New Roman"/>
              </a:rPr>
              <a:t>NMC  or  LFP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94D1C-239C-F42B-3843-D1B63551C8DA}"/>
              </a:ext>
            </a:extLst>
          </p:cNvPr>
          <p:cNvSpPr txBox="1"/>
          <p:nvPr/>
        </p:nvSpPr>
        <p:spPr>
          <a:xfrm>
            <a:off x="1662379" y="1207008"/>
            <a:ext cx="237453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F5F5F"/>
                </a:solidFill>
                <a:latin typeface="Times New Roman"/>
              </a:rPr>
              <a:t>LiPF₆ in carbonate</a:t>
            </a:r>
          </a:p>
        </p:txBody>
      </p:sp>
      <p:sp>
        <p:nvSpPr>
          <p:cNvPr id="7" name="Right Arrow 8">
            <a:extLst>
              <a:ext uri="{FF2B5EF4-FFF2-40B4-BE49-F238E27FC236}">
                <a16:creationId xmlns:a16="http://schemas.microsoft.com/office/drawing/2014/main" id="{3FA7E8AD-7C6A-98CB-6EA9-2202292849C7}"/>
              </a:ext>
            </a:extLst>
          </p:cNvPr>
          <p:cNvSpPr/>
          <p:nvPr/>
        </p:nvSpPr>
        <p:spPr>
          <a:xfrm>
            <a:off x="1889150" y="1444752"/>
            <a:ext cx="1899630" cy="122688"/>
          </a:xfrm>
          <a:prstGeom prst="rightArrow">
            <a:avLst/>
          </a:prstGeom>
          <a:solidFill>
            <a:srgbClr val="DD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CC2F47-BA8F-1267-4EFC-9F00CF6CBFC2}"/>
              </a:ext>
            </a:extLst>
          </p:cNvPr>
          <p:cNvSpPr/>
          <p:nvPr/>
        </p:nvSpPr>
        <p:spPr>
          <a:xfrm>
            <a:off x="1717243" y="1389888"/>
            <a:ext cx="248944" cy="212659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Times New Roman"/>
              </a:rPr>
              <a:t>Li⁺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5B9B6-9C83-4BB9-918F-EA44A3752DFE}"/>
              </a:ext>
            </a:extLst>
          </p:cNvPr>
          <p:cNvSpPr txBox="1"/>
          <p:nvPr/>
        </p:nvSpPr>
        <p:spPr>
          <a:xfrm>
            <a:off x="301752" y="1682496"/>
            <a:ext cx="142472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5F5F"/>
                </a:solidFill>
                <a:latin typeface="+mj-lt"/>
              </a:rPr>
              <a:t>anode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A736C8-6534-2F68-2F17-817A0E225590}"/>
              </a:ext>
            </a:extLst>
          </p:cNvPr>
          <p:cNvSpPr txBox="1"/>
          <p:nvPr/>
        </p:nvSpPr>
        <p:spPr>
          <a:xfrm>
            <a:off x="1662379" y="1682496"/>
            <a:ext cx="237453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5F5F"/>
                </a:solidFill>
                <a:latin typeface="+mj-lt"/>
              </a:rPr>
              <a:t>electrolyte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4EC65-DD9A-0CE7-B93C-9BE570D7FEE0}"/>
              </a:ext>
            </a:extLst>
          </p:cNvPr>
          <p:cNvSpPr txBox="1"/>
          <p:nvPr/>
        </p:nvSpPr>
        <p:spPr>
          <a:xfrm>
            <a:off x="3930090" y="1682496"/>
            <a:ext cx="213708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5F5F"/>
                </a:solidFill>
                <a:latin typeface="+mj-lt"/>
              </a:rPr>
              <a:t>cathode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D58D1-5EC6-4C6B-97F9-442973C05EAC}"/>
              </a:ext>
            </a:extLst>
          </p:cNvPr>
          <p:cNvSpPr txBox="1"/>
          <p:nvPr/>
        </p:nvSpPr>
        <p:spPr>
          <a:xfrm>
            <a:off x="6240532" y="800228"/>
            <a:ext cx="5428883" cy="10640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rgbClr val="1F4E79"/>
                </a:solidFill>
                <a:latin typeface="+mj-lt"/>
              </a:rPr>
              <a:t>Same anode. Same electrolyte. Only the cathode differs.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5F5F5F"/>
                </a:solidFill>
                <a:latin typeface="+mj-lt"/>
              </a:rPr>
              <a:t>That single choice sets range, cost, safety and cycle life — which is why carmakers now fit both, one per trim level, on the same platform.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2CF293-1395-5CE9-4413-5A71356CAE87}"/>
              </a:ext>
            </a:extLst>
          </p:cNvPr>
          <p:cNvGraphicFramePr>
            <a:graphicFrameLocks noGrp="1"/>
          </p:cNvGraphicFramePr>
          <p:nvPr/>
        </p:nvGraphicFramePr>
        <p:xfrm>
          <a:off x="301752" y="2005997"/>
          <a:ext cx="11585448" cy="354475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3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600" dirty="0">
                        <a:latin typeface="+mj-lt"/>
                      </a:endParaRP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+mj-lt"/>
                        </a:rPr>
                        <a:t>NMC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+mj-lt"/>
                        </a:rPr>
                        <a:t>LFP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dirty="0">
                          <a:solidFill>
                            <a:srgbClr val="1F4E79"/>
                          </a:solidFill>
                          <a:latin typeface="+mj-lt"/>
                        </a:rPr>
                        <a:t>Cathode formula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 err="1">
                          <a:solidFill>
                            <a:srgbClr val="1A1A1A"/>
                          </a:solidFill>
                          <a:latin typeface="+mj-lt"/>
                        </a:rPr>
                        <a:t>LiNiMnCoO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₂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LiFePO₄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827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How the cathode works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Layered oxide. Nickel stores the lithium, manganese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+mj-lt"/>
                        </a:rPr>
                        <a:t>stabilises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 the structure, cobalt keeps the layers ordered. More nickel, more energy, less stability.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Olivine framework. Phosphorus holds the oxygen in strong bonds, so heat does not release it — a failing cell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+mj-lt"/>
                        </a:rPr>
                        <a:t>smoulders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 rather than ignites.</a:t>
                      </a:r>
                    </a:p>
                  </a:txBody>
                  <a:tcPr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Specific energy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150–250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+mj-lt"/>
                        </a:rPr>
                        <a:t>Wh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/kg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90–160 Wh/kg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Cycle life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1,000–2,000 cycles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3,000–6,000 cycles</a:t>
                      </a:r>
                    </a:p>
                  </a:txBody>
                  <a:tcPr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Thermal runaway begins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around 210 °C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around 270 °C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Critical minerals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A1A1A"/>
                          </a:solidFill>
                          <a:latin typeface="+mj-lt"/>
                        </a:rPr>
                        <a:t>Nickel and cobalt</a:t>
                      </a:r>
                    </a:p>
                  </a:txBody>
                  <a:tcPr marT="27432" marB="2743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None — iron and phosphate</a:t>
                      </a:r>
                    </a:p>
                  </a:txBody>
                  <a:tcPr marT="27432" marB="27432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885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F4E79"/>
                          </a:solidFill>
                          <a:latin typeface="+mj-lt"/>
                        </a:rPr>
                        <a:t>Where you see it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VW ID.4 · Hyundai Ioniq 5 · most European and Korean EVs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BYD Blade · Tesla standard range · Tata </a:t>
                      </a:r>
                      <a:r>
                        <a:rPr sz="1600" b="0" dirty="0" err="1">
                          <a:solidFill>
                            <a:srgbClr val="1A1A1A"/>
                          </a:solidFill>
                          <a:latin typeface="+mj-lt"/>
                        </a:rPr>
                        <a:t>Curvv</a:t>
                      </a:r>
                      <a:r>
                        <a:rPr sz="1600" b="0" dirty="0">
                          <a:solidFill>
                            <a:srgbClr val="1A1A1A"/>
                          </a:solidFill>
                          <a:latin typeface="+mj-lt"/>
                        </a:rPr>
                        <a:t> and Nexon 45 kWh</a:t>
                      </a:r>
                    </a:p>
                  </a:txBody>
                  <a:tcPr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D467253-0CC6-BF00-4890-5E31E8AB3482}"/>
              </a:ext>
            </a:extLst>
          </p:cNvPr>
          <p:cNvSpPr/>
          <p:nvPr/>
        </p:nvSpPr>
        <p:spPr>
          <a:xfrm>
            <a:off x="301752" y="5632703"/>
            <a:ext cx="11585448" cy="4571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E9877-5683-53D6-263D-19303CB26416}"/>
              </a:ext>
            </a:extLst>
          </p:cNvPr>
          <p:cNvSpPr txBox="1"/>
          <p:nvPr/>
        </p:nvSpPr>
        <p:spPr>
          <a:xfrm>
            <a:off x="301752" y="5842328"/>
            <a:ext cx="1158544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5F5F5F"/>
                </a:solidFill>
                <a:latin typeface="Times New Roman"/>
              </a:rPr>
              <a:t>Sources   </a:t>
            </a:r>
            <a:r>
              <a:rPr sz="1400" u="sng" dirty="0" err="1">
                <a:solidFill>
                  <a:srgbClr val="2E74B5"/>
                </a:solidFill>
                <a:latin typeface="Times New Roman"/>
                <a:hlinkClick r:id="rId2"/>
              </a:rPr>
              <a:t>InsideEVs</a:t>
            </a:r>
            <a:r>
              <a:rPr sz="1400" u="sng" dirty="0">
                <a:solidFill>
                  <a:srgbClr val="2E74B5"/>
                </a:solidFill>
                <a:latin typeface="Times New Roman"/>
                <a:hlinkClick r:id="rId2"/>
              </a:rPr>
              <a:t>: NMC, LFP and solid-state explained</a:t>
            </a:r>
            <a:r>
              <a:rPr sz="1400" dirty="0">
                <a:solidFill>
                  <a:srgbClr val="C9D3DD"/>
                </a:solidFill>
                <a:latin typeface="Times New Roman"/>
              </a:rPr>
              <a:t>   ·   </a:t>
            </a:r>
            <a:r>
              <a:rPr sz="1400" u="sng" dirty="0">
                <a:solidFill>
                  <a:srgbClr val="2E74B5"/>
                </a:solidFill>
                <a:latin typeface="Times New Roman"/>
                <a:hlinkClick r:id="rId3"/>
              </a:rPr>
              <a:t>Battery University BU-205</a:t>
            </a:r>
            <a:r>
              <a:rPr sz="1400" dirty="0">
                <a:solidFill>
                  <a:srgbClr val="C9D3DD"/>
                </a:solidFill>
                <a:latin typeface="Times New Roman"/>
              </a:rPr>
              <a:t>   ·   </a:t>
            </a:r>
            <a:r>
              <a:rPr sz="1400" u="sng" dirty="0">
                <a:solidFill>
                  <a:srgbClr val="2E74B5"/>
                </a:solidFill>
                <a:latin typeface="Times New Roman"/>
                <a:hlinkClick r:id="rId4"/>
              </a:rPr>
              <a:t>MRS Bulletin: advanced materials supply for EVs</a:t>
            </a:r>
          </a:p>
        </p:txBody>
      </p:sp>
    </p:spTree>
    <p:extLst>
      <p:ext uri="{BB962C8B-B14F-4D97-AF65-F5344CB8AC3E}">
        <p14:creationId xmlns:p14="http://schemas.microsoft.com/office/powerpoint/2010/main" val="250778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0" presetClass="path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15750 0 " pathEditMode="relative" rAng="0" ptsTypes="">
                                      <p:cBhvr>
                                        <p:cTn id="10" dur="1600" repeatCount="3000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0AC85-C347-CD8F-5D45-9BB0ECBFB5B1}"/>
              </a:ext>
            </a:extLst>
          </p:cNvPr>
          <p:cNvSpPr txBox="1"/>
          <p:nvPr/>
        </p:nvSpPr>
        <p:spPr>
          <a:xfrm>
            <a:off x="195874" y="173254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Different Types of Cells and their Alignment for EV</a:t>
            </a:r>
            <a:endParaRPr sz="2600" b="1" i="0" dirty="0">
              <a:solidFill>
                <a:srgbClr val="1F4E79"/>
              </a:solidFill>
              <a:latin typeface="+mj-lt"/>
            </a:endParaRPr>
          </a:p>
        </p:txBody>
      </p:sp>
      <p:sp>
        <p:nvSpPr>
          <p:cNvPr id="5" name="text-1">
            <a:extLst>
              <a:ext uri="{FF2B5EF4-FFF2-40B4-BE49-F238E27FC236}">
                <a16:creationId xmlns:a16="http://schemas.microsoft.com/office/drawing/2014/main" id="{F6B8783D-C626-8B2A-34D6-79EB9E8DB703}"/>
              </a:ext>
            </a:extLst>
          </p:cNvPr>
          <p:cNvSpPr txBox="1"/>
          <p:nvPr/>
        </p:nvSpPr>
        <p:spPr>
          <a:xfrm>
            <a:off x="548640" y="1051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Cylindrical</a:t>
            </a:r>
            <a:endParaRPr lang="en-US" sz="1600" dirty="0"/>
          </a:p>
        </p:txBody>
      </p:sp>
      <p:sp>
        <p:nvSpPr>
          <p:cNvPr id="14" name="text-10">
            <a:extLst>
              <a:ext uri="{FF2B5EF4-FFF2-40B4-BE49-F238E27FC236}">
                <a16:creationId xmlns:a16="http://schemas.microsoft.com/office/drawing/2014/main" id="{0A9E6AEA-3B2C-4049-726E-78B28A426C78}"/>
              </a:ext>
            </a:extLst>
          </p:cNvPr>
          <p:cNvSpPr txBox="1"/>
          <p:nvPr/>
        </p:nvSpPr>
        <p:spPr>
          <a:xfrm>
            <a:off x="1920240" y="14630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Steel can, wound jelly roll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Small: 18650, 2170, 4680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Strong case with built-in vent and safety cut-off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Hundreds to thousands per pack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Tesla, most e-scooters</a:t>
            </a:r>
            <a:endParaRPr lang="en-US" sz="1400" dirty="0">
              <a:latin typeface="+mj-lt"/>
            </a:endParaRPr>
          </a:p>
        </p:txBody>
      </p:sp>
      <p:sp>
        <p:nvSpPr>
          <p:cNvPr id="15" name="text-11">
            <a:extLst>
              <a:ext uri="{FF2B5EF4-FFF2-40B4-BE49-F238E27FC236}">
                <a16:creationId xmlns:a16="http://schemas.microsoft.com/office/drawing/2014/main" id="{0A93B771-102B-E6A7-3907-CC318C99EF84}"/>
              </a:ext>
            </a:extLst>
          </p:cNvPr>
          <p:cNvSpPr txBox="1"/>
          <p:nvPr/>
        </p:nvSpPr>
        <p:spPr>
          <a:xfrm>
            <a:off x="4377233" y="1051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Prismatic</a:t>
            </a:r>
            <a:endParaRPr lang="en-US" sz="1600" dirty="0"/>
          </a:p>
        </p:txBody>
      </p:sp>
      <p:sp>
        <p:nvSpPr>
          <p:cNvPr id="27" name="text-23">
            <a:extLst>
              <a:ext uri="{FF2B5EF4-FFF2-40B4-BE49-F238E27FC236}">
                <a16:creationId xmlns:a16="http://schemas.microsoft.com/office/drawing/2014/main" id="{762ED21B-FF2A-0ECD-44A5-2BDB76A653A8}"/>
              </a:ext>
            </a:extLst>
          </p:cNvPr>
          <p:cNvSpPr txBox="1"/>
          <p:nvPr/>
        </p:nvSpPr>
        <p:spPr>
          <a:xfrm>
            <a:off x="5748833" y="1472184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Aluminium box, flat roll or stack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Large: 50–300+ Ah each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Packs tightly, easy to cool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About 100–200 per pack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BYD, CATL, Tata</a:t>
            </a:r>
            <a:endParaRPr lang="en-US" sz="1400" dirty="0">
              <a:latin typeface="+mj-lt"/>
            </a:endParaRPr>
          </a:p>
        </p:txBody>
      </p:sp>
      <p:sp>
        <p:nvSpPr>
          <p:cNvPr id="28" name="text-24">
            <a:extLst>
              <a:ext uri="{FF2B5EF4-FFF2-40B4-BE49-F238E27FC236}">
                <a16:creationId xmlns:a16="http://schemas.microsoft.com/office/drawing/2014/main" id="{7DF39A85-42A7-6390-B39B-90C717DFE858}"/>
              </a:ext>
            </a:extLst>
          </p:cNvPr>
          <p:cNvSpPr txBox="1"/>
          <p:nvPr/>
        </p:nvSpPr>
        <p:spPr>
          <a:xfrm>
            <a:off x="8138160" y="1051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Pouch</a:t>
            </a:r>
            <a:endParaRPr lang="en-US" sz="1600" dirty="0"/>
          </a:p>
        </p:txBody>
      </p:sp>
      <p:sp>
        <p:nvSpPr>
          <p:cNvPr id="43" name="text-39">
            <a:extLst>
              <a:ext uri="{FF2B5EF4-FFF2-40B4-BE49-F238E27FC236}">
                <a16:creationId xmlns:a16="http://schemas.microsoft.com/office/drawing/2014/main" id="{D7D02940-3478-8649-0B64-17C5D154BBE9}"/>
              </a:ext>
            </a:extLst>
          </p:cNvPr>
          <p:cNvSpPr txBox="1"/>
          <p:nvPr/>
        </p:nvSpPr>
        <p:spPr>
          <a:xfrm>
            <a:off x="9509760" y="146304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Soft foil bag, stacked sheets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Light, flexible shape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Needs a frame to hold and protect it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Swells with age; must be kept pressed</a:t>
            </a:r>
            <a:endParaRPr lang="en-US" sz="1400" dirty="0">
              <a:latin typeface="+mj-lt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LG, SK On, Hyundai, GM</a:t>
            </a:r>
            <a:endParaRPr lang="en-US" sz="1400" dirty="0">
              <a:latin typeface="+mj-lt"/>
            </a:endParaRPr>
          </a:p>
        </p:txBody>
      </p:sp>
      <p:sp>
        <p:nvSpPr>
          <p:cNvPr id="44" name="text-40">
            <a:extLst>
              <a:ext uri="{FF2B5EF4-FFF2-40B4-BE49-F238E27FC236}">
                <a16:creationId xmlns:a16="http://schemas.microsoft.com/office/drawing/2014/main" id="{81351056-BF0A-D196-2EDE-C66983D00F5A}"/>
              </a:ext>
            </a:extLst>
          </p:cNvPr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the cells are arranged in the car</a:t>
            </a:r>
            <a:endParaRPr lang="en-US" sz="1600" dirty="0"/>
          </a:p>
        </p:txBody>
      </p:sp>
      <p:sp>
        <p:nvSpPr>
          <p:cNvPr id="45" name="text-41">
            <a:extLst>
              <a:ext uri="{FF2B5EF4-FFF2-40B4-BE49-F238E27FC236}">
                <a16:creationId xmlns:a16="http://schemas.microsoft.com/office/drawing/2014/main" id="{BBF9D316-4227-594A-8E2E-C81F7A43AE6A}"/>
              </a:ext>
            </a:extLst>
          </p:cNvPr>
          <p:cNvSpPr txBox="1"/>
          <p:nvPr/>
        </p:nvSpPr>
        <p:spPr>
          <a:xfrm>
            <a:off x="548640" y="4206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Cell-to-module (CTM)</a:t>
            </a:r>
            <a:endParaRPr lang="en-US" dirty="0"/>
          </a:p>
        </p:txBody>
      </p:sp>
      <p:sp>
        <p:nvSpPr>
          <p:cNvPr id="46" name="pack-42">
            <a:extLst>
              <a:ext uri="{FF2B5EF4-FFF2-40B4-BE49-F238E27FC236}">
                <a16:creationId xmlns:a16="http://schemas.microsoft.com/office/drawing/2014/main" id="{1919514A-C86A-4A81-71D5-7A4431D0D420}"/>
              </a:ext>
            </a:extLst>
          </p:cNvPr>
          <p:cNvSpPr/>
          <p:nvPr/>
        </p:nvSpPr>
        <p:spPr>
          <a:xfrm>
            <a:off x="640080" y="4590288"/>
            <a:ext cx="3291840" cy="749808"/>
          </a:xfrm>
          <a:prstGeom prst="rect">
            <a:avLst/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module-43">
            <a:extLst>
              <a:ext uri="{FF2B5EF4-FFF2-40B4-BE49-F238E27FC236}">
                <a16:creationId xmlns:a16="http://schemas.microsoft.com/office/drawing/2014/main" id="{467936CF-BF31-A007-8DCF-517E5124E26D}"/>
              </a:ext>
            </a:extLst>
          </p:cNvPr>
          <p:cNvSpPr/>
          <p:nvPr/>
        </p:nvSpPr>
        <p:spPr>
          <a:xfrm>
            <a:off x="777240" y="4681728"/>
            <a:ext cx="960120" cy="566928"/>
          </a:xfrm>
          <a:prstGeom prst="roundRect">
            <a:avLst>
              <a:gd name="adj" fmla="val 9677"/>
            </a:avLst>
          </a:prstGeom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cell-44">
            <a:extLst>
              <a:ext uri="{FF2B5EF4-FFF2-40B4-BE49-F238E27FC236}">
                <a16:creationId xmlns:a16="http://schemas.microsoft.com/office/drawing/2014/main" id="{38921F50-275F-640F-F87D-FC3AA6F1AB58}"/>
              </a:ext>
            </a:extLst>
          </p:cNvPr>
          <p:cNvSpPr/>
          <p:nvPr/>
        </p:nvSpPr>
        <p:spPr>
          <a:xfrm>
            <a:off x="868680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cell-45">
            <a:extLst>
              <a:ext uri="{FF2B5EF4-FFF2-40B4-BE49-F238E27FC236}">
                <a16:creationId xmlns:a16="http://schemas.microsoft.com/office/drawing/2014/main" id="{53CCE57D-AB45-8E39-AA46-D8039E8B0FDA}"/>
              </a:ext>
            </a:extLst>
          </p:cNvPr>
          <p:cNvSpPr/>
          <p:nvPr/>
        </p:nvSpPr>
        <p:spPr>
          <a:xfrm>
            <a:off x="1033272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cell-46">
            <a:extLst>
              <a:ext uri="{FF2B5EF4-FFF2-40B4-BE49-F238E27FC236}">
                <a16:creationId xmlns:a16="http://schemas.microsoft.com/office/drawing/2014/main" id="{19A8B9E2-8B85-0798-B636-1FEB3FE70931}"/>
              </a:ext>
            </a:extLst>
          </p:cNvPr>
          <p:cNvSpPr/>
          <p:nvPr/>
        </p:nvSpPr>
        <p:spPr>
          <a:xfrm>
            <a:off x="1197864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cell-47">
            <a:extLst>
              <a:ext uri="{FF2B5EF4-FFF2-40B4-BE49-F238E27FC236}">
                <a16:creationId xmlns:a16="http://schemas.microsoft.com/office/drawing/2014/main" id="{B7FE4D94-F668-58F3-44DE-A0ADCCC46844}"/>
              </a:ext>
            </a:extLst>
          </p:cNvPr>
          <p:cNvSpPr/>
          <p:nvPr/>
        </p:nvSpPr>
        <p:spPr>
          <a:xfrm>
            <a:off x="1362456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cell-48">
            <a:extLst>
              <a:ext uri="{FF2B5EF4-FFF2-40B4-BE49-F238E27FC236}">
                <a16:creationId xmlns:a16="http://schemas.microsoft.com/office/drawing/2014/main" id="{21581237-63C5-BAA5-40E8-DB9BBE4EB637}"/>
              </a:ext>
            </a:extLst>
          </p:cNvPr>
          <p:cNvSpPr/>
          <p:nvPr/>
        </p:nvSpPr>
        <p:spPr>
          <a:xfrm>
            <a:off x="1527048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module-49">
            <a:extLst>
              <a:ext uri="{FF2B5EF4-FFF2-40B4-BE49-F238E27FC236}">
                <a16:creationId xmlns:a16="http://schemas.microsoft.com/office/drawing/2014/main" id="{8D54B9EF-2E9E-E9B5-3A42-362599A95D85}"/>
              </a:ext>
            </a:extLst>
          </p:cNvPr>
          <p:cNvSpPr/>
          <p:nvPr/>
        </p:nvSpPr>
        <p:spPr>
          <a:xfrm>
            <a:off x="1847088" y="4681728"/>
            <a:ext cx="960120" cy="566928"/>
          </a:xfrm>
          <a:prstGeom prst="roundRect">
            <a:avLst>
              <a:gd name="adj" fmla="val 9677"/>
            </a:avLst>
          </a:prstGeom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cell-50">
            <a:extLst>
              <a:ext uri="{FF2B5EF4-FFF2-40B4-BE49-F238E27FC236}">
                <a16:creationId xmlns:a16="http://schemas.microsoft.com/office/drawing/2014/main" id="{E427ECF1-D191-D06E-E4A6-DBE30D0A5D65}"/>
              </a:ext>
            </a:extLst>
          </p:cNvPr>
          <p:cNvSpPr/>
          <p:nvPr/>
        </p:nvSpPr>
        <p:spPr>
          <a:xfrm>
            <a:off x="1938528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cell-51">
            <a:extLst>
              <a:ext uri="{FF2B5EF4-FFF2-40B4-BE49-F238E27FC236}">
                <a16:creationId xmlns:a16="http://schemas.microsoft.com/office/drawing/2014/main" id="{7BBD4A61-9A34-B689-E528-0619A6E6D949}"/>
              </a:ext>
            </a:extLst>
          </p:cNvPr>
          <p:cNvSpPr/>
          <p:nvPr/>
        </p:nvSpPr>
        <p:spPr>
          <a:xfrm>
            <a:off x="2103120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cell-52">
            <a:extLst>
              <a:ext uri="{FF2B5EF4-FFF2-40B4-BE49-F238E27FC236}">
                <a16:creationId xmlns:a16="http://schemas.microsoft.com/office/drawing/2014/main" id="{C3E38B2D-D417-6659-92C2-3F2EBD44FF68}"/>
              </a:ext>
            </a:extLst>
          </p:cNvPr>
          <p:cNvSpPr/>
          <p:nvPr/>
        </p:nvSpPr>
        <p:spPr>
          <a:xfrm>
            <a:off x="2267712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cell-53">
            <a:extLst>
              <a:ext uri="{FF2B5EF4-FFF2-40B4-BE49-F238E27FC236}">
                <a16:creationId xmlns:a16="http://schemas.microsoft.com/office/drawing/2014/main" id="{5EEABCA7-DDD8-E961-0682-A5E777EECE24}"/>
              </a:ext>
            </a:extLst>
          </p:cNvPr>
          <p:cNvSpPr/>
          <p:nvPr/>
        </p:nvSpPr>
        <p:spPr>
          <a:xfrm>
            <a:off x="2432304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cell-54">
            <a:extLst>
              <a:ext uri="{FF2B5EF4-FFF2-40B4-BE49-F238E27FC236}">
                <a16:creationId xmlns:a16="http://schemas.microsoft.com/office/drawing/2014/main" id="{2A13D7EB-C021-87D5-377E-BD3DCAAF79B7}"/>
              </a:ext>
            </a:extLst>
          </p:cNvPr>
          <p:cNvSpPr/>
          <p:nvPr/>
        </p:nvSpPr>
        <p:spPr>
          <a:xfrm>
            <a:off x="2596896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module-55">
            <a:extLst>
              <a:ext uri="{FF2B5EF4-FFF2-40B4-BE49-F238E27FC236}">
                <a16:creationId xmlns:a16="http://schemas.microsoft.com/office/drawing/2014/main" id="{65201ED3-5DAD-8170-63AA-06F5DAAA525B}"/>
              </a:ext>
            </a:extLst>
          </p:cNvPr>
          <p:cNvSpPr/>
          <p:nvPr/>
        </p:nvSpPr>
        <p:spPr>
          <a:xfrm>
            <a:off x="2916936" y="4681728"/>
            <a:ext cx="960120" cy="566928"/>
          </a:xfrm>
          <a:prstGeom prst="roundRect">
            <a:avLst>
              <a:gd name="adj" fmla="val 9677"/>
            </a:avLst>
          </a:prstGeom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cell-56">
            <a:extLst>
              <a:ext uri="{FF2B5EF4-FFF2-40B4-BE49-F238E27FC236}">
                <a16:creationId xmlns:a16="http://schemas.microsoft.com/office/drawing/2014/main" id="{821C91D4-838A-1AAD-770B-D909902343D3}"/>
              </a:ext>
            </a:extLst>
          </p:cNvPr>
          <p:cNvSpPr/>
          <p:nvPr/>
        </p:nvSpPr>
        <p:spPr>
          <a:xfrm>
            <a:off x="3008376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cell-57">
            <a:extLst>
              <a:ext uri="{FF2B5EF4-FFF2-40B4-BE49-F238E27FC236}">
                <a16:creationId xmlns:a16="http://schemas.microsoft.com/office/drawing/2014/main" id="{7C52253D-E9F4-B809-5731-5DC518AF6A4C}"/>
              </a:ext>
            </a:extLst>
          </p:cNvPr>
          <p:cNvSpPr/>
          <p:nvPr/>
        </p:nvSpPr>
        <p:spPr>
          <a:xfrm>
            <a:off x="3172968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cell-58">
            <a:extLst>
              <a:ext uri="{FF2B5EF4-FFF2-40B4-BE49-F238E27FC236}">
                <a16:creationId xmlns:a16="http://schemas.microsoft.com/office/drawing/2014/main" id="{0288F69F-A669-A94D-0AF4-9F0751D44A15}"/>
              </a:ext>
            </a:extLst>
          </p:cNvPr>
          <p:cNvSpPr/>
          <p:nvPr/>
        </p:nvSpPr>
        <p:spPr>
          <a:xfrm>
            <a:off x="3337560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cell-59">
            <a:extLst>
              <a:ext uri="{FF2B5EF4-FFF2-40B4-BE49-F238E27FC236}">
                <a16:creationId xmlns:a16="http://schemas.microsoft.com/office/drawing/2014/main" id="{C2958FD4-E504-7E93-2B68-1D8B6D56E5AE}"/>
              </a:ext>
            </a:extLst>
          </p:cNvPr>
          <p:cNvSpPr/>
          <p:nvPr/>
        </p:nvSpPr>
        <p:spPr>
          <a:xfrm>
            <a:off x="3502152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cell-60">
            <a:extLst>
              <a:ext uri="{FF2B5EF4-FFF2-40B4-BE49-F238E27FC236}">
                <a16:creationId xmlns:a16="http://schemas.microsoft.com/office/drawing/2014/main" id="{BEA5A18B-BFB3-23EB-C36B-DE58BF42903B}"/>
              </a:ext>
            </a:extLst>
          </p:cNvPr>
          <p:cNvSpPr/>
          <p:nvPr/>
        </p:nvSpPr>
        <p:spPr>
          <a:xfrm>
            <a:off x="3666744" y="4754880"/>
            <a:ext cx="109728" cy="42062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-61">
            <a:extLst>
              <a:ext uri="{FF2B5EF4-FFF2-40B4-BE49-F238E27FC236}">
                <a16:creationId xmlns:a16="http://schemas.microsoft.com/office/drawing/2014/main" id="{2454285E-3C36-15C6-6A0B-6D65B9752024}"/>
              </a:ext>
            </a:extLst>
          </p:cNvPr>
          <p:cNvSpPr txBox="1"/>
          <p:nvPr/>
        </p:nvSpPr>
        <p:spPr>
          <a:xfrm>
            <a:off x="548640" y="54864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Cells → modules → pack. A faulty module can be swapped, but the extra frames waste space and add parts.</a:t>
            </a:r>
            <a:endParaRPr lang="en-US" sz="1600" b="1" dirty="0">
              <a:latin typeface="+mj-lt"/>
            </a:endParaRPr>
          </a:p>
        </p:txBody>
      </p:sp>
      <p:sp>
        <p:nvSpPr>
          <p:cNvPr id="66" name="text-62">
            <a:extLst>
              <a:ext uri="{FF2B5EF4-FFF2-40B4-BE49-F238E27FC236}">
                <a16:creationId xmlns:a16="http://schemas.microsoft.com/office/drawing/2014/main" id="{03F5639D-27EF-1618-DBBF-91A1F267072C}"/>
              </a:ext>
            </a:extLst>
          </p:cNvPr>
          <p:cNvSpPr txBox="1"/>
          <p:nvPr/>
        </p:nvSpPr>
        <p:spPr>
          <a:xfrm>
            <a:off x="4343400" y="4206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Cell-to-pack (CTP)</a:t>
            </a:r>
            <a:endParaRPr lang="en-US" dirty="0"/>
          </a:p>
        </p:txBody>
      </p:sp>
      <p:sp>
        <p:nvSpPr>
          <p:cNvPr id="67" name="pack-63">
            <a:extLst>
              <a:ext uri="{FF2B5EF4-FFF2-40B4-BE49-F238E27FC236}">
                <a16:creationId xmlns:a16="http://schemas.microsoft.com/office/drawing/2014/main" id="{239D3ADE-CA7A-BFDE-91F3-76A54FEDA182}"/>
              </a:ext>
            </a:extLst>
          </p:cNvPr>
          <p:cNvSpPr/>
          <p:nvPr/>
        </p:nvSpPr>
        <p:spPr>
          <a:xfrm>
            <a:off x="4434840" y="4590288"/>
            <a:ext cx="3291840" cy="749808"/>
          </a:xfrm>
          <a:prstGeom prst="rect">
            <a:avLst/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cell-64">
            <a:extLst>
              <a:ext uri="{FF2B5EF4-FFF2-40B4-BE49-F238E27FC236}">
                <a16:creationId xmlns:a16="http://schemas.microsoft.com/office/drawing/2014/main" id="{2DA10018-67B1-27E7-1584-082440ABF37C}"/>
              </a:ext>
            </a:extLst>
          </p:cNvPr>
          <p:cNvSpPr/>
          <p:nvPr/>
        </p:nvSpPr>
        <p:spPr>
          <a:xfrm>
            <a:off x="4562856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cell-65">
            <a:extLst>
              <a:ext uri="{FF2B5EF4-FFF2-40B4-BE49-F238E27FC236}">
                <a16:creationId xmlns:a16="http://schemas.microsoft.com/office/drawing/2014/main" id="{6E5736F5-4C6C-ACC8-CCE1-9B8BBCD62BDD}"/>
              </a:ext>
            </a:extLst>
          </p:cNvPr>
          <p:cNvSpPr/>
          <p:nvPr/>
        </p:nvSpPr>
        <p:spPr>
          <a:xfrm>
            <a:off x="4769510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cell-66">
            <a:extLst>
              <a:ext uri="{FF2B5EF4-FFF2-40B4-BE49-F238E27FC236}">
                <a16:creationId xmlns:a16="http://schemas.microsoft.com/office/drawing/2014/main" id="{B0186FF9-BD9F-D47F-1311-259312B497D7}"/>
              </a:ext>
            </a:extLst>
          </p:cNvPr>
          <p:cNvSpPr/>
          <p:nvPr/>
        </p:nvSpPr>
        <p:spPr>
          <a:xfrm>
            <a:off x="4976165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cell-67">
            <a:extLst>
              <a:ext uri="{FF2B5EF4-FFF2-40B4-BE49-F238E27FC236}">
                <a16:creationId xmlns:a16="http://schemas.microsoft.com/office/drawing/2014/main" id="{E0DB48CE-6F9F-9045-CA28-CB96C6F23D81}"/>
              </a:ext>
            </a:extLst>
          </p:cNvPr>
          <p:cNvSpPr/>
          <p:nvPr/>
        </p:nvSpPr>
        <p:spPr>
          <a:xfrm>
            <a:off x="5182819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cell-68">
            <a:extLst>
              <a:ext uri="{FF2B5EF4-FFF2-40B4-BE49-F238E27FC236}">
                <a16:creationId xmlns:a16="http://schemas.microsoft.com/office/drawing/2014/main" id="{CAB2AF49-C4F8-FD13-3E6B-0439ACC884E7}"/>
              </a:ext>
            </a:extLst>
          </p:cNvPr>
          <p:cNvSpPr/>
          <p:nvPr/>
        </p:nvSpPr>
        <p:spPr>
          <a:xfrm>
            <a:off x="5389474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cell-69">
            <a:extLst>
              <a:ext uri="{FF2B5EF4-FFF2-40B4-BE49-F238E27FC236}">
                <a16:creationId xmlns:a16="http://schemas.microsoft.com/office/drawing/2014/main" id="{38655019-022D-3783-57A4-30B4D355D09E}"/>
              </a:ext>
            </a:extLst>
          </p:cNvPr>
          <p:cNvSpPr/>
          <p:nvPr/>
        </p:nvSpPr>
        <p:spPr>
          <a:xfrm>
            <a:off x="5596128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cell-70">
            <a:extLst>
              <a:ext uri="{FF2B5EF4-FFF2-40B4-BE49-F238E27FC236}">
                <a16:creationId xmlns:a16="http://schemas.microsoft.com/office/drawing/2014/main" id="{A10F58F9-D469-7C92-D0BE-5B063B9B773E}"/>
              </a:ext>
            </a:extLst>
          </p:cNvPr>
          <p:cNvSpPr/>
          <p:nvPr/>
        </p:nvSpPr>
        <p:spPr>
          <a:xfrm>
            <a:off x="5802782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cell-71">
            <a:extLst>
              <a:ext uri="{FF2B5EF4-FFF2-40B4-BE49-F238E27FC236}">
                <a16:creationId xmlns:a16="http://schemas.microsoft.com/office/drawing/2014/main" id="{0E82658E-7DAB-54AF-6259-02225F2251AF}"/>
              </a:ext>
            </a:extLst>
          </p:cNvPr>
          <p:cNvSpPr/>
          <p:nvPr/>
        </p:nvSpPr>
        <p:spPr>
          <a:xfrm>
            <a:off x="6009437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cell-72">
            <a:extLst>
              <a:ext uri="{FF2B5EF4-FFF2-40B4-BE49-F238E27FC236}">
                <a16:creationId xmlns:a16="http://schemas.microsoft.com/office/drawing/2014/main" id="{D919A058-0404-E95E-9D3A-028C83677AB9}"/>
              </a:ext>
            </a:extLst>
          </p:cNvPr>
          <p:cNvSpPr/>
          <p:nvPr/>
        </p:nvSpPr>
        <p:spPr>
          <a:xfrm>
            <a:off x="6216091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cell-73">
            <a:extLst>
              <a:ext uri="{FF2B5EF4-FFF2-40B4-BE49-F238E27FC236}">
                <a16:creationId xmlns:a16="http://schemas.microsoft.com/office/drawing/2014/main" id="{11264AA5-EAD3-E1B2-A695-3D437DBF6F8B}"/>
              </a:ext>
            </a:extLst>
          </p:cNvPr>
          <p:cNvSpPr/>
          <p:nvPr/>
        </p:nvSpPr>
        <p:spPr>
          <a:xfrm>
            <a:off x="6422746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cell-74">
            <a:extLst>
              <a:ext uri="{FF2B5EF4-FFF2-40B4-BE49-F238E27FC236}">
                <a16:creationId xmlns:a16="http://schemas.microsoft.com/office/drawing/2014/main" id="{7BDFFCB9-1ADA-2AFA-A1A9-31FC0C58D2C6}"/>
              </a:ext>
            </a:extLst>
          </p:cNvPr>
          <p:cNvSpPr/>
          <p:nvPr/>
        </p:nvSpPr>
        <p:spPr>
          <a:xfrm>
            <a:off x="6629400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cell-75">
            <a:extLst>
              <a:ext uri="{FF2B5EF4-FFF2-40B4-BE49-F238E27FC236}">
                <a16:creationId xmlns:a16="http://schemas.microsoft.com/office/drawing/2014/main" id="{54F8F844-CC65-58A7-C4B1-E8054F9397A9}"/>
              </a:ext>
            </a:extLst>
          </p:cNvPr>
          <p:cNvSpPr/>
          <p:nvPr/>
        </p:nvSpPr>
        <p:spPr>
          <a:xfrm>
            <a:off x="6836054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cell-76">
            <a:extLst>
              <a:ext uri="{FF2B5EF4-FFF2-40B4-BE49-F238E27FC236}">
                <a16:creationId xmlns:a16="http://schemas.microsoft.com/office/drawing/2014/main" id="{9889429C-506E-C8EF-E966-448CE712707D}"/>
              </a:ext>
            </a:extLst>
          </p:cNvPr>
          <p:cNvSpPr/>
          <p:nvPr/>
        </p:nvSpPr>
        <p:spPr>
          <a:xfrm>
            <a:off x="7042709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cell-77">
            <a:extLst>
              <a:ext uri="{FF2B5EF4-FFF2-40B4-BE49-F238E27FC236}">
                <a16:creationId xmlns:a16="http://schemas.microsoft.com/office/drawing/2014/main" id="{215B16BE-35E8-E0BC-839B-14FFB93937C1}"/>
              </a:ext>
            </a:extLst>
          </p:cNvPr>
          <p:cNvSpPr/>
          <p:nvPr/>
        </p:nvSpPr>
        <p:spPr>
          <a:xfrm>
            <a:off x="7249363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cell-78">
            <a:extLst>
              <a:ext uri="{FF2B5EF4-FFF2-40B4-BE49-F238E27FC236}">
                <a16:creationId xmlns:a16="http://schemas.microsoft.com/office/drawing/2014/main" id="{072B9A83-896E-3908-4035-BB509218A6E2}"/>
              </a:ext>
            </a:extLst>
          </p:cNvPr>
          <p:cNvSpPr/>
          <p:nvPr/>
        </p:nvSpPr>
        <p:spPr>
          <a:xfrm>
            <a:off x="7456018" y="4663440"/>
            <a:ext cx="128016" cy="6035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-79">
            <a:extLst>
              <a:ext uri="{FF2B5EF4-FFF2-40B4-BE49-F238E27FC236}">
                <a16:creationId xmlns:a16="http://schemas.microsoft.com/office/drawing/2014/main" id="{BD645AA2-20A6-B0B9-0DD6-78131BFF7221}"/>
              </a:ext>
            </a:extLst>
          </p:cNvPr>
          <p:cNvSpPr txBox="1"/>
          <p:nvPr/>
        </p:nvSpPr>
        <p:spPr>
          <a:xfrm>
            <a:off x="4343400" y="54864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No modules: about 15–30% more room for cells, fewer parts, lower cost. Harder to repair. BYD Blade, CATL Qilin.</a:t>
            </a:r>
            <a:endParaRPr lang="en-US" sz="1600" b="1" dirty="0">
              <a:latin typeface="+mj-lt"/>
            </a:endParaRPr>
          </a:p>
        </p:txBody>
      </p:sp>
      <p:sp>
        <p:nvSpPr>
          <p:cNvPr id="84" name="text-80">
            <a:extLst>
              <a:ext uri="{FF2B5EF4-FFF2-40B4-BE49-F238E27FC236}">
                <a16:creationId xmlns:a16="http://schemas.microsoft.com/office/drawing/2014/main" id="{3FDABA6E-0426-D4E0-B4B9-83AFB7B3D3ED}"/>
              </a:ext>
            </a:extLst>
          </p:cNvPr>
          <p:cNvSpPr txBox="1"/>
          <p:nvPr/>
        </p:nvSpPr>
        <p:spPr>
          <a:xfrm>
            <a:off x="8138160" y="4206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Cell-to-body (CTB)</a:t>
            </a:r>
            <a:endParaRPr lang="en-US" dirty="0"/>
          </a:p>
        </p:txBody>
      </p:sp>
      <p:sp>
        <p:nvSpPr>
          <p:cNvPr id="85" name="cabin-81">
            <a:extLst>
              <a:ext uri="{FF2B5EF4-FFF2-40B4-BE49-F238E27FC236}">
                <a16:creationId xmlns:a16="http://schemas.microsoft.com/office/drawing/2014/main" id="{43C97D88-79B1-4F4E-64E5-0622F48FC3A4}"/>
              </a:ext>
            </a:extLst>
          </p:cNvPr>
          <p:cNvSpPr/>
          <p:nvPr/>
        </p:nvSpPr>
        <p:spPr>
          <a:xfrm>
            <a:off x="8869680" y="4553712"/>
            <a:ext cx="2011680" cy="365760"/>
          </a:xfrm>
          <a:prstGeom prst="roundRect">
            <a:avLst>
              <a:gd name="adj" fmla="val 37500"/>
            </a:avLst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wheel-82">
            <a:extLst>
              <a:ext uri="{FF2B5EF4-FFF2-40B4-BE49-F238E27FC236}">
                <a16:creationId xmlns:a16="http://schemas.microsoft.com/office/drawing/2014/main" id="{93BE5109-67B9-8A85-A4EA-36C40F317831}"/>
              </a:ext>
            </a:extLst>
          </p:cNvPr>
          <p:cNvSpPr/>
          <p:nvPr/>
        </p:nvSpPr>
        <p:spPr>
          <a:xfrm>
            <a:off x="8549640" y="502920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wheel-83">
            <a:extLst>
              <a:ext uri="{FF2B5EF4-FFF2-40B4-BE49-F238E27FC236}">
                <a16:creationId xmlns:a16="http://schemas.microsoft.com/office/drawing/2014/main" id="{47619BFD-5825-338E-38EF-B0403FCBCDF1}"/>
              </a:ext>
            </a:extLst>
          </p:cNvPr>
          <p:cNvSpPr/>
          <p:nvPr/>
        </p:nvSpPr>
        <p:spPr>
          <a:xfrm>
            <a:off x="10835640" y="502920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floor-pack-84">
            <a:extLst>
              <a:ext uri="{FF2B5EF4-FFF2-40B4-BE49-F238E27FC236}">
                <a16:creationId xmlns:a16="http://schemas.microsoft.com/office/drawing/2014/main" id="{05D80598-68F7-7F01-B8EE-3F74258DABBD}"/>
              </a:ext>
            </a:extLst>
          </p:cNvPr>
          <p:cNvSpPr/>
          <p:nvPr/>
        </p:nvSpPr>
        <p:spPr>
          <a:xfrm>
            <a:off x="8412480" y="4919472"/>
            <a:ext cx="2926080" cy="274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-85">
            <a:extLst>
              <a:ext uri="{FF2B5EF4-FFF2-40B4-BE49-F238E27FC236}">
                <a16:creationId xmlns:a16="http://schemas.microsoft.com/office/drawing/2014/main" id="{9F770F1B-085C-BF0F-E35B-B60765E34E99}"/>
              </a:ext>
            </a:extLst>
          </p:cNvPr>
          <p:cNvSpPr txBox="1"/>
          <p:nvPr/>
        </p:nvSpPr>
        <p:spPr>
          <a:xfrm>
            <a:off x="8412480" y="4919472"/>
            <a:ext cx="292608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pack = car floor</a:t>
            </a:r>
            <a:endParaRPr lang="en-US" sz="1000" dirty="0"/>
          </a:p>
        </p:txBody>
      </p:sp>
      <p:sp>
        <p:nvSpPr>
          <p:cNvPr id="90" name="text-86">
            <a:extLst>
              <a:ext uri="{FF2B5EF4-FFF2-40B4-BE49-F238E27FC236}">
                <a16:creationId xmlns:a16="http://schemas.microsoft.com/office/drawing/2014/main" id="{610758C1-E1A2-4A88-456F-E13383ECA373}"/>
              </a:ext>
            </a:extLst>
          </p:cNvPr>
          <p:cNvSpPr txBox="1"/>
          <p:nvPr/>
        </p:nvSpPr>
        <p:spPr>
          <a:xfrm>
            <a:off x="8138160" y="54864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The pack lid is the car floor and carries load. Lighter, stiffer body; very hard to repair or reuse. BYD Seal, Tesla Model Y.</a:t>
            </a:r>
            <a:endParaRPr lang="en-US" sz="1600" b="1" dirty="0">
              <a:latin typeface="+mj-lt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83A502AD-D55B-B025-FCE1-DD64AADE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060" t="18126" r="1903" b="29652"/>
          <a:stretch>
            <a:fillRect/>
          </a:stretch>
        </p:blipFill>
        <p:spPr>
          <a:xfrm>
            <a:off x="7863840" y="2061896"/>
            <a:ext cx="1518247" cy="77281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ABF3BF5-01E7-D90D-62CD-9F0C6E079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4" t="-2124" r="42429" b="26175"/>
          <a:stretch>
            <a:fillRect/>
          </a:stretch>
        </p:blipFill>
        <p:spPr>
          <a:xfrm>
            <a:off x="4338202" y="1807910"/>
            <a:ext cx="1305287" cy="132194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2C0F6ED-645B-FAC7-FA23-F6DD5CD369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640" b="25940"/>
          <a:stretch>
            <a:fillRect/>
          </a:stretch>
        </p:blipFill>
        <p:spPr>
          <a:xfrm>
            <a:off x="465963" y="1732156"/>
            <a:ext cx="1244346" cy="1453564"/>
          </a:xfrm>
          <a:prstGeom prst="rect">
            <a:avLst/>
          </a:prstGeom>
        </p:spPr>
      </p:pic>
      <p:sp>
        <p:nvSpPr>
          <p:cNvPr id="97" name="cell-44">
            <a:extLst>
              <a:ext uri="{FF2B5EF4-FFF2-40B4-BE49-F238E27FC236}">
                <a16:creationId xmlns:a16="http://schemas.microsoft.com/office/drawing/2014/main" id="{E4A35A82-D3B4-AD84-60AB-6118D63FC4C1}"/>
              </a:ext>
            </a:extLst>
          </p:cNvPr>
          <p:cNvSpPr/>
          <p:nvPr/>
        </p:nvSpPr>
        <p:spPr>
          <a:xfrm>
            <a:off x="901599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cell-45">
            <a:extLst>
              <a:ext uri="{FF2B5EF4-FFF2-40B4-BE49-F238E27FC236}">
                <a16:creationId xmlns:a16="http://schemas.microsoft.com/office/drawing/2014/main" id="{E6D330D6-3CC0-67EB-AA6B-CB3E4BECF4BC}"/>
              </a:ext>
            </a:extLst>
          </p:cNvPr>
          <p:cNvSpPr/>
          <p:nvPr/>
        </p:nvSpPr>
        <p:spPr>
          <a:xfrm>
            <a:off x="1066191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cell-46">
            <a:extLst>
              <a:ext uri="{FF2B5EF4-FFF2-40B4-BE49-F238E27FC236}">
                <a16:creationId xmlns:a16="http://schemas.microsoft.com/office/drawing/2014/main" id="{1F821127-E13E-9B55-E450-D4D5E96208AB}"/>
              </a:ext>
            </a:extLst>
          </p:cNvPr>
          <p:cNvSpPr/>
          <p:nvPr/>
        </p:nvSpPr>
        <p:spPr>
          <a:xfrm>
            <a:off x="1230783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cell-47">
            <a:extLst>
              <a:ext uri="{FF2B5EF4-FFF2-40B4-BE49-F238E27FC236}">
                <a16:creationId xmlns:a16="http://schemas.microsoft.com/office/drawing/2014/main" id="{7EC0B793-4AD5-7F4E-D98D-F429BFC542A7}"/>
              </a:ext>
            </a:extLst>
          </p:cNvPr>
          <p:cNvSpPr/>
          <p:nvPr/>
        </p:nvSpPr>
        <p:spPr>
          <a:xfrm>
            <a:off x="1395375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cell-48">
            <a:extLst>
              <a:ext uri="{FF2B5EF4-FFF2-40B4-BE49-F238E27FC236}">
                <a16:creationId xmlns:a16="http://schemas.microsoft.com/office/drawing/2014/main" id="{7DA1C380-18D1-400C-7E87-E0AB21E27022}"/>
              </a:ext>
            </a:extLst>
          </p:cNvPr>
          <p:cNvSpPr/>
          <p:nvPr/>
        </p:nvSpPr>
        <p:spPr>
          <a:xfrm>
            <a:off x="1559967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cell-50">
            <a:extLst>
              <a:ext uri="{FF2B5EF4-FFF2-40B4-BE49-F238E27FC236}">
                <a16:creationId xmlns:a16="http://schemas.microsoft.com/office/drawing/2014/main" id="{30B58A0F-C925-8FE1-AA2A-8AC1F839F958}"/>
              </a:ext>
            </a:extLst>
          </p:cNvPr>
          <p:cNvSpPr/>
          <p:nvPr/>
        </p:nvSpPr>
        <p:spPr>
          <a:xfrm>
            <a:off x="1971447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cell-51">
            <a:extLst>
              <a:ext uri="{FF2B5EF4-FFF2-40B4-BE49-F238E27FC236}">
                <a16:creationId xmlns:a16="http://schemas.microsoft.com/office/drawing/2014/main" id="{C2E089AC-252B-D6FB-1D59-3CFF4057EC90}"/>
              </a:ext>
            </a:extLst>
          </p:cNvPr>
          <p:cNvSpPr/>
          <p:nvPr/>
        </p:nvSpPr>
        <p:spPr>
          <a:xfrm>
            <a:off x="2136039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cell-52">
            <a:extLst>
              <a:ext uri="{FF2B5EF4-FFF2-40B4-BE49-F238E27FC236}">
                <a16:creationId xmlns:a16="http://schemas.microsoft.com/office/drawing/2014/main" id="{3C37AB5E-0499-A0B4-EC53-99021A2575F0}"/>
              </a:ext>
            </a:extLst>
          </p:cNvPr>
          <p:cNvSpPr/>
          <p:nvPr/>
        </p:nvSpPr>
        <p:spPr>
          <a:xfrm>
            <a:off x="2300631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cell-53">
            <a:extLst>
              <a:ext uri="{FF2B5EF4-FFF2-40B4-BE49-F238E27FC236}">
                <a16:creationId xmlns:a16="http://schemas.microsoft.com/office/drawing/2014/main" id="{8D5E4B10-00ED-BEB3-4786-43E93416FC74}"/>
              </a:ext>
            </a:extLst>
          </p:cNvPr>
          <p:cNvSpPr/>
          <p:nvPr/>
        </p:nvSpPr>
        <p:spPr>
          <a:xfrm>
            <a:off x="2465223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cell-54">
            <a:extLst>
              <a:ext uri="{FF2B5EF4-FFF2-40B4-BE49-F238E27FC236}">
                <a16:creationId xmlns:a16="http://schemas.microsoft.com/office/drawing/2014/main" id="{1CCC8713-F5AA-1FED-6569-AD90F27F734A}"/>
              </a:ext>
            </a:extLst>
          </p:cNvPr>
          <p:cNvSpPr/>
          <p:nvPr/>
        </p:nvSpPr>
        <p:spPr>
          <a:xfrm>
            <a:off x="2629815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cell-56">
            <a:extLst>
              <a:ext uri="{FF2B5EF4-FFF2-40B4-BE49-F238E27FC236}">
                <a16:creationId xmlns:a16="http://schemas.microsoft.com/office/drawing/2014/main" id="{FA76FCFD-AC18-54D8-F83A-CB3613EF8C5A}"/>
              </a:ext>
            </a:extLst>
          </p:cNvPr>
          <p:cNvSpPr/>
          <p:nvPr/>
        </p:nvSpPr>
        <p:spPr>
          <a:xfrm>
            <a:off x="3041295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cell-57">
            <a:extLst>
              <a:ext uri="{FF2B5EF4-FFF2-40B4-BE49-F238E27FC236}">
                <a16:creationId xmlns:a16="http://schemas.microsoft.com/office/drawing/2014/main" id="{1A9E8F68-022A-7CE9-FE8A-6AACC5EF53E3}"/>
              </a:ext>
            </a:extLst>
          </p:cNvPr>
          <p:cNvSpPr/>
          <p:nvPr/>
        </p:nvSpPr>
        <p:spPr>
          <a:xfrm>
            <a:off x="3205887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cell-58">
            <a:extLst>
              <a:ext uri="{FF2B5EF4-FFF2-40B4-BE49-F238E27FC236}">
                <a16:creationId xmlns:a16="http://schemas.microsoft.com/office/drawing/2014/main" id="{D20AAB75-73F9-6B3C-CBA5-D3E78895CEDD}"/>
              </a:ext>
            </a:extLst>
          </p:cNvPr>
          <p:cNvSpPr/>
          <p:nvPr/>
        </p:nvSpPr>
        <p:spPr>
          <a:xfrm>
            <a:off x="3370479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cell-59">
            <a:extLst>
              <a:ext uri="{FF2B5EF4-FFF2-40B4-BE49-F238E27FC236}">
                <a16:creationId xmlns:a16="http://schemas.microsoft.com/office/drawing/2014/main" id="{1603EDAC-F6E8-0178-8EBA-EC5E82BCF319}"/>
              </a:ext>
            </a:extLst>
          </p:cNvPr>
          <p:cNvSpPr/>
          <p:nvPr/>
        </p:nvSpPr>
        <p:spPr>
          <a:xfrm>
            <a:off x="3535071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cell-60">
            <a:extLst>
              <a:ext uri="{FF2B5EF4-FFF2-40B4-BE49-F238E27FC236}">
                <a16:creationId xmlns:a16="http://schemas.microsoft.com/office/drawing/2014/main" id="{97B6ABD2-48D9-EF6B-3546-2C5B8492456D}"/>
              </a:ext>
            </a:extLst>
          </p:cNvPr>
          <p:cNvSpPr/>
          <p:nvPr/>
        </p:nvSpPr>
        <p:spPr>
          <a:xfrm>
            <a:off x="3699663" y="4773168"/>
            <a:ext cx="109728" cy="420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138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46495-5E34-6414-2802-71B6CFC1E22D}"/>
              </a:ext>
            </a:extLst>
          </p:cNvPr>
          <p:cNvSpPr txBox="1"/>
          <p:nvPr/>
        </p:nvSpPr>
        <p:spPr>
          <a:xfrm>
            <a:off x="195874" y="173254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Battery Management System </a:t>
            </a:r>
            <a:endParaRPr sz="2600" b="1" i="0" dirty="0">
              <a:solidFill>
                <a:srgbClr val="1F4E79"/>
              </a:solidFill>
              <a:latin typeface="+mj-lt"/>
            </a:endParaRPr>
          </a:p>
        </p:txBody>
      </p:sp>
      <p:sp>
        <p:nvSpPr>
          <p:cNvPr id="5" name="pack-1">
            <a:extLst>
              <a:ext uri="{FF2B5EF4-FFF2-40B4-BE49-F238E27FC236}">
                <a16:creationId xmlns:a16="http://schemas.microsoft.com/office/drawing/2014/main" id="{B0486BE6-A56D-F7D6-0B59-7F65EE7A6163}"/>
              </a:ext>
            </a:extLst>
          </p:cNvPr>
          <p:cNvSpPr/>
          <p:nvPr/>
        </p:nvSpPr>
        <p:spPr>
          <a:xfrm>
            <a:off x="365760" y="749808"/>
            <a:ext cx="2926080" cy="2788920"/>
          </a:xfrm>
          <a:prstGeom prst="rect">
            <a:avLst/>
          </a:prstGeom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-2">
            <a:extLst>
              <a:ext uri="{FF2B5EF4-FFF2-40B4-BE49-F238E27FC236}">
                <a16:creationId xmlns:a16="http://schemas.microsoft.com/office/drawing/2014/main" id="{9931ECE1-16C2-E4BB-1658-FAAA7B9311AF}"/>
              </a:ext>
            </a:extLst>
          </p:cNvPr>
          <p:cNvSpPr txBox="1"/>
          <p:nvPr/>
        </p:nvSpPr>
        <p:spPr>
          <a:xfrm>
            <a:off x="502920" y="813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Battery pack</a:t>
            </a:r>
            <a:endParaRPr lang="en-US" sz="1300" dirty="0"/>
          </a:p>
        </p:txBody>
      </p:sp>
      <p:sp>
        <p:nvSpPr>
          <p:cNvPr id="9" name="cell-3">
            <a:extLst>
              <a:ext uri="{FF2B5EF4-FFF2-40B4-BE49-F238E27FC236}">
                <a16:creationId xmlns:a16="http://schemas.microsoft.com/office/drawing/2014/main" id="{E3382AC8-D089-7162-4AA8-E6FA61F094FC}"/>
              </a:ext>
            </a:extLst>
          </p:cNvPr>
          <p:cNvSpPr/>
          <p:nvPr/>
        </p:nvSpPr>
        <p:spPr>
          <a:xfrm>
            <a:off x="530352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ell-4">
            <a:extLst>
              <a:ext uri="{FF2B5EF4-FFF2-40B4-BE49-F238E27FC236}">
                <a16:creationId xmlns:a16="http://schemas.microsoft.com/office/drawing/2014/main" id="{DC8E0ECE-CD78-9103-5023-1098415AF3A3}"/>
              </a:ext>
            </a:extLst>
          </p:cNvPr>
          <p:cNvSpPr/>
          <p:nvPr/>
        </p:nvSpPr>
        <p:spPr>
          <a:xfrm>
            <a:off x="832104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cell-5">
            <a:extLst>
              <a:ext uri="{FF2B5EF4-FFF2-40B4-BE49-F238E27FC236}">
                <a16:creationId xmlns:a16="http://schemas.microsoft.com/office/drawing/2014/main" id="{E146E372-AD43-57F9-4031-DEF442B43168}"/>
              </a:ext>
            </a:extLst>
          </p:cNvPr>
          <p:cNvSpPr/>
          <p:nvPr/>
        </p:nvSpPr>
        <p:spPr>
          <a:xfrm>
            <a:off x="1133856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cell-6">
            <a:extLst>
              <a:ext uri="{FF2B5EF4-FFF2-40B4-BE49-F238E27FC236}">
                <a16:creationId xmlns:a16="http://schemas.microsoft.com/office/drawing/2014/main" id="{E7AD3880-5190-D2A6-7756-029D2C43E675}"/>
              </a:ext>
            </a:extLst>
          </p:cNvPr>
          <p:cNvSpPr/>
          <p:nvPr/>
        </p:nvSpPr>
        <p:spPr>
          <a:xfrm>
            <a:off x="1435608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cell-7">
            <a:extLst>
              <a:ext uri="{FF2B5EF4-FFF2-40B4-BE49-F238E27FC236}">
                <a16:creationId xmlns:a16="http://schemas.microsoft.com/office/drawing/2014/main" id="{8BB260A5-A837-D0A7-FE77-EDA4DBA318BD}"/>
              </a:ext>
            </a:extLst>
          </p:cNvPr>
          <p:cNvSpPr/>
          <p:nvPr/>
        </p:nvSpPr>
        <p:spPr>
          <a:xfrm>
            <a:off x="1737360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cell-8">
            <a:extLst>
              <a:ext uri="{FF2B5EF4-FFF2-40B4-BE49-F238E27FC236}">
                <a16:creationId xmlns:a16="http://schemas.microsoft.com/office/drawing/2014/main" id="{C0AB6CED-6922-B148-1101-12EDFE7144F3}"/>
              </a:ext>
            </a:extLst>
          </p:cNvPr>
          <p:cNvSpPr/>
          <p:nvPr/>
        </p:nvSpPr>
        <p:spPr>
          <a:xfrm>
            <a:off x="2039112" y="125272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mu-9">
            <a:extLst>
              <a:ext uri="{FF2B5EF4-FFF2-40B4-BE49-F238E27FC236}">
                <a16:creationId xmlns:a16="http://schemas.microsoft.com/office/drawing/2014/main" id="{10918E35-298B-51DC-3C39-A34D6910A106}"/>
              </a:ext>
            </a:extLst>
          </p:cNvPr>
          <p:cNvSpPr/>
          <p:nvPr/>
        </p:nvSpPr>
        <p:spPr>
          <a:xfrm>
            <a:off x="2423160" y="1280160"/>
            <a:ext cx="731520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-10">
            <a:extLst>
              <a:ext uri="{FF2B5EF4-FFF2-40B4-BE49-F238E27FC236}">
                <a16:creationId xmlns:a16="http://schemas.microsoft.com/office/drawing/2014/main" id="{555A7185-949D-545E-7A2C-54895904AAE3}"/>
              </a:ext>
            </a:extLst>
          </p:cNvPr>
          <p:cNvSpPr txBox="1"/>
          <p:nvPr/>
        </p:nvSpPr>
        <p:spPr>
          <a:xfrm>
            <a:off x="2423160" y="12801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CMU</a:t>
            </a:r>
            <a:endParaRPr lang="en-US" sz="1100" dirty="0"/>
          </a:p>
        </p:txBody>
      </p:sp>
      <p:sp>
        <p:nvSpPr>
          <p:cNvPr id="25" name="line-11">
            <a:extLst>
              <a:ext uri="{FF2B5EF4-FFF2-40B4-BE49-F238E27FC236}">
                <a16:creationId xmlns:a16="http://schemas.microsoft.com/office/drawing/2014/main" id="{0E5092D4-5366-2090-B419-612355ABF333}"/>
              </a:ext>
            </a:extLst>
          </p:cNvPr>
          <p:cNvSpPr/>
          <p:nvPr/>
        </p:nvSpPr>
        <p:spPr>
          <a:xfrm>
            <a:off x="3154680" y="1481328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cell-12">
            <a:extLst>
              <a:ext uri="{FF2B5EF4-FFF2-40B4-BE49-F238E27FC236}">
                <a16:creationId xmlns:a16="http://schemas.microsoft.com/office/drawing/2014/main" id="{071F146C-578A-C89C-E577-FA3AB3F4FC5F}"/>
              </a:ext>
            </a:extLst>
          </p:cNvPr>
          <p:cNvSpPr/>
          <p:nvPr/>
        </p:nvSpPr>
        <p:spPr>
          <a:xfrm>
            <a:off x="530352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cell-13">
            <a:extLst>
              <a:ext uri="{FF2B5EF4-FFF2-40B4-BE49-F238E27FC236}">
                <a16:creationId xmlns:a16="http://schemas.microsoft.com/office/drawing/2014/main" id="{5D0332AB-0483-BB86-1EA6-EF878D5ED80F}"/>
              </a:ext>
            </a:extLst>
          </p:cNvPr>
          <p:cNvSpPr/>
          <p:nvPr/>
        </p:nvSpPr>
        <p:spPr>
          <a:xfrm>
            <a:off x="832104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cell-14">
            <a:extLst>
              <a:ext uri="{FF2B5EF4-FFF2-40B4-BE49-F238E27FC236}">
                <a16:creationId xmlns:a16="http://schemas.microsoft.com/office/drawing/2014/main" id="{FAF5D93A-8510-91C3-098A-7DAE7078EA9A}"/>
              </a:ext>
            </a:extLst>
          </p:cNvPr>
          <p:cNvSpPr/>
          <p:nvPr/>
        </p:nvSpPr>
        <p:spPr>
          <a:xfrm>
            <a:off x="1133856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cell-15">
            <a:extLst>
              <a:ext uri="{FF2B5EF4-FFF2-40B4-BE49-F238E27FC236}">
                <a16:creationId xmlns:a16="http://schemas.microsoft.com/office/drawing/2014/main" id="{A71DD7B0-A872-36B3-0F12-AF52769FEA26}"/>
              </a:ext>
            </a:extLst>
          </p:cNvPr>
          <p:cNvSpPr/>
          <p:nvPr/>
        </p:nvSpPr>
        <p:spPr>
          <a:xfrm>
            <a:off x="1435608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cell-16">
            <a:extLst>
              <a:ext uri="{FF2B5EF4-FFF2-40B4-BE49-F238E27FC236}">
                <a16:creationId xmlns:a16="http://schemas.microsoft.com/office/drawing/2014/main" id="{9C2DC3C6-3223-BE79-CCC7-773DAFDA63A1}"/>
              </a:ext>
            </a:extLst>
          </p:cNvPr>
          <p:cNvSpPr/>
          <p:nvPr/>
        </p:nvSpPr>
        <p:spPr>
          <a:xfrm>
            <a:off x="1737360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cell-17">
            <a:extLst>
              <a:ext uri="{FF2B5EF4-FFF2-40B4-BE49-F238E27FC236}">
                <a16:creationId xmlns:a16="http://schemas.microsoft.com/office/drawing/2014/main" id="{D0596463-8A3D-8023-D653-8A9713143BFB}"/>
              </a:ext>
            </a:extLst>
          </p:cNvPr>
          <p:cNvSpPr/>
          <p:nvPr/>
        </p:nvSpPr>
        <p:spPr>
          <a:xfrm>
            <a:off x="2039112" y="202996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cmu-18">
            <a:extLst>
              <a:ext uri="{FF2B5EF4-FFF2-40B4-BE49-F238E27FC236}">
                <a16:creationId xmlns:a16="http://schemas.microsoft.com/office/drawing/2014/main" id="{6F5B8785-F6C2-7627-4BED-78A8B9EB9C58}"/>
              </a:ext>
            </a:extLst>
          </p:cNvPr>
          <p:cNvSpPr/>
          <p:nvPr/>
        </p:nvSpPr>
        <p:spPr>
          <a:xfrm>
            <a:off x="2423160" y="2057400"/>
            <a:ext cx="731520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-19">
            <a:extLst>
              <a:ext uri="{FF2B5EF4-FFF2-40B4-BE49-F238E27FC236}">
                <a16:creationId xmlns:a16="http://schemas.microsoft.com/office/drawing/2014/main" id="{50BB5E62-28BD-80C2-7FB3-37714919A6A1}"/>
              </a:ext>
            </a:extLst>
          </p:cNvPr>
          <p:cNvSpPr txBox="1"/>
          <p:nvPr/>
        </p:nvSpPr>
        <p:spPr>
          <a:xfrm>
            <a:off x="2423160" y="20574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CMU</a:t>
            </a:r>
            <a:endParaRPr lang="en-US" sz="1100" dirty="0"/>
          </a:p>
        </p:txBody>
      </p:sp>
      <p:sp>
        <p:nvSpPr>
          <p:cNvPr id="43" name="line-20">
            <a:extLst>
              <a:ext uri="{FF2B5EF4-FFF2-40B4-BE49-F238E27FC236}">
                <a16:creationId xmlns:a16="http://schemas.microsoft.com/office/drawing/2014/main" id="{3CA6BA75-472D-DE81-0B9D-E273920FE20D}"/>
              </a:ext>
            </a:extLst>
          </p:cNvPr>
          <p:cNvSpPr/>
          <p:nvPr/>
        </p:nvSpPr>
        <p:spPr>
          <a:xfrm>
            <a:off x="3154680" y="2258568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cell-21">
            <a:extLst>
              <a:ext uri="{FF2B5EF4-FFF2-40B4-BE49-F238E27FC236}">
                <a16:creationId xmlns:a16="http://schemas.microsoft.com/office/drawing/2014/main" id="{2B6E1ABB-63DE-F0AC-36CF-F09964EEF952}"/>
              </a:ext>
            </a:extLst>
          </p:cNvPr>
          <p:cNvSpPr/>
          <p:nvPr/>
        </p:nvSpPr>
        <p:spPr>
          <a:xfrm>
            <a:off x="530352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cell-22">
            <a:extLst>
              <a:ext uri="{FF2B5EF4-FFF2-40B4-BE49-F238E27FC236}">
                <a16:creationId xmlns:a16="http://schemas.microsoft.com/office/drawing/2014/main" id="{3B5DDBA1-878E-803A-82B2-B4726B5320FE}"/>
              </a:ext>
            </a:extLst>
          </p:cNvPr>
          <p:cNvSpPr/>
          <p:nvPr/>
        </p:nvSpPr>
        <p:spPr>
          <a:xfrm>
            <a:off x="832104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cell-23">
            <a:extLst>
              <a:ext uri="{FF2B5EF4-FFF2-40B4-BE49-F238E27FC236}">
                <a16:creationId xmlns:a16="http://schemas.microsoft.com/office/drawing/2014/main" id="{8D07A7CF-F688-6F25-2C8C-02A5CB112167}"/>
              </a:ext>
            </a:extLst>
          </p:cNvPr>
          <p:cNvSpPr/>
          <p:nvPr/>
        </p:nvSpPr>
        <p:spPr>
          <a:xfrm>
            <a:off x="1133856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cell-24">
            <a:extLst>
              <a:ext uri="{FF2B5EF4-FFF2-40B4-BE49-F238E27FC236}">
                <a16:creationId xmlns:a16="http://schemas.microsoft.com/office/drawing/2014/main" id="{CE8A459C-9761-95C3-28C0-5C183DA80687}"/>
              </a:ext>
            </a:extLst>
          </p:cNvPr>
          <p:cNvSpPr/>
          <p:nvPr/>
        </p:nvSpPr>
        <p:spPr>
          <a:xfrm>
            <a:off x="1435608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cell-25">
            <a:extLst>
              <a:ext uri="{FF2B5EF4-FFF2-40B4-BE49-F238E27FC236}">
                <a16:creationId xmlns:a16="http://schemas.microsoft.com/office/drawing/2014/main" id="{5A91A0CE-B32D-0ABF-7254-7EB5A7C0DFAB}"/>
              </a:ext>
            </a:extLst>
          </p:cNvPr>
          <p:cNvSpPr/>
          <p:nvPr/>
        </p:nvSpPr>
        <p:spPr>
          <a:xfrm>
            <a:off x="1737360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cell-26">
            <a:extLst>
              <a:ext uri="{FF2B5EF4-FFF2-40B4-BE49-F238E27FC236}">
                <a16:creationId xmlns:a16="http://schemas.microsoft.com/office/drawing/2014/main" id="{B84570EE-9D88-6A48-288B-371D032C5B54}"/>
              </a:ext>
            </a:extLst>
          </p:cNvPr>
          <p:cNvSpPr/>
          <p:nvPr/>
        </p:nvSpPr>
        <p:spPr>
          <a:xfrm>
            <a:off x="2039112" y="2807208"/>
            <a:ext cx="219456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cmu-27">
            <a:extLst>
              <a:ext uri="{FF2B5EF4-FFF2-40B4-BE49-F238E27FC236}">
                <a16:creationId xmlns:a16="http://schemas.microsoft.com/office/drawing/2014/main" id="{5B3E6C2E-1BD0-CF2E-1BD1-C41D94B65A73}"/>
              </a:ext>
            </a:extLst>
          </p:cNvPr>
          <p:cNvSpPr/>
          <p:nvPr/>
        </p:nvSpPr>
        <p:spPr>
          <a:xfrm>
            <a:off x="2423160" y="2834640"/>
            <a:ext cx="731520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-28">
            <a:extLst>
              <a:ext uri="{FF2B5EF4-FFF2-40B4-BE49-F238E27FC236}">
                <a16:creationId xmlns:a16="http://schemas.microsoft.com/office/drawing/2014/main" id="{37E9D50A-2E60-DCDA-080D-B71C3C68C9F8}"/>
              </a:ext>
            </a:extLst>
          </p:cNvPr>
          <p:cNvSpPr txBox="1"/>
          <p:nvPr/>
        </p:nvSpPr>
        <p:spPr>
          <a:xfrm>
            <a:off x="2423160" y="283464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CMU</a:t>
            </a:r>
            <a:endParaRPr lang="en-US" sz="1100" dirty="0"/>
          </a:p>
        </p:txBody>
      </p:sp>
      <p:sp>
        <p:nvSpPr>
          <p:cNvPr id="61" name="line-29">
            <a:extLst>
              <a:ext uri="{FF2B5EF4-FFF2-40B4-BE49-F238E27FC236}">
                <a16:creationId xmlns:a16="http://schemas.microsoft.com/office/drawing/2014/main" id="{13EE4B43-D853-3A38-B691-2561FCBEAEFC}"/>
              </a:ext>
            </a:extLst>
          </p:cNvPr>
          <p:cNvSpPr/>
          <p:nvPr/>
        </p:nvSpPr>
        <p:spPr>
          <a:xfrm>
            <a:off x="3154680" y="3035808"/>
            <a:ext cx="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line-30">
            <a:extLst>
              <a:ext uri="{FF2B5EF4-FFF2-40B4-BE49-F238E27FC236}">
                <a16:creationId xmlns:a16="http://schemas.microsoft.com/office/drawing/2014/main" id="{70EBED08-AE27-555C-091D-84262839F25E}"/>
              </a:ext>
            </a:extLst>
          </p:cNvPr>
          <p:cNvSpPr/>
          <p:nvPr/>
        </p:nvSpPr>
        <p:spPr>
          <a:xfrm>
            <a:off x="3566160" y="1481328"/>
            <a:ext cx="0" cy="15544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line-31">
            <a:extLst>
              <a:ext uri="{FF2B5EF4-FFF2-40B4-BE49-F238E27FC236}">
                <a16:creationId xmlns:a16="http://schemas.microsoft.com/office/drawing/2014/main" id="{984D1B8E-DADD-BF59-B521-6BE85E920A70}"/>
              </a:ext>
            </a:extLst>
          </p:cNvPr>
          <p:cNvSpPr/>
          <p:nvPr/>
        </p:nvSpPr>
        <p:spPr>
          <a:xfrm>
            <a:off x="3566160" y="2212848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-32">
            <a:extLst>
              <a:ext uri="{FF2B5EF4-FFF2-40B4-BE49-F238E27FC236}">
                <a16:creationId xmlns:a16="http://schemas.microsoft.com/office/drawing/2014/main" id="{4DE8F9AE-6231-577B-F657-C07ECB68B7A7}"/>
              </a:ext>
            </a:extLst>
          </p:cNvPr>
          <p:cNvSpPr txBox="1"/>
          <p:nvPr/>
        </p:nvSpPr>
        <p:spPr>
          <a:xfrm>
            <a:off x="365760" y="627326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+mj-lt"/>
              </a:rPr>
              <a:t>CMU = cell monitoring unit:</a:t>
            </a:r>
            <a:endParaRPr lang="en-US" sz="1400" dirty="0">
              <a:latin typeface="+mj-lt"/>
            </a:endParaRPr>
          </a:p>
        </p:txBody>
      </p:sp>
      <p:sp>
        <p:nvSpPr>
          <p:cNvPr id="69" name="bms-33">
            <a:extLst>
              <a:ext uri="{FF2B5EF4-FFF2-40B4-BE49-F238E27FC236}">
                <a16:creationId xmlns:a16="http://schemas.microsoft.com/office/drawing/2014/main" id="{B5F4ABB8-FC94-D1B7-4C97-B58FC79D85A9}"/>
              </a:ext>
            </a:extLst>
          </p:cNvPr>
          <p:cNvSpPr/>
          <p:nvPr/>
        </p:nvSpPr>
        <p:spPr>
          <a:xfrm>
            <a:off x="4023360" y="749808"/>
            <a:ext cx="3749040" cy="2788920"/>
          </a:xfrm>
          <a:prstGeom prst="roundRect">
            <a:avLst>
              <a:gd name="adj" fmla="val 3279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-34">
            <a:extLst>
              <a:ext uri="{FF2B5EF4-FFF2-40B4-BE49-F238E27FC236}">
                <a16:creationId xmlns:a16="http://schemas.microsoft.com/office/drawing/2014/main" id="{466502EB-67BC-5371-75E0-5F876A9EF98B}"/>
              </a:ext>
            </a:extLst>
          </p:cNvPr>
          <p:cNvSpPr txBox="1"/>
          <p:nvPr/>
        </p:nvSpPr>
        <p:spPr>
          <a:xfrm>
            <a:off x="4206240" y="813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BMS controller (the brain)</a:t>
            </a:r>
            <a:endParaRPr lang="en-US" sz="1400" dirty="0"/>
          </a:p>
        </p:txBody>
      </p:sp>
      <p:sp>
        <p:nvSpPr>
          <p:cNvPr id="73" name="bms-fn-35">
            <a:extLst>
              <a:ext uri="{FF2B5EF4-FFF2-40B4-BE49-F238E27FC236}">
                <a16:creationId xmlns:a16="http://schemas.microsoft.com/office/drawing/2014/main" id="{444C0153-7654-3984-F7C6-21248CF85081}"/>
              </a:ext>
            </a:extLst>
          </p:cNvPr>
          <p:cNvSpPr/>
          <p:nvPr/>
        </p:nvSpPr>
        <p:spPr>
          <a:xfrm>
            <a:off x="4206240" y="1207008"/>
            <a:ext cx="338328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-36">
            <a:extLst>
              <a:ext uri="{FF2B5EF4-FFF2-40B4-BE49-F238E27FC236}">
                <a16:creationId xmlns:a16="http://schemas.microsoft.com/office/drawing/2014/main" id="{A46149B4-58E6-7344-0B49-20AB47250DD8}"/>
              </a:ext>
            </a:extLst>
          </p:cNvPr>
          <p:cNvSpPr txBox="1"/>
          <p:nvPr/>
        </p:nvSpPr>
        <p:spPr>
          <a:xfrm>
            <a:off x="4315968" y="12070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Estimate: 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charge (SOC), health (SOH), safe power (SOP) , Energy (SOE)</a:t>
            </a:r>
            <a:endParaRPr lang="en-US" sz="1600" dirty="0">
              <a:latin typeface="+mj-lt"/>
            </a:endParaRPr>
          </a:p>
        </p:txBody>
      </p:sp>
      <p:sp>
        <p:nvSpPr>
          <p:cNvPr id="77" name="bms-fn-37">
            <a:extLst>
              <a:ext uri="{FF2B5EF4-FFF2-40B4-BE49-F238E27FC236}">
                <a16:creationId xmlns:a16="http://schemas.microsoft.com/office/drawing/2014/main" id="{95FA8D9F-C5EE-9B38-71F3-943D241649F6}"/>
              </a:ext>
            </a:extLst>
          </p:cNvPr>
          <p:cNvSpPr/>
          <p:nvPr/>
        </p:nvSpPr>
        <p:spPr>
          <a:xfrm>
            <a:off x="4206240" y="1965960"/>
            <a:ext cx="338328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-38">
            <a:extLst>
              <a:ext uri="{FF2B5EF4-FFF2-40B4-BE49-F238E27FC236}">
                <a16:creationId xmlns:a16="http://schemas.microsoft.com/office/drawing/2014/main" id="{B7B4DC29-BA5D-84EA-2317-762D88D6261F}"/>
              </a:ext>
            </a:extLst>
          </p:cNvPr>
          <p:cNvSpPr txBox="1"/>
          <p:nvPr/>
        </p:nvSpPr>
        <p:spPr>
          <a:xfrm>
            <a:off x="4315968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Protect: </a:t>
            </a:r>
            <a:r>
              <a:rPr lang="en-US" sz="1600" dirty="0">
                <a:solidFill>
                  <a:schemeClr val="tx1"/>
                </a:solidFill>
                <a:latin typeface="+mj-lt"/>
              </a:rPr>
              <a:t>keep every cell within voltage, current and temperature limits</a:t>
            </a:r>
            <a:endParaRPr lang="en-US" sz="1600" dirty="0">
              <a:latin typeface="+mj-lt"/>
            </a:endParaRPr>
          </a:p>
        </p:txBody>
      </p:sp>
      <p:sp>
        <p:nvSpPr>
          <p:cNvPr id="81" name="bms-fn-39">
            <a:extLst>
              <a:ext uri="{FF2B5EF4-FFF2-40B4-BE49-F238E27FC236}">
                <a16:creationId xmlns:a16="http://schemas.microsoft.com/office/drawing/2014/main" id="{7999E956-606F-BE8E-1C99-08541F6AD308}"/>
              </a:ext>
            </a:extLst>
          </p:cNvPr>
          <p:cNvSpPr/>
          <p:nvPr/>
        </p:nvSpPr>
        <p:spPr>
          <a:xfrm>
            <a:off x="4206240" y="2724912"/>
            <a:ext cx="338328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-40">
            <a:extLst>
              <a:ext uri="{FF2B5EF4-FFF2-40B4-BE49-F238E27FC236}">
                <a16:creationId xmlns:a16="http://schemas.microsoft.com/office/drawing/2014/main" id="{26111F77-563F-37C8-A78B-EC65BD6F4FC2}"/>
              </a:ext>
            </a:extLst>
          </p:cNvPr>
          <p:cNvSpPr txBox="1"/>
          <p:nvPr/>
        </p:nvSpPr>
        <p:spPr>
          <a:xfrm>
            <a:off x="4315968" y="2724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indent="0">
              <a:buNone/>
              <a:defRPr sz="1600" b="1">
                <a:latin typeface="+mj-lt"/>
              </a:defRPr>
            </a:lvl1pPr>
          </a:lstStyle>
          <a:p>
            <a:r>
              <a:rPr lang="en-US" dirty="0"/>
              <a:t>Balance: </a:t>
            </a:r>
            <a:r>
              <a:rPr lang="en-US" b="0" dirty="0"/>
              <a:t>bleed extra charge from the fullest cells</a:t>
            </a:r>
          </a:p>
        </p:txBody>
      </p:sp>
      <p:sp>
        <p:nvSpPr>
          <p:cNvPr id="87" name="line-42">
            <a:extLst>
              <a:ext uri="{FF2B5EF4-FFF2-40B4-BE49-F238E27FC236}">
                <a16:creationId xmlns:a16="http://schemas.microsoft.com/office/drawing/2014/main" id="{B1182A22-46CD-9C1F-B885-DEEF1C0CCCA9}"/>
              </a:ext>
            </a:extLst>
          </p:cNvPr>
          <p:cNvSpPr/>
          <p:nvPr/>
        </p:nvSpPr>
        <p:spPr>
          <a:xfrm>
            <a:off x="7772400" y="1207008"/>
            <a:ext cx="502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9" name="output-43">
            <a:extLst>
              <a:ext uri="{FF2B5EF4-FFF2-40B4-BE49-F238E27FC236}">
                <a16:creationId xmlns:a16="http://schemas.microsoft.com/office/drawing/2014/main" id="{9088450A-F344-8A94-09BB-5A003D93D69B}"/>
              </a:ext>
            </a:extLst>
          </p:cNvPr>
          <p:cNvSpPr/>
          <p:nvPr/>
        </p:nvSpPr>
        <p:spPr>
          <a:xfrm>
            <a:off x="8321040" y="841248"/>
            <a:ext cx="310896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-44">
            <a:extLst>
              <a:ext uri="{FF2B5EF4-FFF2-40B4-BE49-F238E27FC236}">
                <a16:creationId xmlns:a16="http://schemas.microsoft.com/office/drawing/2014/main" id="{84998C3C-3094-0F02-DAA5-918AEB048535}"/>
              </a:ext>
            </a:extLst>
          </p:cNvPr>
          <p:cNvSpPr txBox="1"/>
          <p:nvPr/>
        </p:nvSpPr>
        <p:spPr>
          <a:xfrm>
            <a:off x="8458200" y="841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Contactors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connect the pack, or cut it off when unsafe</a:t>
            </a:r>
            <a:endParaRPr lang="en-US" sz="1600" dirty="0">
              <a:latin typeface="+mj-lt"/>
            </a:endParaRPr>
          </a:p>
        </p:txBody>
      </p:sp>
      <p:sp>
        <p:nvSpPr>
          <p:cNvPr id="93" name="line-45">
            <a:extLst>
              <a:ext uri="{FF2B5EF4-FFF2-40B4-BE49-F238E27FC236}">
                <a16:creationId xmlns:a16="http://schemas.microsoft.com/office/drawing/2014/main" id="{4CDDFD81-5B7F-0B01-F284-D97A77255958}"/>
              </a:ext>
            </a:extLst>
          </p:cNvPr>
          <p:cNvSpPr/>
          <p:nvPr/>
        </p:nvSpPr>
        <p:spPr>
          <a:xfrm>
            <a:off x="7772400" y="2121408"/>
            <a:ext cx="502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5" name="output-46">
            <a:extLst>
              <a:ext uri="{FF2B5EF4-FFF2-40B4-BE49-F238E27FC236}">
                <a16:creationId xmlns:a16="http://schemas.microsoft.com/office/drawing/2014/main" id="{79AA83DC-E41C-C1D3-9BA2-2383208EDF72}"/>
              </a:ext>
            </a:extLst>
          </p:cNvPr>
          <p:cNvSpPr/>
          <p:nvPr/>
        </p:nvSpPr>
        <p:spPr>
          <a:xfrm>
            <a:off x="8321040" y="1755648"/>
            <a:ext cx="310896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-47">
            <a:extLst>
              <a:ext uri="{FF2B5EF4-FFF2-40B4-BE49-F238E27FC236}">
                <a16:creationId xmlns:a16="http://schemas.microsoft.com/office/drawing/2014/main" id="{23D3E2FF-D628-838E-1157-E08FEA73B2D6}"/>
              </a:ext>
            </a:extLst>
          </p:cNvPr>
          <p:cNvSpPr txBox="1"/>
          <p:nvPr/>
        </p:nvSpPr>
        <p:spPr>
          <a:xfrm>
            <a:off x="8458200" y="17556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Vehicle (via CAN)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power limits, range, warnings</a:t>
            </a:r>
            <a:endParaRPr lang="en-US" sz="1600" dirty="0">
              <a:latin typeface="+mj-lt"/>
            </a:endParaRPr>
          </a:p>
        </p:txBody>
      </p:sp>
      <p:sp>
        <p:nvSpPr>
          <p:cNvPr id="99" name="line-48">
            <a:extLst>
              <a:ext uri="{FF2B5EF4-FFF2-40B4-BE49-F238E27FC236}">
                <a16:creationId xmlns:a16="http://schemas.microsoft.com/office/drawing/2014/main" id="{C0275670-42D9-966A-AB1F-5F8AC7CA4FD3}"/>
              </a:ext>
            </a:extLst>
          </p:cNvPr>
          <p:cNvSpPr/>
          <p:nvPr/>
        </p:nvSpPr>
        <p:spPr>
          <a:xfrm>
            <a:off x="7772400" y="3035808"/>
            <a:ext cx="502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1" name="output-49">
            <a:extLst>
              <a:ext uri="{FF2B5EF4-FFF2-40B4-BE49-F238E27FC236}">
                <a16:creationId xmlns:a16="http://schemas.microsoft.com/office/drawing/2014/main" id="{EDEFA66F-2532-D3B0-3501-63FCEA6D142B}"/>
              </a:ext>
            </a:extLst>
          </p:cNvPr>
          <p:cNvSpPr/>
          <p:nvPr/>
        </p:nvSpPr>
        <p:spPr>
          <a:xfrm>
            <a:off x="8321040" y="2670048"/>
            <a:ext cx="310896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-50">
            <a:extLst>
              <a:ext uri="{FF2B5EF4-FFF2-40B4-BE49-F238E27FC236}">
                <a16:creationId xmlns:a16="http://schemas.microsoft.com/office/drawing/2014/main" id="{1CF89B48-6ECC-594C-961E-46794BDCECB3}"/>
              </a:ext>
            </a:extLst>
          </p:cNvPr>
          <p:cNvSpPr txBox="1"/>
          <p:nvPr/>
        </p:nvSpPr>
        <p:spPr>
          <a:xfrm>
            <a:off x="8458200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Charger and cooling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charge current, cool or heat the pack</a:t>
            </a:r>
            <a:endParaRPr lang="en-US" sz="1600" dirty="0">
              <a:latin typeface="+mj-lt"/>
            </a:endParaRPr>
          </a:p>
        </p:txBody>
      </p:sp>
      <p:sp>
        <p:nvSpPr>
          <p:cNvPr id="105" name="text-51">
            <a:extLst>
              <a:ext uri="{FF2B5EF4-FFF2-40B4-BE49-F238E27FC236}">
                <a16:creationId xmlns:a16="http://schemas.microsoft.com/office/drawing/2014/main" id="{7C9ECC1B-2034-7FF2-D143-ECD0625E429B}"/>
              </a:ext>
            </a:extLst>
          </p:cNvPr>
          <p:cNvSpPr txBox="1"/>
          <p:nvPr/>
        </p:nvSpPr>
        <p:spPr>
          <a:xfrm>
            <a:off x="365760" y="39044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control loop: repeats many times every second</a:t>
            </a:r>
            <a:endParaRPr lang="en-US" sz="1500" dirty="0"/>
          </a:p>
        </p:txBody>
      </p:sp>
      <p:sp>
        <p:nvSpPr>
          <p:cNvPr id="107" name="step-52">
            <a:extLst>
              <a:ext uri="{FF2B5EF4-FFF2-40B4-BE49-F238E27FC236}">
                <a16:creationId xmlns:a16="http://schemas.microsoft.com/office/drawing/2014/main" id="{D3FEDB50-B144-A325-1AEA-AABB02FB891B}"/>
              </a:ext>
            </a:extLst>
          </p:cNvPr>
          <p:cNvSpPr/>
          <p:nvPr/>
        </p:nvSpPr>
        <p:spPr>
          <a:xfrm>
            <a:off x="365760" y="4270247"/>
            <a:ext cx="2514600" cy="1097277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-53">
            <a:extLst>
              <a:ext uri="{FF2B5EF4-FFF2-40B4-BE49-F238E27FC236}">
                <a16:creationId xmlns:a16="http://schemas.microsoft.com/office/drawing/2014/main" id="{2A6EF0B2-1328-175D-190D-E5DC9B7DC0B2}"/>
              </a:ext>
            </a:extLst>
          </p:cNvPr>
          <p:cNvSpPr txBox="1"/>
          <p:nvPr/>
        </p:nvSpPr>
        <p:spPr>
          <a:xfrm>
            <a:off x="475488" y="431596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1  Measure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Read every cell’s voltage and temperature, plus pack current</a:t>
            </a:r>
            <a:endParaRPr lang="en-US" sz="1600" dirty="0">
              <a:latin typeface="+mj-lt"/>
            </a:endParaRPr>
          </a:p>
        </p:txBody>
      </p:sp>
      <p:sp>
        <p:nvSpPr>
          <p:cNvPr id="111" name="line-54">
            <a:extLst>
              <a:ext uri="{FF2B5EF4-FFF2-40B4-BE49-F238E27FC236}">
                <a16:creationId xmlns:a16="http://schemas.microsoft.com/office/drawing/2014/main" id="{03997BC5-D776-71B6-4033-FF07C1787FB9}"/>
              </a:ext>
            </a:extLst>
          </p:cNvPr>
          <p:cNvSpPr/>
          <p:nvPr/>
        </p:nvSpPr>
        <p:spPr>
          <a:xfrm>
            <a:off x="2898648" y="4745736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tep-55">
            <a:extLst>
              <a:ext uri="{FF2B5EF4-FFF2-40B4-BE49-F238E27FC236}">
                <a16:creationId xmlns:a16="http://schemas.microsoft.com/office/drawing/2014/main" id="{D5967870-5A2A-EA63-BD78-D6C877862345}"/>
              </a:ext>
            </a:extLst>
          </p:cNvPr>
          <p:cNvSpPr/>
          <p:nvPr/>
        </p:nvSpPr>
        <p:spPr>
          <a:xfrm>
            <a:off x="3200400" y="4270248"/>
            <a:ext cx="2514600" cy="1097276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-56">
            <a:extLst>
              <a:ext uri="{FF2B5EF4-FFF2-40B4-BE49-F238E27FC236}">
                <a16:creationId xmlns:a16="http://schemas.microsoft.com/office/drawing/2014/main" id="{ADD3C858-445E-6E46-4E6E-C3C14D2517E7}"/>
              </a:ext>
            </a:extLst>
          </p:cNvPr>
          <p:cNvSpPr txBox="1"/>
          <p:nvPr/>
        </p:nvSpPr>
        <p:spPr>
          <a:xfrm>
            <a:off x="3310128" y="431596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2  Estimate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Work out SOC, health and how much power is safe right now</a:t>
            </a:r>
            <a:endParaRPr lang="en-US" sz="1600" dirty="0">
              <a:latin typeface="+mj-lt"/>
            </a:endParaRPr>
          </a:p>
        </p:txBody>
      </p:sp>
      <p:sp>
        <p:nvSpPr>
          <p:cNvPr id="117" name="line-57">
            <a:extLst>
              <a:ext uri="{FF2B5EF4-FFF2-40B4-BE49-F238E27FC236}">
                <a16:creationId xmlns:a16="http://schemas.microsoft.com/office/drawing/2014/main" id="{4A62B8D2-B286-F2B6-0C45-6703EF3DC4BF}"/>
              </a:ext>
            </a:extLst>
          </p:cNvPr>
          <p:cNvSpPr/>
          <p:nvPr/>
        </p:nvSpPr>
        <p:spPr>
          <a:xfrm>
            <a:off x="5733288" y="4745736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tep-58">
            <a:extLst>
              <a:ext uri="{FF2B5EF4-FFF2-40B4-BE49-F238E27FC236}">
                <a16:creationId xmlns:a16="http://schemas.microsoft.com/office/drawing/2014/main" id="{6EB453EB-79CF-7E67-F3FC-49817769B703}"/>
              </a:ext>
            </a:extLst>
          </p:cNvPr>
          <p:cNvSpPr/>
          <p:nvPr/>
        </p:nvSpPr>
        <p:spPr>
          <a:xfrm>
            <a:off x="6035040" y="4270247"/>
            <a:ext cx="2514600" cy="1097271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-59">
            <a:extLst>
              <a:ext uri="{FF2B5EF4-FFF2-40B4-BE49-F238E27FC236}">
                <a16:creationId xmlns:a16="http://schemas.microsoft.com/office/drawing/2014/main" id="{7DDF1863-FB85-2D5B-728A-EEB830E3CFAF}"/>
              </a:ext>
            </a:extLst>
          </p:cNvPr>
          <p:cNvSpPr txBox="1"/>
          <p:nvPr/>
        </p:nvSpPr>
        <p:spPr>
          <a:xfrm>
            <a:off x="6144768" y="431596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3  Decide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Check limits: too high, too low, too hot or too cold?</a:t>
            </a:r>
            <a:endParaRPr lang="en-US" sz="1600" dirty="0">
              <a:latin typeface="+mj-lt"/>
            </a:endParaRPr>
          </a:p>
        </p:txBody>
      </p:sp>
      <p:sp>
        <p:nvSpPr>
          <p:cNvPr id="123" name="line-60">
            <a:extLst>
              <a:ext uri="{FF2B5EF4-FFF2-40B4-BE49-F238E27FC236}">
                <a16:creationId xmlns:a16="http://schemas.microsoft.com/office/drawing/2014/main" id="{B3A68C2D-7D6B-A979-1049-86274ECAEF7E}"/>
              </a:ext>
            </a:extLst>
          </p:cNvPr>
          <p:cNvSpPr/>
          <p:nvPr/>
        </p:nvSpPr>
        <p:spPr>
          <a:xfrm>
            <a:off x="8567928" y="4745736"/>
            <a:ext cx="28346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tep-61">
            <a:extLst>
              <a:ext uri="{FF2B5EF4-FFF2-40B4-BE49-F238E27FC236}">
                <a16:creationId xmlns:a16="http://schemas.microsoft.com/office/drawing/2014/main" id="{9D1B3A69-75EF-846D-6F3D-F4414A8A98B3}"/>
              </a:ext>
            </a:extLst>
          </p:cNvPr>
          <p:cNvSpPr/>
          <p:nvPr/>
        </p:nvSpPr>
        <p:spPr>
          <a:xfrm>
            <a:off x="8869680" y="4270247"/>
            <a:ext cx="2514600" cy="1097261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-62">
            <a:extLst>
              <a:ext uri="{FF2B5EF4-FFF2-40B4-BE49-F238E27FC236}">
                <a16:creationId xmlns:a16="http://schemas.microsoft.com/office/drawing/2014/main" id="{D60CBA12-3730-96C6-EF9E-AE49D5785A06}"/>
              </a:ext>
            </a:extLst>
          </p:cNvPr>
          <p:cNvSpPr txBox="1"/>
          <p:nvPr/>
        </p:nvSpPr>
        <p:spPr>
          <a:xfrm>
            <a:off x="8979408" y="4315968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4  Act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Set power limits, balance cells, open contactors if unsafe, tell the car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5278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-1">
            <a:extLst>
              <a:ext uri="{FF2B5EF4-FFF2-40B4-BE49-F238E27FC236}">
                <a16:creationId xmlns:a16="http://schemas.microsoft.com/office/drawing/2014/main" id="{227FB230-6810-687B-3830-C15498AA5AF9}"/>
              </a:ext>
            </a:extLst>
          </p:cNvPr>
          <p:cNvSpPr/>
          <p:nvPr/>
        </p:nvSpPr>
        <p:spPr>
          <a:xfrm>
            <a:off x="4169664" y="822960"/>
            <a:ext cx="2468880" cy="2240280"/>
          </a:xfrm>
          <a:prstGeom prst="rect">
            <a:avLst/>
          </a:prstGeom>
          <a:ln w="12700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-2">
            <a:extLst>
              <a:ext uri="{FF2B5EF4-FFF2-40B4-BE49-F238E27FC236}">
                <a16:creationId xmlns:a16="http://schemas.microsoft.com/office/drawing/2014/main" id="{03E50DFD-2DFE-9C1C-3B3D-2305ECD97DDC}"/>
              </a:ext>
            </a:extLst>
          </p:cNvPr>
          <p:cNvSpPr txBox="1"/>
          <p:nvPr/>
        </p:nvSpPr>
        <p:spPr>
          <a:xfrm>
            <a:off x="4169664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Inside the car</a:t>
            </a:r>
            <a:endParaRPr lang="en-US" sz="1000" dirty="0"/>
          </a:p>
        </p:txBody>
      </p:sp>
      <p:sp>
        <p:nvSpPr>
          <p:cNvPr id="7" name="box-3">
            <a:extLst>
              <a:ext uri="{FF2B5EF4-FFF2-40B4-BE49-F238E27FC236}">
                <a16:creationId xmlns:a16="http://schemas.microsoft.com/office/drawing/2014/main" id="{03EEE3BD-F61E-36FF-415C-33632FE6744A}"/>
              </a:ext>
            </a:extLst>
          </p:cNvPr>
          <p:cNvSpPr/>
          <p:nvPr/>
        </p:nvSpPr>
        <p:spPr>
          <a:xfrm>
            <a:off x="512064" y="1005840"/>
            <a:ext cx="868680" cy="17830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-4">
            <a:extLst>
              <a:ext uri="{FF2B5EF4-FFF2-40B4-BE49-F238E27FC236}">
                <a16:creationId xmlns:a16="http://schemas.microsoft.com/office/drawing/2014/main" id="{61670F8E-B982-F97F-18A0-DDED7E0F7320}"/>
              </a:ext>
            </a:extLst>
          </p:cNvPr>
          <p:cNvSpPr txBox="1"/>
          <p:nvPr/>
        </p:nvSpPr>
        <p:spPr>
          <a:xfrm>
            <a:off x="512064" y="1005840"/>
            <a:ext cx="868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Grid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(AC)</a:t>
            </a:r>
            <a:endParaRPr lang="en-US" sz="1200" dirty="0"/>
          </a:p>
        </p:txBody>
      </p:sp>
      <p:sp>
        <p:nvSpPr>
          <p:cNvPr id="11" name="box-5">
            <a:extLst>
              <a:ext uri="{FF2B5EF4-FFF2-40B4-BE49-F238E27FC236}">
                <a16:creationId xmlns:a16="http://schemas.microsoft.com/office/drawing/2014/main" id="{14912F8C-1E79-C8C4-2CD8-A523ED0D6547}"/>
              </a:ext>
            </a:extLst>
          </p:cNvPr>
          <p:cNvSpPr/>
          <p:nvPr/>
        </p:nvSpPr>
        <p:spPr>
          <a:xfrm>
            <a:off x="1746504" y="1005840"/>
            <a:ext cx="201168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-6">
            <a:extLst>
              <a:ext uri="{FF2B5EF4-FFF2-40B4-BE49-F238E27FC236}">
                <a16:creationId xmlns:a16="http://schemas.microsoft.com/office/drawing/2014/main" id="{B607B2EA-AE61-C24A-3A22-214E73D07E21}"/>
              </a:ext>
            </a:extLst>
          </p:cNvPr>
          <p:cNvSpPr txBox="1"/>
          <p:nvPr/>
        </p:nvSpPr>
        <p:spPr>
          <a:xfrm>
            <a:off x="1746504" y="1005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AC wallbox / socket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3.3–22 kW</a:t>
            </a:r>
            <a:endParaRPr lang="en-US" sz="1200" dirty="0"/>
          </a:p>
        </p:txBody>
      </p:sp>
      <p:sp>
        <p:nvSpPr>
          <p:cNvPr id="15" name="box-7">
            <a:extLst>
              <a:ext uri="{FF2B5EF4-FFF2-40B4-BE49-F238E27FC236}">
                <a16:creationId xmlns:a16="http://schemas.microsoft.com/office/drawing/2014/main" id="{ACC76AD1-4543-D2E5-A0FA-3689288F7573}"/>
              </a:ext>
            </a:extLst>
          </p:cNvPr>
          <p:cNvSpPr/>
          <p:nvPr/>
        </p:nvSpPr>
        <p:spPr>
          <a:xfrm>
            <a:off x="1746504" y="2194560"/>
            <a:ext cx="201168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-8">
            <a:extLst>
              <a:ext uri="{FF2B5EF4-FFF2-40B4-BE49-F238E27FC236}">
                <a16:creationId xmlns:a16="http://schemas.microsoft.com/office/drawing/2014/main" id="{F58E8D92-A353-858D-A120-F34D3D79CEB7}"/>
              </a:ext>
            </a:extLst>
          </p:cNvPr>
          <p:cNvSpPr txBox="1"/>
          <p:nvPr/>
        </p:nvSpPr>
        <p:spPr>
          <a:xfrm>
            <a:off x="1746504" y="2194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DC fast charger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25–350 kW</a:t>
            </a:r>
            <a:endParaRPr lang="en-US" sz="1200" dirty="0"/>
          </a:p>
        </p:txBody>
      </p:sp>
      <p:sp>
        <p:nvSpPr>
          <p:cNvPr id="19" name="box-9">
            <a:extLst>
              <a:ext uri="{FF2B5EF4-FFF2-40B4-BE49-F238E27FC236}">
                <a16:creationId xmlns:a16="http://schemas.microsoft.com/office/drawing/2014/main" id="{2CE9D3F8-6662-74AA-3540-68E518AED9AE}"/>
              </a:ext>
            </a:extLst>
          </p:cNvPr>
          <p:cNvSpPr/>
          <p:nvPr/>
        </p:nvSpPr>
        <p:spPr>
          <a:xfrm>
            <a:off x="4306824" y="1005840"/>
            <a:ext cx="96012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-10">
            <a:extLst>
              <a:ext uri="{FF2B5EF4-FFF2-40B4-BE49-F238E27FC236}">
                <a16:creationId xmlns:a16="http://schemas.microsoft.com/office/drawing/2014/main" id="{A9AF1954-6857-3502-F3EB-27FDE2BDED11}"/>
              </a:ext>
            </a:extLst>
          </p:cNvPr>
          <p:cNvSpPr txBox="1"/>
          <p:nvPr/>
        </p:nvSpPr>
        <p:spPr>
          <a:xfrm>
            <a:off x="4306824" y="100584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Onboard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charger</a:t>
            </a:r>
            <a:endParaRPr lang="en-US" sz="1200" dirty="0"/>
          </a:p>
        </p:txBody>
      </p:sp>
      <p:sp>
        <p:nvSpPr>
          <p:cNvPr id="23" name="box-11">
            <a:extLst>
              <a:ext uri="{FF2B5EF4-FFF2-40B4-BE49-F238E27FC236}">
                <a16:creationId xmlns:a16="http://schemas.microsoft.com/office/drawing/2014/main" id="{B6637EFA-40C3-06BD-8C25-14A11C72E295}"/>
              </a:ext>
            </a:extLst>
          </p:cNvPr>
          <p:cNvSpPr/>
          <p:nvPr/>
        </p:nvSpPr>
        <p:spPr>
          <a:xfrm>
            <a:off x="5495544" y="1005840"/>
            <a:ext cx="1005840" cy="178308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-12">
            <a:extLst>
              <a:ext uri="{FF2B5EF4-FFF2-40B4-BE49-F238E27FC236}">
                <a16:creationId xmlns:a16="http://schemas.microsoft.com/office/drawing/2014/main" id="{9FCE00DA-DFBA-CF64-B5AB-D86332D10E32}"/>
              </a:ext>
            </a:extLst>
          </p:cNvPr>
          <p:cNvSpPr txBox="1"/>
          <p:nvPr/>
        </p:nvSpPr>
        <p:spPr>
          <a:xfrm>
            <a:off x="5495544" y="100584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Battery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(DC)</a:t>
            </a:r>
            <a:endParaRPr lang="en-US" sz="1300" dirty="0"/>
          </a:p>
        </p:txBody>
      </p:sp>
      <p:sp>
        <p:nvSpPr>
          <p:cNvPr id="27" name="line-13">
            <a:extLst>
              <a:ext uri="{FF2B5EF4-FFF2-40B4-BE49-F238E27FC236}">
                <a16:creationId xmlns:a16="http://schemas.microsoft.com/office/drawing/2014/main" id="{3FF81B85-4F8A-408F-29F4-891A922DA9E8}"/>
              </a:ext>
            </a:extLst>
          </p:cNvPr>
          <p:cNvSpPr/>
          <p:nvPr/>
        </p:nvSpPr>
        <p:spPr>
          <a:xfrm>
            <a:off x="1380744" y="1303020"/>
            <a:ext cx="34747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line-14">
            <a:extLst>
              <a:ext uri="{FF2B5EF4-FFF2-40B4-BE49-F238E27FC236}">
                <a16:creationId xmlns:a16="http://schemas.microsoft.com/office/drawing/2014/main" id="{E86A8EEE-52BD-1091-E3A0-0C34FF23FF12}"/>
              </a:ext>
            </a:extLst>
          </p:cNvPr>
          <p:cNvSpPr/>
          <p:nvPr/>
        </p:nvSpPr>
        <p:spPr>
          <a:xfrm>
            <a:off x="3758184" y="1303020"/>
            <a:ext cx="53035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line-15">
            <a:extLst>
              <a:ext uri="{FF2B5EF4-FFF2-40B4-BE49-F238E27FC236}">
                <a16:creationId xmlns:a16="http://schemas.microsoft.com/office/drawing/2014/main" id="{DB8F531C-FE2B-C235-8344-C255C0FF1A26}"/>
              </a:ext>
            </a:extLst>
          </p:cNvPr>
          <p:cNvSpPr/>
          <p:nvPr/>
        </p:nvSpPr>
        <p:spPr>
          <a:xfrm>
            <a:off x="5266944" y="1303020"/>
            <a:ext cx="2103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line-16">
            <a:extLst>
              <a:ext uri="{FF2B5EF4-FFF2-40B4-BE49-F238E27FC236}">
                <a16:creationId xmlns:a16="http://schemas.microsoft.com/office/drawing/2014/main" id="{F7842014-0090-50B1-2CEE-79A7EDF5EA63}"/>
              </a:ext>
            </a:extLst>
          </p:cNvPr>
          <p:cNvSpPr/>
          <p:nvPr/>
        </p:nvSpPr>
        <p:spPr>
          <a:xfrm>
            <a:off x="1380744" y="24917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line-17">
            <a:extLst>
              <a:ext uri="{FF2B5EF4-FFF2-40B4-BE49-F238E27FC236}">
                <a16:creationId xmlns:a16="http://schemas.microsoft.com/office/drawing/2014/main" id="{626E3D7F-1EDB-A92C-B1D2-9AC0F36B5352}"/>
              </a:ext>
            </a:extLst>
          </p:cNvPr>
          <p:cNvSpPr/>
          <p:nvPr/>
        </p:nvSpPr>
        <p:spPr>
          <a:xfrm>
            <a:off x="3758184" y="2491740"/>
            <a:ext cx="17190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-18">
            <a:extLst>
              <a:ext uri="{FF2B5EF4-FFF2-40B4-BE49-F238E27FC236}">
                <a16:creationId xmlns:a16="http://schemas.microsoft.com/office/drawing/2014/main" id="{D0017461-0113-D941-7A29-1D3FD86039E9}"/>
              </a:ext>
            </a:extLst>
          </p:cNvPr>
          <p:cNvSpPr txBox="1"/>
          <p:nvPr/>
        </p:nvSpPr>
        <p:spPr>
          <a:xfrm>
            <a:off x="4242816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latin typeface="+mj-lt"/>
              </a:rPr>
              <a:t>DC goes straight to the battery</a:t>
            </a:r>
            <a:endParaRPr lang="en-US" sz="1400" dirty="0">
              <a:latin typeface="+mj-lt"/>
            </a:endParaRPr>
          </a:p>
        </p:txBody>
      </p:sp>
      <p:sp>
        <p:nvSpPr>
          <p:cNvPr id="39" name="text-19">
            <a:extLst>
              <a:ext uri="{FF2B5EF4-FFF2-40B4-BE49-F238E27FC236}">
                <a16:creationId xmlns:a16="http://schemas.microsoft.com/office/drawing/2014/main" id="{CC15F4DA-0353-7BF7-8F87-A1DA5013FB5C}"/>
              </a:ext>
            </a:extLst>
          </p:cNvPr>
          <p:cNvSpPr txBox="1"/>
          <p:nvPr/>
        </p:nvSpPr>
        <p:spPr>
          <a:xfrm>
            <a:off x="512064" y="3383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AC: the car’s own small charger converts AC to DC, so power is low (home, overnight). DC: the station converts it, so power can be high (highway, fleets).</a:t>
            </a:r>
            <a:endParaRPr lang="en-US" sz="1600" dirty="0">
              <a:latin typeface="+mj-lt"/>
            </a:endParaRPr>
          </a:p>
        </p:txBody>
      </p:sp>
      <p:graphicFrame>
        <p:nvGraphicFramePr>
          <p:cNvPr id="41" name="charging-curve">
            <a:extLst>
              <a:ext uri="{FF2B5EF4-FFF2-40B4-BE49-F238E27FC236}">
                <a16:creationId xmlns:a16="http://schemas.microsoft.com/office/drawing/2014/main" id="{A6BCA422-24C4-98D7-8A88-A67CE30222C2}"/>
              </a:ext>
            </a:extLst>
          </p:cNvPr>
          <p:cNvGraphicFramePr/>
          <p:nvPr/>
        </p:nvGraphicFramePr>
        <p:xfrm>
          <a:off x="7004304" y="822960"/>
          <a:ext cx="45720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text-20">
            <a:extLst>
              <a:ext uri="{FF2B5EF4-FFF2-40B4-BE49-F238E27FC236}">
                <a16:creationId xmlns:a16="http://schemas.microsoft.com/office/drawing/2014/main" id="{C6D50E07-322A-75E8-E53F-0C299C3A7C22}"/>
              </a:ext>
            </a:extLst>
          </p:cNvPr>
          <p:cNvSpPr txBox="1"/>
          <p:nvPr/>
        </p:nvSpPr>
        <p:spPr>
          <a:xfrm>
            <a:off x="7004304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latin typeface="+mj-lt"/>
              </a:rPr>
              <a:t>10–80% of a 60 kWh pack takes ~35 min, not 26: the BMS cuts power to protect the cells.</a:t>
            </a:r>
            <a:endParaRPr lang="en-US" sz="1600" dirty="0">
              <a:latin typeface="+mj-lt"/>
            </a:endParaRPr>
          </a:p>
        </p:txBody>
      </p:sp>
      <p:sp>
        <p:nvSpPr>
          <p:cNvPr id="49" name="text-23">
            <a:extLst>
              <a:ext uri="{FF2B5EF4-FFF2-40B4-BE49-F238E27FC236}">
                <a16:creationId xmlns:a16="http://schemas.microsoft.com/office/drawing/2014/main" id="{5208DE60-3B57-3918-1066-FC96875B1089}"/>
              </a:ext>
            </a:extLst>
          </p:cNvPr>
          <p:cNvSpPr txBox="1"/>
          <p:nvPr/>
        </p:nvSpPr>
        <p:spPr>
          <a:xfrm>
            <a:off x="7004304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Plugs and power in India</a:t>
            </a:r>
            <a:endParaRPr lang="en-US" sz="1400" dirty="0"/>
          </a:p>
        </p:txBody>
      </p:sp>
      <p:graphicFrame>
        <p:nvGraphicFramePr>
          <p:cNvPr id="51" name="table-24">
            <a:extLst>
              <a:ext uri="{FF2B5EF4-FFF2-40B4-BE49-F238E27FC236}">
                <a16:creationId xmlns:a16="http://schemas.microsoft.com/office/drawing/2014/main" id="{4AC52C15-DBA0-7999-A861-DF4DCD6B0BF7}"/>
              </a:ext>
            </a:extLst>
          </p:cNvPr>
          <p:cNvGraphicFramePr>
            <a:graphicFrameLocks noGrp="1"/>
          </p:cNvGraphicFramePr>
          <p:nvPr/>
        </p:nvGraphicFramePr>
        <p:xfrm>
          <a:off x="7004304" y="4434840"/>
          <a:ext cx="4572000" cy="1584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Use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Connector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Typical power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Cars, AC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Type 2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3.3–22 kW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Cars, DC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CCS2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25–150+ kW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2W / 3W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LECCS, swapping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1–10 kW / swap in minutes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24B06D43-77FE-DA00-F55C-7CB3FB56A328}"/>
              </a:ext>
            </a:extLst>
          </p:cNvPr>
          <p:cNvSpPr txBox="1"/>
          <p:nvPr/>
        </p:nvSpPr>
        <p:spPr>
          <a:xfrm>
            <a:off x="195874" y="173254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Charging Technology</a:t>
            </a:r>
            <a:endParaRPr sz="2600" b="1" i="0" dirty="0">
              <a:solidFill>
                <a:srgbClr val="1F4E7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34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9EAE31-9218-DF7F-0ED0-009172E4B29C}"/>
              </a:ext>
            </a:extLst>
          </p:cNvPr>
          <p:cNvSpPr txBox="1"/>
          <p:nvPr/>
        </p:nvSpPr>
        <p:spPr>
          <a:xfrm>
            <a:off x="91440" y="5925312"/>
            <a:ext cx="1044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LFP Battery Manufacturing Process: Complete LiFePO4 Production Guide &amp; Quality Control Standards</a:t>
            </a:r>
            <a:endParaRPr lang="en-IN" dirty="0"/>
          </a:p>
        </p:txBody>
      </p:sp>
      <p:sp>
        <p:nvSpPr>
          <p:cNvPr id="4" name="text-1">
            <a:extLst>
              <a:ext uri="{FF2B5EF4-FFF2-40B4-BE49-F238E27FC236}">
                <a16:creationId xmlns:a16="http://schemas.microsoft.com/office/drawing/2014/main" id="{DB47137C-E17C-D8D0-3290-A447C08D0BED}"/>
              </a:ext>
            </a:extLst>
          </p:cNvPr>
          <p:cNvSpPr txBox="1"/>
          <p:nvPr/>
        </p:nvSpPr>
        <p:spPr>
          <a:xfrm>
            <a:off x="271272" y="774825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Making the LFP cathode powder</a:t>
            </a:r>
            <a:endParaRPr lang="en-US" sz="1600" dirty="0"/>
          </a:p>
        </p:txBody>
      </p:sp>
      <p:sp>
        <p:nvSpPr>
          <p:cNvPr id="6" name="powder-step-2">
            <a:extLst>
              <a:ext uri="{FF2B5EF4-FFF2-40B4-BE49-F238E27FC236}">
                <a16:creationId xmlns:a16="http://schemas.microsoft.com/office/drawing/2014/main" id="{9308B14E-11FB-4031-B66E-AE06BCC7849B}"/>
              </a:ext>
            </a:extLst>
          </p:cNvPr>
          <p:cNvSpPr/>
          <p:nvPr/>
        </p:nvSpPr>
        <p:spPr>
          <a:xfrm>
            <a:off x="256032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-3">
            <a:extLst>
              <a:ext uri="{FF2B5EF4-FFF2-40B4-BE49-F238E27FC236}">
                <a16:creationId xmlns:a16="http://schemas.microsoft.com/office/drawing/2014/main" id="{7441CA91-6336-AD39-CD96-77BDCED909B2}"/>
              </a:ext>
            </a:extLst>
          </p:cNvPr>
          <p:cNvSpPr txBox="1"/>
          <p:nvPr/>
        </p:nvSpPr>
        <p:spPr>
          <a:xfrm>
            <a:off x="347472" y="1170432"/>
            <a:ext cx="1847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Raw materials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Iron phosphate (FePO₄) + lithium carbonate + a carbon source</a:t>
            </a:r>
            <a:endParaRPr lang="en-US" sz="1600" dirty="0">
              <a:latin typeface="+mj-lt"/>
            </a:endParaRPr>
          </a:p>
        </p:txBody>
      </p:sp>
      <p:sp>
        <p:nvSpPr>
          <p:cNvPr id="10" name="line-4">
            <a:extLst>
              <a:ext uri="{FF2B5EF4-FFF2-40B4-BE49-F238E27FC236}">
                <a16:creationId xmlns:a16="http://schemas.microsoft.com/office/drawing/2014/main" id="{451C0E18-3C1E-E68A-A6D0-D538C749E924}"/>
              </a:ext>
            </a:extLst>
          </p:cNvPr>
          <p:cNvSpPr/>
          <p:nvPr/>
        </p:nvSpPr>
        <p:spPr>
          <a:xfrm>
            <a:off x="2286000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powder-step-5">
            <a:extLst>
              <a:ext uri="{FF2B5EF4-FFF2-40B4-BE49-F238E27FC236}">
                <a16:creationId xmlns:a16="http://schemas.microsoft.com/office/drawing/2014/main" id="{169B3C20-CD13-30E9-1C45-CBF0B87B3F9E}"/>
              </a:ext>
            </a:extLst>
          </p:cNvPr>
          <p:cNvSpPr/>
          <p:nvPr/>
        </p:nvSpPr>
        <p:spPr>
          <a:xfrm>
            <a:off x="2514600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-6">
            <a:extLst>
              <a:ext uri="{FF2B5EF4-FFF2-40B4-BE49-F238E27FC236}">
                <a16:creationId xmlns:a16="http://schemas.microsoft.com/office/drawing/2014/main" id="{B692C556-AC1E-38A1-72EB-66107C81869C}"/>
              </a:ext>
            </a:extLst>
          </p:cNvPr>
          <p:cNvSpPr txBox="1"/>
          <p:nvPr/>
        </p:nvSpPr>
        <p:spPr>
          <a:xfrm>
            <a:off x="2606040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Wet milling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Mixed in water and ground to sub-micron size in a bead mill</a:t>
            </a:r>
            <a:endParaRPr lang="en-US" sz="1600" dirty="0">
              <a:latin typeface="+mj-lt"/>
            </a:endParaRPr>
          </a:p>
        </p:txBody>
      </p:sp>
      <p:sp>
        <p:nvSpPr>
          <p:cNvPr id="16" name="line-7">
            <a:extLst>
              <a:ext uri="{FF2B5EF4-FFF2-40B4-BE49-F238E27FC236}">
                <a16:creationId xmlns:a16="http://schemas.microsoft.com/office/drawing/2014/main" id="{09B080B3-28E3-3C36-68D4-51EEE756807A}"/>
              </a:ext>
            </a:extLst>
          </p:cNvPr>
          <p:cNvSpPr/>
          <p:nvPr/>
        </p:nvSpPr>
        <p:spPr>
          <a:xfrm>
            <a:off x="4544568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powder-step-8">
            <a:extLst>
              <a:ext uri="{FF2B5EF4-FFF2-40B4-BE49-F238E27FC236}">
                <a16:creationId xmlns:a16="http://schemas.microsoft.com/office/drawing/2014/main" id="{0665AD59-5306-DBD1-C99F-B3ABCBA511C0}"/>
              </a:ext>
            </a:extLst>
          </p:cNvPr>
          <p:cNvSpPr/>
          <p:nvPr/>
        </p:nvSpPr>
        <p:spPr>
          <a:xfrm>
            <a:off x="4773168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-9">
            <a:extLst>
              <a:ext uri="{FF2B5EF4-FFF2-40B4-BE49-F238E27FC236}">
                <a16:creationId xmlns:a16="http://schemas.microsoft.com/office/drawing/2014/main" id="{632321F9-F28B-5E85-95E4-4E49AAE1EC6C}"/>
              </a:ext>
            </a:extLst>
          </p:cNvPr>
          <p:cNvSpPr txBox="1"/>
          <p:nvPr/>
        </p:nvSpPr>
        <p:spPr>
          <a:xfrm>
            <a:off x="4864608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Spray drying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Slurry sprayed into hot air to form small round granules</a:t>
            </a:r>
            <a:endParaRPr lang="en-US" sz="1600" dirty="0">
              <a:latin typeface="+mj-lt"/>
            </a:endParaRPr>
          </a:p>
        </p:txBody>
      </p:sp>
      <p:sp>
        <p:nvSpPr>
          <p:cNvPr id="22" name="line-10">
            <a:extLst>
              <a:ext uri="{FF2B5EF4-FFF2-40B4-BE49-F238E27FC236}">
                <a16:creationId xmlns:a16="http://schemas.microsoft.com/office/drawing/2014/main" id="{F69DD26D-7347-1A87-F269-395D5D967CF1}"/>
              </a:ext>
            </a:extLst>
          </p:cNvPr>
          <p:cNvSpPr/>
          <p:nvPr/>
        </p:nvSpPr>
        <p:spPr>
          <a:xfrm>
            <a:off x="6803136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powder-step-11">
            <a:extLst>
              <a:ext uri="{FF2B5EF4-FFF2-40B4-BE49-F238E27FC236}">
                <a16:creationId xmlns:a16="http://schemas.microsoft.com/office/drawing/2014/main" id="{D7BFBE3A-B33F-E119-C60C-DD5D77A65128}"/>
              </a:ext>
            </a:extLst>
          </p:cNvPr>
          <p:cNvSpPr/>
          <p:nvPr/>
        </p:nvSpPr>
        <p:spPr>
          <a:xfrm>
            <a:off x="7031736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-12">
            <a:extLst>
              <a:ext uri="{FF2B5EF4-FFF2-40B4-BE49-F238E27FC236}">
                <a16:creationId xmlns:a16="http://schemas.microsoft.com/office/drawing/2014/main" id="{41CF2BAF-80D2-88B7-1716-F4062A053B4E}"/>
              </a:ext>
            </a:extLst>
          </p:cNvPr>
          <p:cNvSpPr txBox="1"/>
          <p:nvPr/>
        </p:nvSpPr>
        <p:spPr>
          <a:xfrm>
            <a:off x="7123176" y="1170432"/>
            <a:ext cx="1828800" cy="129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Calcination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Kiln at ~700–800 °C in nitrogen: LiFePO₄ forms with a thin carbon coat</a:t>
            </a:r>
            <a:endParaRPr lang="en-US" sz="1600" dirty="0">
              <a:latin typeface="+mj-lt"/>
            </a:endParaRPr>
          </a:p>
        </p:txBody>
      </p:sp>
      <p:sp>
        <p:nvSpPr>
          <p:cNvPr id="28" name="line-13">
            <a:extLst>
              <a:ext uri="{FF2B5EF4-FFF2-40B4-BE49-F238E27FC236}">
                <a16:creationId xmlns:a16="http://schemas.microsoft.com/office/drawing/2014/main" id="{56C1D179-68CC-F916-F28B-17970529915E}"/>
              </a:ext>
            </a:extLst>
          </p:cNvPr>
          <p:cNvSpPr/>
          <p:nvPr/>
        </p:nvSpPr>
        <p:spPr>
          <a:xfrm>
            <a:off x="9061704" y="173736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powder-step-14">
            <a:extLst>
              <a:ext uri="{FF2B5EF4-FFF2-40B4-BE49-F238E27FC236}">
                <a16:creationId xmlns:a16="http://schemas.microsoft.com/office/drawing/2014/main" id="{4D9C4906-6D1B-773E-282C-4C477C65AFA2}"/>
              </a:ext>
            </a:extLst>
          </p:cNvPr>
          <p:cNvSpPr/>
          <p:nvPr/>
        </p:nvSpPr>
        <p:spPr>
          <a:xfrm>
            <a:off x="9290304" y="1115568"/>
            <a:ext cx="201168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-15">
            <a:extLst>
              <a:ext uri="{FF2B5EF4-FFF2-40B4-BE49-F238E27FC236}">
                <a16:creationId xmlns:a16="http://schemas.microsoft.com/office/drawing/2014/main" id="{725FE5E7-1DB9-C814-3DDB-5C6A3198E433}"/>
              </a:ext>
            </a:extLst>
          </p:cNvPr>
          <p:cNvSpPr txBox="1"/>
          <p:nvPr/>
        </p:nvSpPr>
        <p:spPr>
          <a:xfrm>
            <a:off x="9381744" y="117043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Finishing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Crush, sieve, remove magnetic iron, pack in dry bags</a:t>
            </a:r>
            <a:endParaRPr lang="en-US" sz="1600" dirty="0">
              <a:latin typeface="+mj-lt"/>
            </a:endParaRPr>
          </a:p>
        </p:txBody>
      </p:sp>
      <p:sp>
        <p:nvSpPr>
          <p:cNvPr id="36" name="text-17">
            <a:extLst>
              <a:ext uri="{FF2B5EF4-FFF2-40B4-BE49-F238E27FC236}">
                <a16:creationId xmlns:a16="http://schemas.microsoft.com/office/drawing/2014/main" id="{DEE80AB8-1F0A-11C4-A094-BD4023173A48}"/>
              </a:ext>
            </a:extLst>
          </p:cNvPr>
          <p:cNvSpPr txBox="1"/>
          <p:nvPr/>
        </p:nvSpPr>
        <p:spPr>
          <a:xfrm>
            <a:off x="256032" y="2834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Making the cell: same core steps as every Li-ion cell</a:t>
            </a:r>
            <a:endParaRPr lang="en-US" sz="1600" dirty="0"/>
          </a:p>
        </p:txBody>
      </p:sp>
      <p:sp>
        <p:nvSpPr>
          <p:cNvPr id="40" name="text-19">
            <a:extLst>
              <a:ext uri="{FF2B5EF4-FFF2-40B4-BE49-F238E27FC236}">
                <a16:creationId xmlns:a16="http://schemas.microsoft.com/office/drawing/2014/main" id="{930E9059-8380-85E5-E0DB-57FA7D431A07}"/>
              </a:ext>
            </a:extLst>
          </p:cNvPr>
          <p:cNvSpPr txBox="1"/>
          <p:nvPr/>
        </p:nvSpPr>
        <p:spPr>
          <a:xfrm>
            <a:off x="256032" y="3273552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Electrode making</a:t>
            </a:r>
            <a:endParaRPr lang="en-US" sz="1400" dirty="0"/>
          </a:p>
        </p:txBody>
      </p:sp>
      <p:sp>
        <p:nvSpPr>
          <p:cNvPr id="42" name="text-20">
            <a:extLst>
              <a:ext uri="{FF2B5EF4-FFF2-40B4-BE49-F238E27FC236}">
                <a16:creationId xmlns:a16="http://schemas.microsoft.com/office/drawing/2014/main" id="{1199410E-07F8-30AA-531F-755266A6BB02}"/>
              </a:ext>
            </a:extLst>
          </p:cNvPr>
          <p:cNvSpPr txBox="1"/>
          <p:nvPr/>
        </p:nvSpPr>
        <p:spPr>
          <a:xfrm>
            <a:off x="30175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Mix LFP, carbon and binder into slurry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Coat on aluminium foil, then dry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Press (calender) and slit to width</a:t>
            </a:r>
            <a:endParaRPr lang="en-US" sz="1600" dirty="0"/>
          </a:p>
        </p:txBody>
      </p:sp>
      <p:sp>
        <p:nvSpPr>
          <p:cNvPr id="44" name="watch-21">
            <a:extLst>
              <a:ext uri="{FF2B5EF4-FFF2-40B4-BE49-F238E27FC236}">
                <a16:creationId xmlns:a16="http://schemas.microsoft.com/office/drawing/2014/main" id="{F98AEFFE-8B7A-91CA-7582-780653E7E19C}"/>
              </a:ext>
            </a:extLst>
          </p:cNvPr>
          <p:cNvSpPr/>
          <p:nvPr/>
        </p:nvSpPr>
        <p:spPr>
          <a:xfrm>
            <a:off x="271272" y="4901184"/>
            <a:ext cx="10954512" cy="1024128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-22">
            <a:extLst>
              <a:ext uri="{FF2B5EF4-FFF2-40B4-BE49-F238E27FC236}">
                <a16:creationId xmlns:a16="http://schemas.microsoft.com/office/drawing/2014/main" id="{834AC019-1D67-5F56-3B70-1D7DFA123AA8}"/>
              </a:ext>
            </a:extLst>
          </p:cNvPr>
          <p:cNvSpPr txBox="1"/>
          <p:nvPr/>
        </p:nvSpPr>
        <p:spPr>
          <a:xfrm>
            <a:off x="347472" y="5180077"/>
            <a:ext cx="10396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Fine LFP powder is hard to disperse evenly; mixing quality drives cell-to-cell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Mostly large prismatic cells (e.g. BYD Blade); moisture must still be kept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LFP’s flat voltage curve makes faulty cells harder to spot; screening must be precise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8" name="line-23">
            <a:extLst>
              <a:ext uri="{FF2B5EF4-FFF2-40B4-BE49-F238E27FC236}">
                <a16:creationId xmlns:a16="http://schemas.microsoft.com/office/drawing/2014/main" id="{1081FA4D-9EC4-7D62-34F5-F4F552271457}"/>
              </a:ext>
            </a:extLst>
          </p:cNvPr>
          <p:cNvSpPr/>
          <p:nvPr/>
        </p:nvSpPr>
        <p:spPr>
          <a:xfrm>
            <a:off x="3794760" y="3451860"/>
            <a:ext cx="23774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0" name="stage-24">
            <a:extLst>
              <a:ext uri="{FF2B5EF4-FFF2-40B4-BE49-F238E27FC236}">
                <a16:creationId xmlns:a16="http://schemas.microsoft.com/office/drawing/2014/main" id="{ABE313B1-D923-50B4-A7BD-92177763EB5C}"/>
              </a:ext>
            </a:extLst>
          </p:cNvPr>
          <p:cNvSpPr/>
          <p:nvPr/>
        </p:nvSpPr>
        <p:spPr>
          <a:xfrm>
            <a:off x="4050792" y="3246120"/>
            <a:ext cx="3520440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-25">
            <a:extLst>
              <a:ext uri="{FF2B5EF4-FFF2-40B4-BE49-F238E27FC236}">
                <a16:creationId xmlns:a16="http://schemas.microsoft.com/office/drawing/2014/main" id="{AAE493C8-963D-4B81-356A-6B9FB8694DA6}"/>
              </a:ext>
            </a:extLst>
          </p:cNvPr>
          <p:cNvSpPr txBox="1"/>
          <p:nvPr/>
        </p:nvSpPr>
        <p:spPr>
          <a:xfrm>
            <a:off x="4050792" y="3246120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Cell assembly (dry room)</a:t>
            </a:r>
            <a:endParaRPr lang="en-US" sz="1400" dirty="0"/>
          </a:p>
        </p:txBody>
      </p:sp>
      <p:sp>
        <p:nvSpPr>
          <p:cNvPr id="54" name="text-26">
            <a:extLst>
              <a:ext uri="{FF2B5EF4-FFF2-40B4-BE49-F238E27FC236}">
                <a16:creationId xmlns:a16="http://schemas.microsoft.com/office/drawing/2014/main" id="{00EA15CB-30DE-0642-43FC-4D10D30FD891}"/>
              </a:ext>
            </a:extLst>
          </p:cNvPr>
          <p:cNvSpPr txBox="1"/>
          <p:nvPr/>
        </p:nvSpPr>
        <p:spPr>
          <a:xfrm>
            <a:off x="409651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Stack or wind with separator and graphite anode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Weld tabs, seal in can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Fill with electrolyte</a:t>
            </a:r>
            <a:endParaRPr lang="en-US" sz="1600" dirty="0"/>
          </a:p>
        </p:txBody>
      </p:sp>
      <p:sp>
        <p:nvSpPr>
          <p:cNvPr id="60" name="line-29">
            <a:extLst>
              <a:ext uri="{FF2B5EF4-FFF2-40B4-BE49-F238E27FC236}">
                <a16:creationId xmlns:a16="http://schemas.microsoft.com/office/drawing/2014/main" id="{74010DA2-FFB7-F735-AE3D-AC33F8477893}"/>
              </a:ext>
            </a:extLst>
          </p:cNvPr>
          <p:cNvSpPr/>
          <p:nvPr/>
        </p:nvSpPr>
        <p:spPr>
          <a:xfrm>
            <a:off x="7589520" y="3451860"/>
            <a:ext cx="237744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2" name="stage-30">
            <a:extLst>
              <a:ext uri="{FF2B5EF4-FFF2-40B4-BE49-F238E27FC236}">
                <a16:creationId xmlns:a16="http://schemas.microsoft.com/office/drawing/2014/main" id="{279387BA-9E4C-6844-7381-12EABB0AE088}"/>
              </a:ext>
            </a:extLst>
          </p:cNvPr>
          <p:cNvSpPr/>
          <p:nvPr/>
        </p:nvSpPr>
        <p:spPr>
          <a:xfrm>
            <a:off x="7845552" y="3246120"/>
            <a:ext cx="3520440" cy="41148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-31">
            <a:extLst>
              <a:ext uri="{FF2B5EF4-FFF2-40B4-BE49-F238E27FC236}">
                <a16:creationId xmlns:a16="http://schemas.microsoft.com/office/drawing/2014/main" id="{5AD9A6E3-6DCE-BF02-E7F4-D9CF64A4AE47}"/>
              </a:ext>
            </a:extLst>
          </p:cNvPr>
          <p:cNvSpPr txBox="1"/>
          <p:nvPr/>
        </p:nvSpPr>
        <p:spPr>
          <a:xfrm>
            <a:off x="7845552" y="3246120"/>
            <a:ext cx="3520440" cy="411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Formation and testing</a:t>
            </a:r>
            <a:endParaRPr lang="en-US" sz="1400" dirty="0"/>
          </a:p>
        </p:txBody>
      </p:sp>
      <p:sp>
        <p:nvSpPr>
          <p:cNvPr id="66" name="text-32">
            <a:extLst>
              <a:ext uri="{FF2B5EF4-FFF2-40B4-BE49-F238E27FC236}">
                <a16:creationId xmlns:a16="http://schemas.microsoft.com/office/drawing/2014/main" id="{C52CBF66-5A28-F387-5F03-4D7D8D409739}"/>
              </a:ext>
            </a:extLst>
          </p:cNvPr>
          <p:cNvSpPr txBox="1"/>
          <p:nvPr/>
        </p:nvSpPr>
        <p:spPr>
          <a:xfrm>
            <a:off x="7891272" y="37490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First slow charges build the SEI layer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Age for days, check self-discharge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Grade by capacity and resistance</a:t>
            </a:r>
            <a:endParaRPr lang="en-US" sz="16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3F008C-7DAB-C9C7-4CC2-9E25ADE6265A}"/>
              </a:ext>
            </a:extLst>
          </p:cNvPr>
          <p:cNvSpPr txBox="1"/>
          <p:nvPr/>
        </p:nvSpPr>
        <p:spPr>
          <a:xfrm>
            <a:off x="195874" y="173254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LFP Manufacturing Process Overview</a:t>
            </a:r>
            <a:endParaRPr sz="2600" b="1" i="0" dirty="0">
              <a:solidFill>
                <a:srgbClr val="1F4E7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6900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">
            <a:extLst>
              <a:ext uri="{FF2B5EF4-FFF2-40B4-BE49-F238E27FC236}">
                <a16:creationId xmlns:a16="http://schemas.microsoft.com/office/drawing/2014/main" id="{304AD956-9C0C-CCBD-E3B9-56880762E72D}"/>
              </a:ext>
            </a:extLst>
          </p:cNvPr>
          <p:cNvSpPr txBox="1"/>
          <p:nvPr/>
        </p:nvSpPr>
        <p:spPr>
          <a:xfrm>
            <a:off x="603504" y="832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Global (Current Capacity - 1189 GWh)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graphicFrame>
        <p:nvGraphicFramePr>
          <p:cNvPr id="5" name="global-share">
            <a:extLst>
              <a:ext uri="{FF2B5EF4-FFF2-40B4-BE49-F238E27FC236}">
                <a16:creationId xmlns:a16="http://schemas.microsoft.com/office/drawing/2014/main" id="{042F68F1-4A5F-93CA-E02C-39C1088BBB35}"/>
              </a:ext>
            </a:extLst>
          </p:cNvPr>
          <p:cNvGraphicFramePr/>
          <p:nvPr/>
        </p:nvGraphicFramePr>
        <p:xfrm>
          <a:off x="420624" y="1152144"/>
          <a:ext cx="57607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-2">
            <a:extLst>
              <a:ext uri="{FF2B5EF4-FFF2-40B4-BE49-F238E27FC236}">
                <a16:creationId xmlns:a16="http://schemas.microsoft.com/office/drawing/2014/main" id="{1220F4FC-5783-840D-66EA-A076A131C632}"/>
              </a:ext>
            </a:extLst>
          </p:cNvPr>
          <p:cNvGraphicFramePr>
            <a:graphicFrameLocks noGrp="1"/>
          </p:cNvGraphicFramePr>
          <p:nvPr/>
        </p:nvGraphicFramePr>
        <p:xfrm>
          <a:off x="400252" y="3874774"/>
          <a:ext cx="5760720" cy="15849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Global snapshot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Figure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EV batteries installed, 2025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1,187 GWh ; CATL + BYD = 56%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China’s share of mineral refining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70–95% (graphite &gt;95%)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Average pack price, 2025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$108/kWh (LFP $81, NMC $128)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-3">
            <a:extLst>
              <a:ext uri="{FF2B5EF4-FFF2-40B4-BE49-F238E27FC236}">
                <a16:creationId xmlns:a16="http://schemas.microsoft.com/office/drawing/2014/main" id="{1F12B610-A570-4EFA-2899-9AC60FE2D665}"/>
              </a:ext>
            </a:extLst>
          </p:cNvPr>
          <p:cNvSpPr txBox="1"/>
          <p:nvPr/>
        </p:nvSpPr>
        <p:spPr>
          <a:xfrm>
            <a:off x="6547104" y="8321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India (Current Capacity - 1.4 GWh)</a:t>
            </a:r>
          </a:p>
        </p:txBody>
      </p:sp>
      <p:graphicFrame>
        <p:nvGraphicFramePr>
          <p:cNvPr id="11" name="table-4">
            <a:extLst>
              <a:ext uri="{FF2B5EF4-FFF2-40B4-BE49-F238E27FC236}">
                <a16:creationId xmlns:a16="http://schemas.microsoft.com/office/drawing/2014/main" id="{20AC7176-7855-70B7-49C1-F1AA433A620A}"/>
              </a:ext>
            </a:extLst>
          </p:cNvPr>
          <p:cNvGraphicFramePr>
            <a:graphicFrameLocks noGrp="1"/>
          </p:cNvGraphicFramePr>
          <p:nvPr/>
        </p:nvGraphicFramePr>
        <p:xfrm>
          <a:off x="6547103" y="1271016"/>
          <a:ext cx="5522975" cy="1249680"/>
        </p:xfrm>
        <a:graphic>
          <a:graphicData uri="http://schemas.openxmlformats.org/drawingml/2006/table">
            <a:tbl>
              <a:tblPr/>
              <a:tblGrid>
                <a:gridCol w="255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India market, FY2025–26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Figure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EV sales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 million+ (+24%)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Cell PLI scheme (₹18,100 cr)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 GWh target; ~1–1.4 GWh running</a:t>
                      </a:r>
                      <a:endParaRPr lang="en-US" sz="1600" dirty="0"/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-5">
            <a:extLst>
              <a:ext uri="{FF2B5EF4-FFF2-40B4-BE49-F238E27FC236}">
                <a16:creationId xmlns:a16="http://schemas.microsoft.com/office/drawing/2014/main" id="{CB6BFCBE-66F5-8B5A-008F-5D4E74B8BF03}"/>
              </a:ext>
            </a:extLst>
          </p:cNvPr>
          <p:cNvGraphicFramePr>
            <a:graphicFrameLocks noGrp="1"/>
          </p:cNvGraphicFramePr>
          <p:nvPr/>
        </p:nvGraphicFramePr>
        <p:xfrm>
          <a:off x="6547103" y="3246130"/>
          <a:ext cx="5522975" cy="225552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Cell plant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Planned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Status (Oct 2026)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Ola Electric, Tamil Nadu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20 GWh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~1.4 GWh installed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Reliance, Gujarat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15 GWh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Ramping up in 2026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Exide, Karnataka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6 GWh (phase 1)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Commissioning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Amara Raja, Telangana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4 GWh (phase 1)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Start FY27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Tata Agratas, Gujarat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20 GWh+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Under construction</a:t>
                      </a:r>
                      <a:endParaRPr lang="en-US" sz="1600" dirty="0">
                        <a:latin typeface="+mj-lt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-7">
            <a:extLst>
              <a:ext uri="{FF2B5EF4-FFF2-40B4-BE49-F238E27FC236}">
                <a16:creationId xmlns:a16="http://schemas.microsoft.com/office/drawing/2014/main" id="{D4652ED5-6143-37D9-1EF7-236C80E7C3EB}"/>
              </a:ext>
            </a:extLst>
          </p:cNvPr>
          <p:cNvSpPr txBox="1"/>
          <p:nvPr/>
        </p:nvSpPr>
        <p:spPr>
          <a:xfrm>
            <a:off x="195874" y="6193916"/>
            <a:ext cx="11064240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Sources: </a:t>
            </a:r>
            <a:r>
              <a:rPr lang="en-IN" sz="1100" u="sng" dirty="0" err="1">
                <a:solidFill>
                  <a:srgbClr val="0563C1"/>
                </a:solidFill>
                <a:hlinkClick r:id="rId3"/>
              </a:rPr>
              <a:t>CnEVPost</a:t>
            </a:r>
            <a:r>
              <a:rPr lang="en-IN" sz="1100" u="sng" dirty="0">
                <a:solidFill>
                  <a:srgbClr val="0563C1"/>
                </a:solidFill>
                <a:hlinkClick r:id="rId3"/>
              </a:rPr>
              <a:t> – SNE Research 2025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 err="1">
                <a:solidFill>
                  <a:srgbClr val="0563C1"/>
                </a:solidFill>
                <a:hlinkClick r:id="rId4"/>
              </a:rPr>
              <a:t>Mercom</a:t>
            </a:r>
            <a:r>
              <a:rPr lang="en-IN" sz="1100" u="sng" dirty="0">
                <a:solidFill>
                  <a:srgbClr val="0563C1"/>
                </a:solidFill>
                <a:hlinkClick r:id="rId4"/>
              </a:rPr>
              <a:t> – IEA minerals 2025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>
                <a:solidFill>
                  <a:srgbClr val="0563C1"/>
                </a:solidFill>
                <a:hlinkClick r:id="rId5"/>
              </a:rPr>
              <a:t>BNEF – pack prices, Dec 2025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 err="1">
                <a:solidFill>
                  <a:srgbClr val="0563C1"/>
                </a:solidFill>
                <a:hlinkClick r:id="rId6"/>
              </a:rPr>
              <a:t>EVreporter</a:t>
            </a:r>
            <a:r>
              <a:rPr lang="en-IN" sz="1100" u="sng" dirty="0">
                <a:solidFill>
                  <a:srgbClr val="0563C1"/>
                </a:solidFill>
                <a:hlinkClick r:id="rId6"/>
              </a:rPr>
              <a:t> – FY2025-26 EV sales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 err="1">
                <a:solidFill>
                  <a:srgbClr val="0563C1"/>
                </a:solidFill>
                <a:hlinkClick r:id="rId7"/>
              </a:rPr>
              <a:t>pv</a:t>
            </a:r>
            <a:r>
              <a:rPr lang="en-IN" sz="1100" u="sng" dirty="0">
                <a:solidFill>
                  <a:srgbClr val="0563C1"/>
                </a:solidFill>
                <a:hlinkClick r:id="rId7"/>
              </a:rPr>
              <a:t> magazine – PLI ACC, Mar 2026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>
                <a:solidFill>
                  <a:srgbClr val="0563C1"/>
                </a:solidFill>
                <a:hlinkClick r:id="rId8"/>
              </a:rPr>
              <a:t>The Machine Maker – Exide</a:t>
            </a:r>
            <a:r>
              <a:rPr lang="en-IN" sz="1100" dirty="0">
                <a:solidFill>
                  <a:srgbClr val="000000"/>
                </a:solidFill>
              </a:rPr>
              <a:t>; </a:t>
            </a:r>
            <a:r>
              <a:rPr lang="en-IN" sz="1100" u="sng" dirty="0">
                <a:solidFill>
                  <a:srgbClr val="0563C1"/>
                </a:solidFill>
                <a:hlinkClick r:id="rId9"/>
              </a:rPr>
              <a:t>The Machine Maker – Amara Raja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-3">
            <a:extLst>
              <a:ext uri="{FF2B5EF4-FFF2-40B4-BE49-F238E27FC236}">
                <a16:creationId xmlns:a16="http://schemas.microsoft.com/office/drawing/2014/main" id="{3B0EB521-86D8-8B26-97D9-466FF637753A}"/>
              </a:ext>
            </a:extLst>
          </p:cNvPr>
          <p:cNvSpPr txBox="1"/>
          <p:nvPr/>
        </p:nvSpPr>
        <p:spPr>
          <a:xfrm>
            <a:off x="6547104" y="283357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India’s Cell Manufacturing Capacity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47B89-B1E8-9385-00AC-999D3A681272}"/>
              </a:ext>
            </a:extLst>
          </p:cNvPr>
          <p:cNvSpPr txBox="1"/>
          <p:nvPr/>
        </p:nvSpPr>
        <p:spPr>
          <a:xfrm>
            <a:off x="98739" y="145472"/>
            <a:ext cx="11585448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3.d Battery: Cell Manufacturing Capacity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807984-B3A3-7BC6-A768-B4706B314D94}"/>
              </a:ext>
            </a:extLst>
          </p:cNvPr>
          <p:cNvGrpSpPr/>
          <p:nvPr/>
        </p:nvGrpSpPr>
        <p:grpSpPr>
          <a:xfrm>
            <a:off x="5283469" y="1384235"/>
            <a:ext cx="1041131" cy="801417"/>
            <a:chOff x="4599272" y="1464607"/>
            <a:chExt cx="1041131" cy="80141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E010588-212E-59F7-D858-B7878F353768}"/>
                </a:ext>
              </a:extLst>
            </p:cNvPr>
            <p:cNvSpPr/>
            <p:nvPr/>
          </p:nvSpPr>
          <p:spPr>
            <a:xfrm>
              <a:off x="4600876" y="1568918"/>
              <a:ext cx="105878" cy="7700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F76540E-DFBC-AC60-2F1A-549FEC5F38CC}"/>
                </a:ext>
              </a:extLst>
            </p:cNvPr>
            <p:cNvGrpSpPr/>
            <p:nvPr/>
          </p:nvGrpSpPr>
          <p:grpSpPr>
            <a:xfrm>
              <a:off x="4599272" y="1464607"/>
              <a:ext cx="1041131" cy="801417"/>
              <a:chOff x="4599272" y="1464607"/>
              <a:chExt cx="1041131" cy="80141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D9A96D4-40C1-6587-DE61-959AB7369F22}"/>
                  </a:ext>
                </a:extLst>
              </p:cNvPr>
              <p:cNvSpPr/>
              <p:nvPr/>
            </p:nvSpPr>
            <p:spPr>
              <a:xfrm>
                <a:off x="4599272" y="1818854"/>
                <a:ext cx="105878" cy="77002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08F14DD-76D1-F223-9568-FCCEB0CA2C33}"/>
                  </a:ext>
                </a:extLst>
              </p:cNvPr>
              <p:cNvSpPr/>
              <p:nvPr/>
            </p:nvSpPr>
            <p:spPr>
              <a:xfrm>
                <a:off x="4599272" y="2097024"/>
                <a:ext cx="105878" cy="77002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2F814A-A978-3B4E-961A-2DC98E522751}"/>
                  </a:ext>
                </a:extLst>
              </p:cNvPr>
              <p:cNvSpPr txBox="1"/>
              <p:nvPr/>
            </p:nvSpPr>
            <p:spPr>
              <a:xfrm>
                <a:off x="4774131" y="1464607"/>
                <a:ext cx="7026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CHINA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596605-8AFA-9608-1F7A-017957CB7E6D}"/>
                  </a:ext>
                </a:extLst>
              </p:cNvPr>
              <p:cNvSpPr txBox="1"/>
              <p:nvPr/>
            </p:nvSpPr>
            <p:spPr>
              <a:xfrm>
                <a:off x="4774130" y="1742237"/>
                <a:ext cx="86627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S. KOREA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132FBB-5CF7-DE58-0C9F-AEACA74A00A4}"/>
                  </a:ext>
                </a:extLst>
              </p:cNvPr>
              <p:cNvSpPr txBox="1"/>
              <p:nvPr/>
            </p:nvSpPr>
            <p:spPr>
              <a:xfrm>
                <a:off x="4774131" y="2019803"/>
                <a:ext cx="7026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JAPAN</a:t>
                </a:r>
              </a:p>
            </p:txBody>
          </p:sp>
        </p:grp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A9DCF9-ACA7-8F82-287D-3F8D7B7DE4C3}"/>
              </a:ext>
            </a:extLst>
          </p:cNvPr>
          <p:cNvCxnSpPr/>
          <p:nvPr/>
        </p:nvCxnSpPr>
        <p:spPr>
          <a:xfrm flipV="1">
            <a:off x="676656" y="1661865"/>
            <a:ext cx="0" cy="431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 15">
            <a:extLst>
              <a:ext uri="{FF2B5EF4-FFF2-40B4-BE49-F238E27FC236}">
                <a16:creationId xmlns:a16="http://schemas.microsoft.com/office/drawing/2014/main" id="{04F044BC-9013-4A08-6A72-9B27AFB84EBF}"/>
              </a:ext>
            </a:extLst>
          </p:cNvPr>
          <p:cNvSpPr txBox="1"/>
          <p:nvPr/>
        </p:nvSpPr>
        <p:spPr>
          <a:xfrm>
            <a:off x="420624" y="5701291"/>
            <a:ext cx="11649454" cy="40011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</a:rPr>
              <a:t>India’s gap: EV demand is growing; however, battery manufacturing is still lagging. </a:t>
            </a: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5EE3B0F6-EC2B-19D2-3CCC-C05410F787EB}"/>
              </a:ext>
            </a:extLst>
          </p:cNvPr>
          <p:cNvSpPr txBox="1"/>
          <p:nvPr/>
        </p:nvSpPr>
        <p:spPr>
          <a:xfrm>
            <a:off x="11729724" y="6624276"/>
            <a:ext cx="489985" cy="243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kumimoji="0" lang="en-US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2390537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F94AB8-970A-75A3-4F5A-5F89AF9DC133}"/>
              </a:ext>
            </a:extLst>
          </p:cNvPr>
          <p:cNvSpPr txBox="1"/>
          <p:nvPr/>
        </p:nvSpPr>
        <p:spPr>
          <a:xfrm>
            <a:off x="116225" y="139784"/>
            <a:ext cx="779333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600" b="1" i="0" dirty="0">
                <a:solidFill>
                  <a:srgbClr val="1F4E79"/>
                </a:solidFill>
                <a:latin typeface="+mj-lt"/>
              </a:rPr>
              <a:t>4</a:t>
            </a:r>
            <a:r>
              <a:rPr lang="en-IN" sz="2800" b="1" i="0" dirty="0">
                <a:solidFill>
                  <a:srgbClr val="1F4E79"/>
                </a:solidFill>
                <a:latin typeface="+mj-lt"/>
              </a:rPr>
              <a:t>. Charging Infra: EV Charging Infrastructure</a:t>
            </a:r>
            <a:endParaRPr sz="2800" b="1" i="0" dirty="0">
              <a:solidFill>
                <a:srgbClr val="1F4E79"/>
              </a:solidFill>
              <a:latin typeface="+mj-lt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9AE94A1-8D64-095A-0598-B42E1F2BFC75}"/>
              </a:ext>
            </a:extLst>
          </p:cNvPr>
          <p:cNvGraphicFramePr/>
          <p:nvPr/>
        </p:nvGraphicFramePr>
        <p:xfrm>
          <a:off x="195874" y="664804"/>
          <a:ext cx="2990088" cy="25080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B6B2286-7784-F218-D3EB-934EF7724597}"/>
              </a:ext>
            </a:extLst>
          </p:cNvPr>
          <p:cNvSpPr txBox="1"/>
          <p:nvPr/>
        </p:nvSpPr>
        <p:spPr>
          <a:xfrm>
            <a:off x="1086265" y="1678859"/>
            <a:ext cx="1101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Total</a:t>
            </a:r>
          </a:p>
          <a:p>
            <a:pPr algn="ctr"/>
            <a:r>
              <a:rPr lang="en-IN" b="1" dirty="0"/>
              <a:t>~52,718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60BF8-BF7D-CB58-FF85-35B22C679165}"/>
              </a:ext>
            </a:extLst>
          </p:cNvPr>
          <p:cNvSpPr txBox="1"/>
          <p:nvPr/>
        </p:nvSpPr>
        <p:spPr>
          <a:xfrm>
            <a:off x="978408" y="6167946"/>
            <a:ext cx="1081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3" action="ppaction://hlinkfile"/>
              </a:rPr>
              <a:t>Sansad data</a:t>
            </a:r>
            <a:r>
              <a:rPr lang="en-IN" sz="1200" dirty="0"/>
              <a:t>, </a:t>
            </a:r>
            <a:r>
              <a:rPr lang="en-US" sz="1200" dirty="0"/>
              <a:t>Lok Sabha written reply, Ministry of Heavy Industries, 16 Dec 2025 (PIB PRID 2204635),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Tata Power (Sep 2026)  · 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DeshGujarat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ChargeZone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(Sep 2026)  · 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YourStory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EVreporter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Statiq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(Feb 2026)  ·  Hyundai–Jio-bp release (Aug 2026)  ·  Mahindra–HPCL release (Sep 2026)  ·  </a:t>
            </a:r>
            <a:r>
              <a:rPr lang="en-US" sz="1200" i="1" dirty="0" err="1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MoPNG</a:t>
            </a:r>
            <a:r>
              <a:rPr lang="en-US" sz="12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year-end review 2025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6984E-493B-E9A5-5DBD-BCDEF8F53913}"/>
              </a:ext>
            </a:extLst>
          </p:cNvPr>
          <p:cNvSpPr txBox="1"/>
          <p:nvPr/>
        </p:nvSpPr>
        <p:spPr>
          <a:xfrm>
            <a:off x="0" y="6159376"/>
            <a:ext cx="12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:-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9DB9B4-DBC9-F892-4E25-B1B73698AE51}"/>
              </a:ext>
            </a:extLst>
          </p:cNvPr>
          <p:cNvGraphicFramePr>
            <a:graphicFrameLocks noGrp="1"/>
          </p:cNvGraphicFramePr>
          <p:nvPr/>
        </p:nvGraphicFramePr>
        <p:xfrm>
          <a:off x="195874" y="3172901"/>
          <a:ext cx="8125166" cy="25080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38493">
                  <a:extLst>
                    <a:ext uri="{9D8B030D-6E8A-4147-A177-3AD203B41FA5}">
                      <a16:colId xmlns:a16="http://schemas.microsoft.com/office/drawing/2014/main" val="1792605083"/>
                    </a:ext>
                  </a:extLst>
                </a:gridCol>
                <a:gridCol w="2316425">
                  <a:extLst>
                    <a:ext uri="{9D8B030D-6E8A-4147-A177-3AD203B41FA5}">
                      <a16:colId xmlns:a16="http://schemas.microsoft.com/office/drawing/2014/main" val="3653995309"/>
                    </a:ext>
                  </a:extLst>
                </a:gridCol>
                <a:gridCol w="4270248">
                  <a:extLst>
                    <a:ext uri="{9D8B030D-6E8A-4147-A177-3AD203B41FA5}">
                      <a16:colId xmlns:a16="http://schemas.microsoft.com/office/drawing/2014/main" val="161631751"/>
                    </a:ext>
                  </a:extLst>
                </a:gridCol>
              </a:tblGrid>
              <a:tr h="2180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OEM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Model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Current network</a:t>
                      </a:r>
                      <a:endParaRPr lang="en-IN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272310"/>
                  </a:ext>
                </a:extLst>
              </a:tr>
              <a:tr h="4306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Hyundai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Own DC network + app aggregation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185 charging stations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772525790"/>
                  </a:ext>
                </a:extLst>
              </a:tr>
              <a:tr h="21807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Mahindra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Charge_IN</a:t>
                      </a:r>
                      <a:r>
                        <a:rPr lang="en-IN" sz="1600" u="none" strike="noStrike" dirty="0">
                          <a:effectLst/>
                        </a:rPr>
                        <a:t> (own)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50 stations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10112753"/>
                  </a:ext>
                </a:extLst>
              </a:tr>
              <a:tr h="4306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Tata Motors (TATA.ev)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Open Collaboration with CPOs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2,500 community &amp;750 dealer chargers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865806983"/>
                  </a:ext>
                </a:extLst>
              </a:tr>
              <a:tr h="2754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Maruti Suzuki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Own + 13 CPO partners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2,000+ charging points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921227429"/>
                  </a:ext>
                </a:extLst>
              </a:tr>
              <a:tr h="43062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Ather Energy (2W)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Ather Grid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3,675+ own fast chargers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6321321"/>
                  </a:ext>
                </a:extLst>
              </a:tr>
              <a:tr h="21807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Ola Electric (2W)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Hypercharger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288 charging points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962528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5CE9B71-E4C7-E52C-6A4A-859A83A86FF4}"/>
              </a:ext>
            </a:extLst>
          </p:cNvPr>
          <p:cNvSpPr txBox="1"/>
          <p:nvPr/>
        </p:nvSpPr>
        <p:spPr>
          <a:xfrm>
            <a:off x="8826753" y="517637"/>
            <a:ext cx="279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Charge point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D7B771-E2ED-9C9A-68C1-89DB7E233F55}"/>
              </a:ext>
            </a:extLst>
          </p:cNvPr>
          <p:cNvGraphicFramePr>
            <a:graphicFrameLocks noGrp="1"/>
          </p:cNvGraphicFramePr>
          <p:nvPr/>
        </p:nvGraphicFramePr>
        <p:xfrm>
          <a:off x="8421624" y="886969"/>
          <a:ext cx="3607523" cy="5159397"/>
        </p:xfrm>
        <a:graphic>
          <a:graphicData uri="http://schemas.openxmlformats.org/drawingml/2006/table">
            <a:tbl>
              <a:tblPr/>
              <a:tblGrid>
                <a:gridCol w="1237876">
                  <a:extLst>
                    <a:ext uri="{9D8B030D-6E8A-4147-A177-3AD203B41FA5}">
                      <a16:colId xmlns:a16="http://schemas.microsoft.com/office/drawing/2014/main" val="265155245"/>
                    </a:ext>
                  </a:extLst>
                </a:gridCol>
                <a:gridCol w="2369647">
                  <a:extLst>
                    <a:ext uri="{9D8B030D-6E8A-4147-A177-3AD203B41FA5}">
                      <a16:colId xmlns:a16="http://schemas.microsoft.com/office/drawing/2014/main" val="3943399428"/>
                    </a:ext>
                  </a:extLst>
                </a:gridCol>
              </a:tblGrid>
              <a:tr h="5040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size (latest company disclosure)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308510"/>
                  </a:ext>
                </a:extLst>
              </a:tr>
              <a:tr h="82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Power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6,700+ charger points; 1,200+ e-bus points; 2.5 lakh+ home chargers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46547"/>
                  </a:ext>
                </a:extLst>
              </a:tr>
              <a:tr h="82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ChargeZone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15,000+ charging points at 1,200+ locations (India and UAE); 120 MW installed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45439"/>
                  </a:ext>
                </a:extLst>
              </a:tr>
              <a:tr h="729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Statiq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10,000+ AC and DC points, 100+ cities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225043"/>
                  </a:ext>
                </a:extLst>
              </a:tr>
              <a:tr h="729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Jio-bp pulse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7,000+ active points, 300+ cities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848651"/>
                  </a:ext>
                </a:extLst>
              </a:tr>
              <a:tr h="729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HPCL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5,600+ charging stations; 150+ battery-swap stations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148193"/>
                  </a:ext>
                </a:extLst>
              </a:tr>
              <a:tr h="822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IOCL, BPCL, HPCL (combined)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27,432 charging stations at fuel retail outlets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722096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097869D-CC1F-CB15-FB54-1DCD0B62B95D}"/>
              </a:ext>
            </a:extLst>
          </p:cNvPr>
          <p:cNvGraphicFramePr/>
          <p:nvPr/>
        </p:nvGraphicFramePr>
        <p:xfrm>
          <a:off x="3078478" y="502494"/>
          <a:ext cx="5100985" cy="27293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E316ABD-94B2-C51D-F13D-56B16935E095}"/>
              </a:ext>
            </a:extLst>
          </p:cNvPr>
          <p:cNvSpPr txBox="1"/>
          <p:nvPr/>
        </p:nvSpPr>
        <p:spPr>
          <a:xfrm>
            <a:off x="104434" y="5687613"/>
            <a:ext cx="868853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50" b="1" dirty="0">
                <a:solidFill>
                  <a:srgbClr val="FF0000"/>
                </a:solidFill>
              </a:rPr>
              <a:t>India’s Charging infra discussion has moved from too few chargers to too few reliable fast chargers  where drivers need them.</a:t>
            </a:r>
          </a:p>
        </p:txBody>
      </p:sp>
    </p:spTree>
    <p:extLst>
      <p:ext uri="{BB962C8B-B14F-4D97-AF65-F5344CB8AC3E}">
        <p14:creationId xmlns:p14="http://schemas.microsoft.com/office/powerpoint/2010/main" val="210171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5448" y="91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Financing &amp; Subsidies for EV Buying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92608" y="603046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Cash subsidy now mainly for commercial EVs; private buyers gain through GST, state road-tax waivers and state-backed credit</a:t>
            </a:r>
            <a:endParaRPr lang="en-US" sz="1600" b="1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155448" y="1142653"/>
          <a:ext cx="6044183" cy="4645846"/>
        </p:xfrm>
        <a:graphic>
          <a:graphicData uri="http://schemas.openxmlformats.org/drawingml/2006/table">
            <a:tbl>
              <a:tblPr/>
              <a:tblGrid>
                <a:gridCol w="1774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Scheme / Instrument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PM E-DRIVE – e-2W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₹2,500/kWh, max ₹5,000 (ex-factory ≤ ₹1.5 lakh)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Ended 31 Jul 2026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PM E-DRIVE – e-3W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Per-kWh demand incentive (e-rickshaw, e-cart, L5)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Till Mar 2028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PM E-DRIVE – e-trucks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Up to ₹9.6 lakh with diesel truck scrappage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PM E-DRIVE – e-buses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₹4,391 cr for 14,028 buses (7 cities)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Private electric cars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 central purchase subsidy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GST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5% on EVs and EV chargers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Delhi Financial Corp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Up to 5% interest subvention on e-3W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Kerala Financial Corp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EV loans at 7% (3% subvention)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83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World Bank–NITI facility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$300 mn first-loss cover; cuts lending cost 10–12%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804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Set up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00800" y="800100"/>
          <a:ext cx="5330952" cy="2441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/>
        </p:nvGraphicFramePr>
        <p:xfrm>
          <a:off x="6336792" y="3589714"/>
          <a:ext cx="5458967" cy="2164080"/>
        </p:xfrm>
        <a:graphic>
          <a:graphicData uri="http://schemas.openxmlformats.org/drawingml/2006/table">
            <a:tbl>
              <a:tblPr/>
              <a:tblGrid>
                <a:gridCol w="1264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7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Car incentive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Valid till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 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Dec 2026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1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 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Dec 2027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Road tax + registration exemption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31 Mar 2030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Road tax + registration waiver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292608" y="633679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75B6"/>
                </a:solidFill>
                <a:latin typeface="+mj-lt"/>
                <a:ea typeface="Calibri" pitchFamily="34" charset="-122"/>
                <a:cs typeface="Calibri" pitchFamily="34" charset="-120"/>
              </a:rPr>
              <a:t>Source: PIB (1 Oct 2026); Lok Sabha reply (21 Jul 2026); MeraEV (Jul 2026); SBI; CEEW; NITI Aayog via Mercom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5176" y="8229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Mineral Mapping for EV Parts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333756" y="850392"/>
          <a:ext cx="5760720" cy="54559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EV part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India import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Global chokepoint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Lithium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Cathode, electrolyte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&gt;80% of India's Li imports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Cobalt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NMC cathode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~74% of global refining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Nickel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NMC cathode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~68% of global refining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Motor windings, HV harness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~44% of global refining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Graphite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Anode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60% (natural)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&gt;90% of synthetic graphite; export curbs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Rare earths (Nd, Pr, Dy, Tb)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Motor magnets (NdFeB)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Not quantified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China &gt;90% of processing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Silicon carbide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Inverter / power chips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Imported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Few global suppliers; no Indian fab yet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Manganese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NMC / LMFP cathode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Mostly domestic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~503.6 Mt Indian resources</a:t>
                      </a:r>
                      <a:endParaRPr lang="en-US" sz="16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00800" y="850392"/>
          <a:ext cx="5330952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6400800" y="3593592"/>
          <a:ext cx="5330952" cy="264566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India's response / domestic capacity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Lithium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5.9 Mt inferred in Reasi (J&amp;K); Altmin refinery JV (Telangana)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Ni / Co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Shift to LFP cathode: GFCL (Jolva, Gujarat), Altmin (Telangana)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Graphite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Anode plants: Himadri (Hooghly, WB), Epsilon (Karnataka)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Rare earths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₹7,280 cr scheme for 6,000 t/yr magnets; NdPr from IREL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SiC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4E79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SiCSem fab approved, Bhubaneswar (Odisha)</a:t>
                      </a:r>
                      <a:endParaRPr lang="en-US" sz="140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100584" y="63977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5B6"/>
                </a:solidFill>
                <a:latin typeface="+mj-lt"/>
                <a:ea typeface="Calibri" pitchFamily="34" charset="-122"/>
                <a:cs typeface="Calibri" pitchFamily="34" charset="-120"/>
              </a:rPr>
              <a:t>Source: ORF critical minerals paper (Jul 2026); Outlook Business; IANS (Mar 2026); YourStory; EVreporter; Indian Infrastructure (Sep 2026)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E9D297-9FA1-8085-8DBF-01D7A3D6EFED}"/>
              </a:ext>
            </a:extLst>
          </p:cNvPr>
          <p:cNvSpPr txBox="1">
            <a:spLocks/>
          </p:cNvSpPr>
          <p:nvPr/>
        </p:nvSpPr>
        <p:spPr>
          <a:xfrm>
            <a:off x="237744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Traction motors: types and how they make torque</a:t>
            </a:r>
            <a:endParaRPr lang="en-US" sz="3000" dirty="0"/>
          </a:p>
        </p:txBody>
      </p:sp>
      <p:sp>
        <p:nvSpPr>
          <p:cNvPr id="3" name="rect-1">
            <a:extLst>
              <a:ext uri="{FF2B5EF4-FFF2-40B4-BE49-F238E27FC236}">
                <a16:creationId xmlns:a16="http://schemas.microsoft.com/office/drawing/2014/main" id="{82300E3F-916F-3955-FD4D-C8FCF100DA4E}"/>
              </a:ext>
            </a:extLst>
          </p:cNvPr>
          <p:cNvSpPr/>
          <p:nvPr/>
        </p:nvSpPr>
        <p:spPr>
          <a:xfrm>
            <a:off x="2758440" y="1289304"/>
            <a:ext cx="256032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3068562E-0A88-F682-AFF6-1C41B253A7BD}"/>
              </a:ext>
            </a:extLst>
          </p:cNvPr>
          <p:cNvSpPr txBox="1"/>
          <p:nvPr/>
        </p:nvSpPr>
        <p:spPr>
          <a:xfrm>
            <a:off x="2758440" y="12893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 traction motors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line-3">
            <a:extLst>
              <a:ext uri="{FF2B5EF4-FFF2-40B4-BE49-F238E27FC236}">
                <a16:creationId xmlns:a16="http://schemas.microsoft.com/office/drawing/2014/main" id="{B4994346-E7D6-51F2-3582-2FA2DA1154CE}"/>
              </a:ext>
            </a:extLst>
          </p:cNvPr>
          <p:cNvSpPr/>
          <p:nvPr/>
        </p:nvSpPr>
        <p:spPr>
          <a:xfrm>
            <a:off x="4038600" y="170078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line-4">
            <a:extLst>
              <a:ext uri="{FF2B5EF4-FFF2-40B4-BE49-F238E27FC236}">
                <a16:creationId xmlns:a16="http://schemas.microsoft.com/office/drawing/2014/main" id="{1FE13F91-8286-E41F-1EB0-5B24D251C84E}"/>
              </a:ext>
            </a:extLst>
          </p:cNvPr>
          <p:cNvSpPr/>
          <p:nvPr/>
        </p:nvSpPr>
        <p:spPr>
          <a:xfrm>
            <a:off x="1981200" y="1792224"/>
            <a:ext cx="365760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line-5">
            <a:extLst>
              <a:ext uri="{FF2B5EF4-FFF2-40B4-BE49-F238E27FC236}">
                <a16:creationId xmlns:a16="http://schemas.microsoft.com/office/drawing/2014/main" id="{3442EB30-D283-BA8F-AE2A-2343E6ED7623}"/>
              </a:ext>
            </a:extLst>
          </p:cNvPr>
          <p:cNvSpPr/>
          <p:nvPr/>
        </p:nvSpPr>
        <p:spPr>
          <a:xfrm>
            <a:off x="1981200" y="17922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rect-6">
            <a:extLst>
              <a:ext uri="{FF2B5EF4-FFF2-40B4-BE49-F238E27FC236}">
                <a16:creationId xmlns:a16="http://schemas.microsoft.com/office/drawing/2014/main" id="{66BDF137-F0BB-17F9-8E21-9AAA97BE4B17}"/>
              </a:ext>
            </a:extLst>
          </p:cNvPr>
          <p:cNvSpPr/>
          <p:nvPr/>
        </p:nvSpPr>
        <p:spPr>
          <a:xfrm>
            <a:off x="563880" y="1883664"/>
            <a:ext cx="283464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C0D4F-9579-A3C4-BA73-DF68A1E6FF5D}"/>
              </a:ext>
            </a:extLst>
          </p:cNvPr>
          <p:cNvSpPr txBox="1"/>
          <p:nvPr/>
        </p:nvSpPr>
        <p:spPr>
          <a:xfrm>
            <a:off x="563880" y="18836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Permanent-magnet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line-8">
            <a:extLst>
              <a:ext uri="{FF2B5EF4-FFF2-40B4-BE49-F238E27FC236}">
                <a16:creationId xmlns:a16="http://schemas.microsoft.com/office/drawing/2014/main" id="{60D61BA8-CEB4-10C7-6E4F-A337D8155106}"/>
              </a:ext>
            </a:extLst>
          </p:cNvPr>
          <p:cNvSpPr/>
          <p:nvPr/>
        </p:nvSpPr>
        <p:spPr>
          <a:xfrm>
            <a:off x="5638800" y="17922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rect-9">
            <a:extLst>
              <a:ext uri="{FF2B5EF4-FFF2-40B4-BE49-F238E27FC236}">
                <a16:creationId xmlns:a16="http://schemas.microsoft.com/office/drawing/2014/main" id="{A7E927AB-D750-C3FA-0869-ED1824EE98A7}"/>
              </a:ext>
            </a:extLst>
          </p:cNvPr>
          <p:cNvSpPr/>
          <p:nvPr/>
        </p:nvSpPr>
        <p:spPr>
          <a:xfrm>
            <a:off x="3581400" y="1883664"/>
            <a:ext cx="411480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9C9A313-8FC0-B751-5C39-47DAFBBB3D5D}"/>
              </a:ext>
            </a:extLst>
          </p:cNvPr>
          <p:cNvSpPr txBox="1"/>
          <p:nvPr/>
        </p:nvSpPr>
        <p:spPr>
          <a:xfrm>
            <a:off x="3581400" y="18836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Magnet-free (no rare earths)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line-11">
            <a:extLst>
              <a:ext uri="{FF2B5EF4-FFF2-40B4-BE49-F238E27FC236}">
                <a16:creationId xmlns:a16="http://schemas.microsoft.com/office/drawing/2014/main" id="{4058BA3C-2DBC-B0DC-2F9B-24A734CCF26F}"/>
              </a:ext>
            </a:extLst>
          </p:cNvPr>
          <p:cNvSpPr/>
          <p:nvPr/>
        </p:nvSpPr>
        <p:spPr>
          <a:xfrm>
            <a:off x="1981200" y="2295144"/>
            <a:ext cx="0" cy="1828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line-12">
            <a:extLst>
              <a:ext uri="{FF2B5EF4-FFF2-40B4-BE49-F238E27FC236}">
                <a16:creationId xmlns:a16="http://schemas.microsoft.com/office/drawing/2014/main" id="{955487D7-8EF6-A1EC-9AFE-4BD3D0E0A717}"/>
              </a:ext>
            </a:extLst>
          </p:cNvPr>
          <p:cNvSpPr/>
          <p:nvPr/>
        </p:nvSpPr>
        <p:spPr>
          <a:xfrm>
            <a:off x="1245108" y="2478024"/>
            <a:ext cx="1472184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line-13">
            <a:extLst>
              <a:ext uri="{FF2B5EF4-FFF2-40B4-BE49-F238E27FC236}">
                <a16:creationId xmlns:a16="http://schemas.microsoft.com/office/drawing/2014/main" id="{B8722B80-C268-44AA-16BE-CEB2EE50FE8F}"/>
              </a:ext>
            </a:extLst>
          </p:cNvPr>
          <p:cNvSpPr/>
          <p:nvPr/>
        </p:nvSpPr>
        <p:spPr>
          <a:xfrm>
            <a:off x="1245108" y="24780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rect-14">
            <a:extLst>
              <a:ext uri="{FF2B5EF4-FFF2-40B4-BE49-F238E27FC236}">
                <a16:creationId xmlns:a16="http://schemas.microsoft.com/office/drawing/2014/main" id="{C1408FD8-C330-F71B-D67D-5C07E9840A58}"/>
              </a:ext>
            </a:extLst>
          </p:cNvPr>
          <p:cNvSpPr/>
          <p:nvPr/>
        </p:nvSpPr>
        <p:spPr>
          <a:xfrm>
            <a:off x="563880" y="2569464"/>
            <a:ext cx="1362456" cy="1600200"/>
          </a:xfrm>
          <a:prstGeom prst="roundRect">
            <a:avLst>
              <a:gd name="adj" fmla="val 4027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text-15">
            <a:extLst>
              <a:ext uri="{FF2B5EF4-FFF2-40B4-BE49-F238E27FC236}">
                <a16:creationId xmlns:a16="http://schemas.microsoft.com/office/drawing/2014/main" id="{E4C28D49-5F77-65B9-DDEA-425E5947ADA0}"/>
              </a:ext>
            </a:extLst>
          </p:cNvPr>
          <p:cNvSpPr txBox="1"/>
          <p:nvPr/>
        </p:nvSpPr>
        <p:spPr>
          <a:xfrm>
            <a:off x="637032" y="2624328"/>
            <a:ext cx="1216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PMSM / IPMSM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Magnets follow the field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EV cars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line-16">
            <a:extLst>
              <a:ext uri="{FF2B5EF4-FFF2-40B4-BE49-F238E27FC236}">
                <a16:creationId xmlns:a16="http://schemas.microsoft.com/office/drawing/2014/main" id="{45720E57-1C62-1DED-CED0-77C6D7698CAA}"/>
              </a:ext>
            </a:extLst>
          </p:cNvPr>
          <p:cNvSpPr/>
          <p:nvPr/>
        </p:nvSpPr>
        <p:spPr>
          <a:xfrm>
            <a:off x="2717292" y="24780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rect-17">
            <a:extLst>
              <a:ext uri="{FF2B5EF4-FFF2-40B4-BE49-F238E27FC236}">
                <a16:creationId xmlns:a16="http://schemas.microsoft.com/office/drawing/2014/main" id="{083DBEBC-32AA-3940-301F-57848C7B4D98}"/>
              </a:ext>
            </a:extLst>
          </p:cNvPr>
          <p:cNvSpPr/>
          <p:nvPr/>
        </p:nvSpPr>
        <p:spPr>
          <a:xfrm>
            <a:off x="2036064" y="2569464"/>
            <a:ext cx="1362456" cy="1600200"/>
          </a:xfrm>
          <a:prstGeom prst="roundRect">
            <a:avLst>
              <a:gd name="adj" fmla="val 4027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text-18">
            <a:extLst>
              <a:ext uri="{FF2B5EF4-FFF2-40B4-BE49-F238E27FC236}">
                <a16:creationId xmlns:a16="http://schemas.microsoft.com/office/drawing/2014/main" id="{259B92D4-1056-016E-2FC7-CFAAB4A17EB7}"/>
              </a:ext>
            </a:extLst>
          </p:cNvPr>
          <p:cNvSpPr txBox="1"/>
          <p:nvPr/>
        </p:nvSpPr>
        <p:spPr>
          <a:xfrm>
            <a:off x="2109216" y="2624328"/>
            <a:ext cx="12161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block switching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Scooters, e-rickshaws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line-19">
            <a:extLst>
              <a:ext uri="{FF2B5EF4-FFF2-40B4-BE49-F238E27FC236}">
                <a16:creationId xmlns:a16="http://schemas.microsoft.com/office/drawing/2014/main" id="{ED4C2ECF-640D-86C2-2B60-1816B7577C24}"/>
              </a:ext>
            </a:extLst>
          </p:cNvPr>
          <p:cNvSpPr/>
          <p:nvPr/>
        </p:nvSpPr>
        <p:spPr>
          <a:xfrm>
            <a:off x="5638800" y="2295144"/>
            <a:ext cx="0" cy="1828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line-20">
            <a:extLst>
              <a:ext uri="{FF2B5EF4-FFF2-40B4-BE49-F238E27FC236}">
                <a16:creationId xmlns:a16="http://schemas.microsoft.com/office/drawing/2014/main" id="{975B9303-A3E8-B249-21DE-8E3D123426D6}"/>
              </a:ext>
            </a:extLst>
          </p:cNvPr>
          <p:cNvSpPr/>
          <p:nvPr/>
        </p:nvSpPr>
        <p:spPr>
          <a:xfrm>
            <a:off x="4230624" y="2478024"/>
            <a:ext cx="281635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line-21">
            <a:extLst>
              <a:ext uri="{FF2B5EF4-FFF2-40B4-BE49-F238E27FC236}">
                <a16:creationId xmlns:a16="http://schemas.microsoft.com/office/drawing/2014/main" id="{EFB70DB3-4E43-4628-74A5-47C28D06F39A}"/>
              </a:ext>
            </a:extLst>
          </p:cNvPr>
          <p:cNvSpPr/>
          <p:nvPr/>
        </p:nvSpPr>
        <p:spPr>
          <a:xfrm>
            <a:off x="4230624" y="24780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rect-22">
            <a:extLst>
              <a:ext uri="{FF2B5EF4-FFF2-40B4-BE49-F238E27FC236}">
                <a16:creationId xmlns:a16="http://schemas.microsoft.com/office/drawing/2014/main" id="{DD472D37-703E-7778-64B6-C683D0FFA5AB}"/>
              </a:ext>
            </a:extLst>
          </p:cNvPr>
          <p:cNvSpPr/>
          <p:nvPr/>
        </p:nvSpPr>
        <p:spPr>
          <a:xfrm>
            <a:off x="3581400" y="2569464"/>
            <a:ext cx="1298448" cy="1600200"/>
          </a:xfrm>
          <a:prstGeom prst="roundRect">
            <a:avLst>
              <a:gd name="adj" fmla="val 4225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51A88E7C-8B4A-98A1-B283-FCD33137CDD9}"/>
              </a:ext>
            </a:extLst>
          </p:cNvPr>
          <p:cNvSpPr txBox="1"/>
          <p:nvPr/>
        </p:nvSpPr>
        <p:spPr>
          <a:xfrm>
            <a:off x="3654552" y="2624328"/>
            <a:ext cx="1152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induces rotor current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Tesla, Audi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line-24">
            <a:extLst>
              <a:ext uri="{FF2B5EF4-FFF2-40B4-BE49-F238E27FC236}">
                <a16:creationId xmlns:a16="http://schemas.microsoft.com/office/drawing/2014/main" id="{1835285F-CB91-9D40-8F4F-BF349551CD34}"/>
              </a:ext>
            </a:extLst>
          </p:cNvPr>
          <p:cNvSpPr/>
          <p:nvPr/>
        </p:nvSpPr>
        <p:spPr>
          <a:xfrm>
            <a:off x="5638800" y="24780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rect-25">
            <a:extLst>
              <a:ext uri="{FF2B5EF4-FFF2-40B4-BE49-F238E27FC236}">
                <a16:creationId xmlns:a16="http://schemas.microsoft.com/office/drawing/2014/main" id="{72BCF0DD-A2D3-E26C-9B86-C871B0409D46}"/>
              </a:ext>
            </a:extLst>
          </p:cNvPr>
          <p:cNvSpPr/>
          <p:nvPr/>
        </p:nvSpPr>
        <p:spPr>
          <a:xfrm>
            <a:off x="4989576" y="2569464"/>
            <a:ext cx="1298448" cy="1600200"/>
          </a:xfrm>
          <a:prstGeom prst="roundRect">
            <a:avLst>
              <a:gd name="adj" fmla="val 4225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2B16E3F3-4CCD-065F-5821-FC710562E8C5}"/>
              </a:ext>
            </a:extLst>
          </p:cNvPr>
          <p:cNvSpPr txBox="1"/>
          <p:nvPr/>
        </p:nvSpPr>
        <p:spPr>
          <a:xfrm>
            <a:off x="5062728" y="2624328"/>
            <a:ext cx="1152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EESM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DC-fed rotor coil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BMW, Renault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line-27">
            <a:extLst>
              <a:ext uri="{FF2B5EF4-FFF2-40B4-BE49-F238E27FC236}">
                <a16:creationId xmlns:a16="http://schemas.microsoft.com/office/drawing/2014/main" id="{03EADE4C-E8FD-5B0B-B80F-268CD2C40287}"/>
              </a:ext>
            </a:extLst>
          </p:cNvPr>
          <p:cNvSpPr/>
          <p:nvPr/>
        </p:nvSpPr>
        <p:spPr>
          <a:xfrm>
            <a:off x="7046976" y="2478024"/>
            <a:ext cx="0" cy="914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rect-28">
            <a:extLst>
              <a:ext uri="{FF2B5EF4-FFF2-40B4-BE49-F238E27FC236}">
                <a16:creationId xmlns:a16="http://schemas.microsoft.com/office/drawing/2014/main" id="{1853739E-B6DD-046F-0A2F-7FFA5D59CB85}"/>
              </a:ext>
            </a:extLst>
          </p:cNvPr>
          <p:cNvSpPr/>
          <p:nvPr/>
        </p:nvSpPr>
        <p:spPr>
          <a:xfrm>
            <a:off x="6397752" y="2569464"/>
            <a:ext cx="1298448" cy="1600200"/>
          </a:xfrm>
          <a:prstGeom prst="roundRect">
            <a:avLst>
              <a:gd name="adj" fmla="val 4225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text-29">
            <a:extLst>
              <a:ext uri="{FF2B5EF4-FFF2-40B4-BE49-F238E27FC236}">
                <a16:creationId xmlns:a16="http://schemas.microsoft.com/office/drawing/2014/main" id="{7316F48F-438C-857B-8DB7-1A77A81FC8C0}"/>
              </a:ext>
            </a:extLst>
          </p:cNvPr>
          <p:cNvSpPr txBox="1"/>
          <p:nvPr/>
        </p:nvSpPr>
        <p:spPr>
          <a:xfrm>
            <a:off x="6470904" y="2624328"/>
            <a:ext cx="1152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Iron rotor pulled to poles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Niche, low cost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rect-30">
            <a:extLst>
              <a:ext uri="{FF2B5EF4-FFF2-40B4-BE49-F238E27FC236}">
                <a16:creationId xmlns:a16="http://schemas.microsoft.com/office/drawing/2014/main" id="{5180AE21-5735-61B3-91F5-F8DDE27D5E62}"/>
              </a:ext>
            </a:extLst>
          </p:cNvPr>
          <p:cNvSpPr/>
          <p:nvPr/>
        </p:nvSpPr>
        <p:spPr>
          <a:xfrm>
            <a:off x="7970520" y="1289304"/>
            <a:ext cx="36576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text-31">
            <a:extLst>
              <a:ext uri="{FF2B5EF4-FFF2-40B4-BE49-F238E27FC236}">
                <a16:creationId xmlns:a16="http://schemas.microsoft.com/office/drawing/2014/main" id="{9DA61846-9E89-443C-55E4-65892CE20988}"/>
              </a:ext>
            </a:extLst>
          </p:cNvPr>
          <p:cNvSpPr txBox="1"/>
          <p:nvPr/>
        </p:nvSpPr>
        <p:spPr>
          <a:xfrm>
            <a:off x="8153400" y="1344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Torque in three rules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rect-32">
            <a:extLst>
              <a:ext uri="{FF2B5EF4-FFF2-40B4-BE49-F238E27FC236}">
                <a16:creationId xmlns:a16="http://schemas.microsoft.com/office/drawing/2014/main" id="{2CC6673D-F46D-CCAB-EF39-589ABCB6C2AD}"/>
              </a:ext>
            </a:extLst>
          </p:cNvPr>
          <p:cNvSpPr/>
          <p:nvPr/>
        </p:nvSpPr>
        <p:spPr>
          <a:xfrm>
            <a:off x="8153400" y="1746504"/>
            <a:ext cx="3291840" cy="694944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5" name="text-33">
            <a:extLst>
              <a:ext uri="{FF2B5EF4-FFF2-40B4-BE49-F238E27FC236}">
                <a16:creationId xmlns:a16="http://schemas.microsoft.com/office/drawing/2014/main" id="{8E171108-EB64-ACCB-B5CB-164A0C3CD056}"/>
              </a:ext>
            </a:extLst>
          </p:cNvPr>
          <p:cNvSpPr txBox="1"/>
          <p:nvPr/>
        </p:nvSpPr>
        <p:spPr>
          <a:xfrm>
            <a:off x="8244840" y="1746504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Torque ∝ flux × current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current → more torque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rect-34">
            <a:extLst>
              <a:ext uri="{FF2B5EF4-FFF2-40B4-BE49-F238E27FC236}">
                <a16:creationId xmlns:a16="http://schemas.microsoft.com/office/drawing/2014/main" id="{711B5213-A9D9-A1B0-8A98-908A7061A3EC}"/>
              </a:ext>
            </a:extLst>
          </p:cNvPr>
          <p:cNvSpPr/>
          <p:nvPr/>
        </p:nvSpPr>
        <p:spPr>
          <a:xfrm>
            <a:off x="8153400" y="2532888"/>
            <a:ext cx="3291840" cy="694944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text-35">
            <a:extLst>
              <a:ext uri="{FF2B5EF4-FFF2-40B4-BE49-F238E27FC236}">
                <a16:creationId xmlns:a16="http://schemas.microsoft.com/office/drawing/2014/main" id="{B86FCFC2-69BB-79E7-7914-26F1180204B6}"/>
              </a:ext>
            </a:extLst>
          </p:cNvPr>
          <p:cNvSpPr txBox="1"/>
          <p:nvPr/>
        </p:nvSpPr>
        <p:spPr>
          <a:xfrm>
            <a:off x="8244840" y="253288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rpm = 120 × f ÷ poles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 Hz, 8 poles → 6,000 rpm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rect-36">
            <a:extLst>
              <a:ext uri="{FF2B5EF4-FFF2-40B4-BE49-F238E27FC236}">
                <a16:creationId xmlns:a16="http://schemas.microsoft.com/office/drawing/2014/main" id="{2AA78CB6-3776-11F3-FD3F-847A0563A162}"/>
              </a:ext>
            </a:extLst>
          </p:cNvPr>
          <p:cNvSpPr/>
          <p:nvPr/>
        </p:nvSpPr>
        <p:spPr>
          <a:xfrm>
            <a:off x="8153400" y="3319272"/>
            <a:ext cx="3291840" cy="694944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text-37">
            <a:extLst>
              <a:ext uri="{FF2B5EF4-FFF2-40B4-BE49-F238E27FC236}">
                <a16:creationId xmlns:a16="http://schemas.microsoft.com/office/drawing/2014/main" id="{C6FB1AAC-9849-1D7D-4A7B-6281E86FFF16}"/>
              </a:ext>
            </a:extLst>
          </p:cNvPr>
          <p:cNvSpPr txBox="1"/>
          <p:nvPr/>
        </p:nvSpPr>
        <p:spPr>
          <a:xfrm>
            <a:off x="8244840" y="331927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= torque × speed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torque from 0 rpm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text-38">
            <a:extLst>
              <a:ext uri="{FF2B5EF4-FFF2-40B4-BE49-F238E27FC236}">
                <a16:creationId xmlns:a16="http://schemas.microsoft.com/office/drawing/2014/main" id="{3A7BB5E7-7B4F-4819-ABC9-4B77CC7CBCC9}"/>
              </a:ext>
            </a:extLst>
          </p:cNvPr>
          <p:cNvSpPr txBox="1"/>
          <p:nvPr/>
        </p:nvSpPr>
        <p:spPr>
          <a:xfrm>
            <a:off x="563880" y="435254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motor makes torque (PMSM)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1" name="rect-39">
            <a:extLst>
              <a:ext uri="{FF2B5EF4-FFF2-40B4-BE49-F238E27FC236}">
                <a16:creationId xmlns:a16="http://schemas.microsoft.com/office/drawing/2014/main" id="{DB4E1FDD-08EE-408F-0AC4-6D597EEAA524}"/>
              </a:ext>
            </a:extLst>
          </p:cNvPr>
          <p:cNvSpPr/>
          <p:nvPr/>
        </p:nvSpPr>
        <p:spPr>
          <a:xfrm>
            <a:off x="563880" y="4700016"/>
            <a:ext cx="2008022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2" name="text-40">
            <a:extLst>
              <a:ext uri="{FF2B5EF4-FFF2-40B4-BE49-F238E27FC236}">
                <a16:creationId xmlns:a16="http://schemas.microsoft.com/office/drawing/2014/main" id="{A9F30B18-90C4-5A05-55BF-116286834516}"/>
              </a:ext>
            </a:extLst>
          </p:cNvPr>
          <p:cNvSpPr txBox="1"/>
          <p:nvPr/>
        </p:nvSpPr>
        <p:spPr>
          <a:xfrm>
            <a:off x="655320" y="4754880"/>
            <a:ext cx="18251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Battery 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350–800 V DC goes to the inverter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3" name="line-41">
            <a:extLst>
              <a:ext uri="{FF2B5EF4-FFF2-40B4-BE49-F238E27FC236}">
                <a16:creationId xmlns:a16="http://schemas.microsoft.com/office/drawing/2014/main" id="{BC419C38-1D67-5C24-F910-BD882B7DF27F}"/>
              </a:ext>
            </a:extLst>
          </p:cNvPr>
          <p:cNvSpPr/>
          <p:nvPr/>
        </p:nvSpPr>
        <p:spPr>
          <a:xfrm>
            <a:off x="2590190" y="5271516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4" name="rect-42">
            <a:extLst>
              <a:ext uri="{FF2B5EF4-FFF2-40B4-BE49-F238E27FC236}">
                <a16:creationId xmlns:a16="http://schemas.microsoft.com/office/drawing/2014/main" id="{528CAB0D-2711-51AB-255B-671DD2CC6734}"/>
              </a:ext>
            </a:extLst>
          </p:cNvPr>
          <p:cNvSpPr/>
          <p:nvPr/>
        </p:nvSpPr>
        <p:spPr>
          <a:xfrm>
            <a:off x="2827934" y="4700016"/>
            <a:ext cx="2008022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5" name="text-43">
            <a:extLst>
              <a:ext uri="{FF2B5EF4-FFF2-40B4-BE49-F238E27FC236}">
                <a16:creationId xmlns:a16="http://schemas.microsoft.com/office/drawing/2014/main" id="{CC8CBB92-6F6C-2CD4-99FE-D5C674D8446F}"/>
              </a:ext>
            </a:extLst>
          </p:cNvPr>
          <p:cNvSpPr txBox="1"/>
          <p:nvPr/>
        </p:nvSpPr>
        <p:spPr>
          <a:xfrm>
            <a:off x="2919374" y="4754880"/>
            <a:ext cx="18251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Inverter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Turns DC into 3-phase AC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6" name="line-44">
            <a:extLst>
              <a:ext uri="{FF2B5EF4-FFF2-40B4-BE49-F238E27FC236}">
                <a16:creationId xmlns:a16="http://schemas.microsoft.com/office/drawing/2014/main" id="{7C2F171A-3FF2-51FB-2555-BAD2A2DD2F16}"/>
              </a:ext>
            </a:extLst>
          </p:cNvPr>
          <p:cNvSpPr/>
          <p:nvPr/>
        </p:nvSpPr>
        <p:spPr>
          <a:xfrm>
            <a:off x="4854245" y="5271516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rect-45">
            <a:extLst>
              <a:ext uri="{FF2B5EF4-FFF2-40B4-BE49-F238E27FC236}">
                <a16:creationId xmlns:a16="http://schemas.microsoft.com/office/drawing/2014/main" id="{6D6DE3A5-022F-12E9-2CA2-67246A7F9090}"/>
              </a:ext>
            </a:extLst>
          </p:cNvPr>
          <p:cNvSpPr/>
          <p:nvPr/>
        </p:nvSpPr>
        <p:spPr>
          <a:xfrm>
            <a:off x="5091989" y="4700016"/>
            <a:ext cx="2008022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8" name="text-46">
            <a:extLst>
              <a:ext uri="{FF2B5EF4-FFF2-40B4-BE49-F238E27FC236}">
                <a16:creationId xmlns:a16="http://schemas.microsoft.com/office/drawing/2014/main" id="{24BE93B2-3614-1623-20F2-DDBD43ED7C97}"/>
              </a:ext>
            </a:extLst>
          </p:cNvPr>
          <p:cNvSpPr txBox="1"/>
          <p:nvPr/>
        </p:nvSpPr>
        <p:spPr>
          <a:xfrm>
            <a:off x="5183429" y="4754880"/>
            <a:ext cx="18251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Rotating field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Stator coils create a spinning field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9" name="line-47">
            <a:extLst>
              <a:ext uri="{FF2B5EF4-FFF2-40B4-BE49-F238E27FC236}">
                <a16:creationId xmlns:a16="http://schemas.microsoft.com/office/drawing/2014/main" id="{CBD40AE6-B228-E747-587A-7CBF168ED3D1}"/>
              </a:ext>
            </a:extLst>
          </p:cNvPr>
          <p:cNvSpPr/>
          <p:nvPr/>
        </p:nvSpPr>
        <p:spPr>
          <a:xfrm>
            <a:off x="7118299" y="5271516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0" name="rect-48">
            <a:extLst>
              <a:ext uri="{FF2B5EF4-FFF2-40B4-BE49-F238E27FC236}">
                <a16:creationId xmlns:a16="http://schemas.microsoft.com/office/drawing/2014/main" id="{714B1C5F-DADB-15F7-D090-8989F433AA40}"/>
              </a:ext>
            </a:extLst>
          </p:cNvPr>
          <p:cNvSpPr/>
          <p:nvPr/>
        </p:nvSpPr>
        <p:spPr>
          <a:xfrm>
            <a:off x="7356043" y="4700016"/>
            <a:ext cx="2008022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1" name="text-49">
            <a:extLst>
              <a:ext uri="{FF2B5EF4-FFF2-40B4-BE49-F238E27FC236}">
                <a16:creationId xmlns:a16="http://schemas.microsoft.com/office/drawing/2014/main" id="{315187F7-44C1-5F81-A856-A713F933020D}"/>
              </a:ext>
            </a:extLst>
          </p:cNvPr>
          <p:cNvSpPr txBox="1"/>
          <p:nvPr/>
        </p:nvSpPr>
        <p:spPr>
          <a:xfrm>
            <a:off x="7447483" y="4754880"/>
            <a:ext cx="18251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 Rotor follows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Magnets are pulled along by the field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2" name="line-50">
            <a:extLst>
              <a:ext uri="{FF2B5EF4-FFF2-40B4-BE49-F238E27FC236}">
                <a16:creationId xmlns:a16="http://schemas.microsoft.com/office/drawing/2014/main" id="{D3A68DB0-7971-743E-6C7E-87C14D56A77F}"/>
              </a:ext>
            </a:extLst>
          </p:cNvPr>
          <p:cNvSpPr/>
          <p:nvPr/>
        </p:nvSpPr>
        <p:spPr>
          <a:xfrm>
            <a:off x="9382354" y="5271516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3" name="rect-51">
            <a:extLst>
              <a:ext uri="{FF2B5EF4-FFF2-40B4-BE49-F238E27FC236}">
                <a16:creationId xmlns:a16="http://schemas.microsoft.com/office/drawing/2014/main" id="{F322813C-4241-C7B7-1559-1991096454D3}"/>
              </a:ext>
            </a:extLst>
          </p:cNvPr>
          <p:cNvSpPr/>
          <p:nvPr/>
        </p:nvSpPr>
        <p:spPr>
          <a:xfrm>
            <a:off x="9620098" y="4700016"/>
            <a:ext cx="2008022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4" name="text-52">
            <a:extLst>
              <a:ext uri="{FF2B5EF4-FFF2-40B4-BE49-F238E27FC236}">
                <a16:creationId xmlns:a16="http://schemas.microsoft.com/office/drawing/2014/main" id="{D2EE497E-BBA2-9BD2-3401-D0AC08F0CAFE}"/>
              </a:ext>
            </a:extLst>
          </p:cNvPr>
          <p:cNvSpPr txBox="1"/>
          <p:nvPr/>
        </p:nvSpPr>
        <p:spPr>
          <a:xfrm>
            <a:off x="9711538" y="4754880"/>
            <a:ext cx="18251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 Torque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Shaft turns; gears multiply torque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5" name="text-53">
            <a:extLst>
              <a:ext uri="{FF2B5EF4-FFF2-40B4-BE49-F238E27FC236}">
                <a16:creationId xmlns:a16="http://schemas.microsoft.com/office/drawing/2014/main" id="{274364E6-491F-9B53-BD7C-96E9D8652A39}"/>
              </a:ext>
            </a:extLst>
          </p:cNvPr>
          <p:cNvSpPr txBox="1"/>
          <p:nvPr/>
        </p:nvSpPr>
        <p:spPr>
          <a:xfrm>
            <a:off x="563880" y="595274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Regen: the wheels drive the motor as a generator, and the inverter sends DC back to the battery.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487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>
            <a:spLocks/>
          </p:cNvSpPr>
          <p:nvPr/>
        </p:nvSpPr>
        <p:spPr>
          <a:xfrm>
            <a:off x="246888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electronics: converting power in an EV</a:t>
            </a:r>
            <a:endParaRPr lang="en-US" sz="3000" dirty="0"/>
          </a:p>
        </p:txBody>
      </p:sp>
      <p:sp>
        <p:nvSpPr>
          <p:cNvPr id="3" name="rect-55"/>
          <p:cNvSpPr/>
          <p:nvPr/>
        </p:nvSpPr>
        <p:spPr>
          <a:xfrm>
            <a:off x="466344" y="1188720"/>
            <a:ext cx="146304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56"/>
          <p:cNvSpPr txBox="1"/>
          <p:nvPr/>
        </p:nvSpPr>
        <p:spPr>
          <a:xfrm>
            <a:off x="466344" y="1188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 grid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230 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rect-57"/>
          <p:cNvSpPr/>
          <p:nvPr/>
        </p:nvSpPr>
        <p:spPr>
          <a:xfrm>
            <a:off x="2295144" y="1188720"/>
            <a:ext cx="201168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text-58"/>
          <p:cNvSpPr txBox="1"/>
          <p:nvPr/>
        </p:nvSpPr>
        <p:spPr>
          <a:xfrm>
            <a:off x="2295144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On-board charger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 → 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rect-59"/>
          <p:cNvSpPr/>
          <p:nvPr/>
        </p:nvSpPr>
        <p:spPr>
          <a:xfrm>
            <a:off x="4672584" y="1188720"/>
            <a:ext cx="182880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-60"/>
          <p:cNvSpPr txBox="1"/>
          <p:nvPr/>
        </p:nvSpPr>
        <p:spPr>
          <a:xfrm>
            <a:off x="4672584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 battery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350–800 V 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rect-61"/>
          <p:cNvSpPr/>
          <p:nvPr/>
        </p:nvSpPr>
        <p:spPr>
          <a:xfrm>
            <a:off x="6867144" y="1188720"/>
            <a:ext cx="182880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-62"/>
          <p:cNvSpPr txBox="1"/>
          <p:nvPr/>
        </p:nvSpPr>
        <p:spPr>
          <a:xfrm>
            <a:off x="6867144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→ 3-phase AC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rect-63"/>
          <p:cNvSpPr/>
          <p:nvPr/>
        </p:nvSpPr>
        <p:spPr>
          <a:xfrm>
            <a:off x="9501307" y="1188719"/>
            <a:ext cx="164592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text-64"/>
          <p:cNvSpPr txBox="1"/>
          <p:nvPr/>
        </p:nvSpPr>
        <p:spPr>
          <a:xfrm>
            <a:off x="9501306" y="1188721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Torque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line-65"/>
          <p:cNvSpPr/>
          <p:nvPr/>
        </p:nvSpPr>
        <p:spPr>
          <a:xfrm>
            <a:off x="1929384" y="1554480"/>
            <a:ext cx="3474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line-66"/>
          <p:cNvSpPr/>
          <p:nvPr/>
        </p:nvSpPr>
        <p:spPr>
          <a:xfrm>
            <a:off x="4306824" y="1554480"/>
            <a:ext cx="3474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line-67"/>
          <p:cNvSpPr/>
          <p:nvPr/>
        </p:nvSpPr>
        <p:spPr>
          <a:xfrm>
            <a:off x="6501384" y="1444752"/>
            <a:ext cx="3474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line-68"/>
          <p:cNvSpPr/>
          <p:nvPr/>
        </p:nvSpPr>
        <p:spPr>
          <a:xfrm flipH="1">
            <a:off x="6501384" y="1691640"/>
            <a:ext cx="34747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line-69"/>
          <p:cNvSpPr/>
          <p:nvPr/>
        </p:nvSpPr>
        <p:spPr>
          <a:xfrm>
            <a:off x="8695943" y="1444752"/>
            <a:ext cx="8053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line-70"/>
          <p:cNvSpPr/>
          <p:nvPr/>
        </p:nvSpPr>
        <p:spPr>
          <a:xfrm flipH="1">
            <a:off x="8695943" y="1691640"/>
            <a:ext cx="805363" cy="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text-71"/>
          <p:cNvSpPr txBox="1"/>
          <p:nvPr/>
        </p:nvSpPr>
        <p:spPr>
          <a:xfrm>
            <a:off x="8842593" y="1673351"/>
            <a:ext cx="4382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8A72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rect-72"/>
          <p:cNvSpPr/>
          <p:nvPr/>
        </p:nvSpPr>
        <p:spPr>
          <a:xfrm>
            <a:off x="2295144" y="2240280"/>
            <a:ext cx="201168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text-73"/>
          <p:cNvSpPr txBox="1"/>
          <p:nvPr/>
        </p:nvSpPr>
        <p:spPr>
          <a:xfrm>
            <a:off x="2295144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fast charger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bypasses the OBC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line-74"/>
          <p:cNvSpPr/>
          <p:nvPr/>
        </p:nvSpPr>
        <p:spPr>
          <a:xfrm>
            <a:off x="4306824" y="2606040"/>
            <a:ext cx="64008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line-75"/>
          <p:cNvSpPr/>
          <p:nvPr/>
        </p:nvSpPr>
        <p:spPr>
          <a:xfrm flipV="1">
            <a:off x="4946904" y="1938528"/>
            <a:ext cx="0" cy="66751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line-76"/>
          <p:cNvSpPr/>
          <p:nvPr/>
        </p:nvSpPr>
        <p:spPr>
          <a:xfrm>
            <a:off x="5952744" y="1920240"/>
            <a:ext cx="0" cy="30175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rect-77"/>
          <p:cNvSpPr/>
          <p:nvPr/>
        </p:nvSpPr>
        <p:spPr>
          <a:xfrm>
            <a:off x="5312664" y="2240280"/>
            <a:ext cx="201168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text-78"/>
          <p:cNvSpPr txBox="1"/>
          <p:nvPr/>
        </p:nvSpPr>
        <p:spPr>
          <a:xfrm>
            <a:off x="5312664" y="2240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DC-DC converter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 → 12 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line-79"/>
          <p:cNvSpPr/>
          <p:nvPr/>
        </p:nvSpPr>
        <p:spPr>
          <a:xfrm>
            <a:off x="7324344" y="2606040"/>
            <a:ext cx="3474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rect-80"/>
          <p:cNvSpPr/>
          <p:nvPr/>
        </p:nvSpPr>
        <p:spPr>
          <a:xfrm>
            <a:off x="7690104" y="2240280"/>
            <a:ext cx="237744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text-81"/>
          <p:cNvSpPr txBox="1"/>
          <p:nvPr/>
        </p:nvSpPr>
        <p:spPr>
          <a:xfrm>
            <a:off x="7690104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V battery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ECUs, lights, screens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rect-82"/>
          <p:cNvSpPr/>
          <p:nvPr/>
        </p:nvSpPr>
        <p:spPr>
          <a:xfrm>
            <a:off x="466344" y="3246120"/>
            <a:ext cx="5120640" cy="2880360"/>
          </a:xfrm>
          <a:prstGeom prst="rect">
            <a:avLst/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text-83"/>
          <p:cNvSpPr txBox="1"/>
          <p:nvPr/>
        </p:nvSpPr>
        <p:spPr>
          <a:xfrm>
            <a:off x="603504" y="32918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the inverter: 6 switches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line-84"/>
          <p:cNvSpPr/>
          <p:nvPr/>
        </p:nvSpPr>
        <p:spPr>
          <a:xfrm>
            <a:off x="1243584" y="3794760"/>
            <a:ext cx="35204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line-85"/>
          <p:cNvSpPr/>
          <p:nvPr/>
        </p:nvSpPr>
        <p:spPr>
          <a:xfrm>
            <a:off x="1243584" y="5486400"/>
            <a:ext cx="35204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text-86"/>
          <p:cNvSpPr txBox="1"/>
          <p:nvPr/>
        </p:nvSpPr>
        <p:spPr>
          <a:xfrm>
            <a:off x="603504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5" name="text-87"/>
          <p:cNvSpPr txBox="1"/>
          <p:nvPr/>
        </p:nvSpPr>
        <p:spPr>
          <a:xfrm>
            <a:off x="603504" y="5349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DC−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line-88"/>
          <p:cNvSpPr/>
          <p:nvPr/>
        </p:nvSpPr>
        <p:spPr>
          <a:xfrm>
            <a:off x="1517904" y="3794760"/>
            <a:ext cx="0" cy="75895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line-89"/>
          <p:cNvSpPr/>
          <p:nvPr/>
        </p:nvSpPr>
        <p:spPr>
          <a:xfrm>
            <a:off x="1517904" y="4736592"/>
            <a:ext cx="0" cy="74980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line-90"/>
          <p:cNvSpPr/>
          <p:nvPr/>
        </p:nvSpPr>
        <p:spPr>
          <a:xfrm>
            <a:off x="1335024" y="4553712"/>
            <a:ext cx="36576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line-91"/>
          <p:cNvSpPr/>
          <p:nvPr/>
        </p:nvSpPr>
        <p:spPr>
          <a:xfrm>
            <a:off x="1335024" y="4736592"/>
            <a:ext cx="36576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text-92"/>
          <p:cNvSpPr txBox="1"/>
          <p:nvPr/>
        </p:nvSpPr>
        <p:spPr>
          <a:xfrm>
            <a:off x="694944" y="4507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1" name="line-93"/>
          <p:cNvSpPr/>
          <p:nvPr/>
        </p:nvSpPr>
        <p:spPr>
          <a:xfrm>
            <a:off x="2386584" y="379476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2" name="rect-94"/>
          <p:cNvSpPr/>
          <p:nvPr/>
        </p:nvSpPr>
        <p:spPr>
          <a:xfrm>
            <a:off x="2130552" y="393192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3" name="text-95"/>
          <p:cNvSpPr txBox="1"/>
          <p:nvPr/>
        </p:nvSpPr>
        <p:spPr>
          <a:xfrm>
            <a:off x="2130552" y="39319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4" name="line-96"/>
          <p:cNvSpPr/>
          <p:nvPr/>
        </p:nvSpPr>
        <p:spPr>
          <a:xfrm>
            <a:off x="2386584" y="4343400"/>
            <a:ext cx="0" cy="5943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5" name="rect-97"/>
          <p:cNvSpPr/>
          <p:nvPr/>
        </p:nvSpPr>
        <p:spPr>
          <a:xfrm>
            <a:off x="2130552" y="493776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6" name="text-98"/>
          <p:cNvSpPr txBox="1"/>
          <p:nvPr/>
        </p:nvSpPr>
        <p:spPr>
          <a:xfrm>
            <a:off x="2130552" y="493776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7" name="line-99"/>
          <p:cNvSpPr/>
          <p:nvPr/>
        </p:nvSpPr>
        <p:spPr>
          <a:xfrm>
            <a:off x="2386584" y="534924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8" name="line-100"/>
          <p:cNvSpPr/>
          <p:nvPr/>
        </p:nvSpPr>
        <p:spPr>
          <a:xfrm>
            <a:off x="2386584" y="4645152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9" name="text-101"/>
          <p:cNvSpPr txBox="1"/>
          <p:nvPr/>
        </p:nvSpPr>
        <p:spPr>
          <a:xfrm>
            <a:off x="2514600" y="43891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0" name="line-102"/>
          <p:cNvSpPr/>
          <p:nvPr/>
        </p:nvSpPr>
        <p:spPr>
          <a:xfrm>
            <a:off x="3255264" y="379476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1" name="rect-103"/>
          <p:cNvSpPr/>
          <p:nvPr/>
        </p:nvSpPr>
        <p:spPr>
          <a:xfrm>
            <a:off x="2999232" y="393192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2" name="text-104"/>
          <p:cNvSpPr txBox="1"/>
          <p:nvPr/>
        </p:nvSpPr>
        <p:spPr>
          <a:xfrm>
            <a:off x="2999232" y="39319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3" name="line-105"/>
          <p:cNvSpPr/>
          <p:nvPr/>
        </p:nvSpPr>
        <p:spPr>
          <a:xfrm>
            <a:off x="3255264" y="4343400"/>
            <a:ext cx="0" cy="5943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4" name="rect-106"/>
          <p:cNvSpPr/>
          <p:nvPr/>
        </p:nvSpPr>
        <p:spPr>
          <a:xfrm>
            <a:off x="2999232" y="493776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5" name="text-107"/>
          <p:cNvSpPr txBox="1"/>
          <p:nvPr/>
        </p:nvSpPr>
        <p:spPr>
          <a:xfrm>
            <a:off x="2999232" y="493776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6" name="line-108"/>
          <p:cNvSpPr/>
          <p:nvPr/>
        </p:nvSpPr>
        <p:spPr>
          <a:xfrm>
            <a:off x="3255264" y="534924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7" name="line-109"/>
          <p:cNvSpPr/>
          <p:nvPr/>
        </p:nvSpPr>
        <p:spPr>
          <a:xfrm>
            <a:off x="3255264" y="4645152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8" name="text-110"/>
          <p:cNvSpPr txBox="1"/>
          <p:nvPr/>
        </p:nvSpPr>
        <p:spPr>
          <a:xfrm>
            <a:off x="3383280" y="43891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9" name="line-111"/>
          <p:cNvSpPr/>
          <p:nvPr/>
        </p:nvSpPr>
        <p:spPr>
          <a:xfrm>
            <a:off x="4123944" y="379476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0" name="rect-112"/>
          <p:cNvSpPr/>
          <p:nvPr/>
        </p:nvSpPr>
        <p:spPr>
          <a:xfrm>
            <a:off x="3867912" y="393192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1" name="text-113"/>
          <p:cNvSpPr txBox="1"/>
          <p:nvPr/>
        </p:nvSpPr>
        <p:spPr>
          <a:xfrm>
            <a:off x="3867912" y="39319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2" name="line-114"/>
          <p:cNvSpPr/>
          <p:nvPr/>
        </p:nvSpPr>
        <p:spPr>
          <a:xfrm>
            <a:off x="4123944" y="4343400"/>
            <a:ext cx="0" cy="5943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3" name="rect-115"/>
          <p:cNvSpPr/>
          <p:nvPr/>
        </p:nvSpPr>
        <p:spPr>
          <a:xfrm>
            <a:off x="3867912" y="4937760"/>
            <a:ext cx="512064" cy="4114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4" name="text-116"/>
          <p:cNvSpPr txBox="1"/>
          <p:nvPr/>
        </p:nvSpPr>
        <p:spPr>
          <a:xfrm>
            <a:off x="3867912" y="493776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5" name="line-117"/>
          <p:cNvSpPr/>
          <p:nvPr/>
        </p:nvSpPr>
        <p:spPr>
          <a:xfrm>
            <a:off x="4123944" y="534924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6" name="line-118"/>
          <p:cNvSpPr/>
          <p:nvPr/>
        </p:nvSpPr>
        <p:spPr>
          <a:xfrm>
            <a:off x="4123944" y="4645152"/>
            <a:ext cx="3840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7" name="text-119"/>
          <p:cNvSpPr txBox="1"/>
          <p:nvPr/>
        </p:nvSpPr>
        <p:spPr>
          <a:xfrm>
            <a:off x="4251960" y="43891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8" name="text-120"/>
          <p:cNvSpPr txBox="1"/>
          <p:nvPr/>
        </p:nvSpPr>
        <p:spPr>
          <a:xfrm>
            <a:off x="603504" y="5623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on-off switching (PWM) makes sine-wave AC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9" name="text-121"/>
          <p:cNvSpPr txBox="1"/>
          <p:nvPr/>
        </p:nvSpPr>
        <p:spPr>
          <a:xfrm>
            <a:off x="5861304" y="32461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 technologies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graphicFrame>
        <p:nvGraphicFramePr>
          <p:cNvPr id="70" name="table-122"/>
          <p:cNvGraphicFramePr>
            <a:graphicFrameLocks noGrp="1"/>
          </p:cNvGraphicFramePr>
          <p:nvPr/>
        </p:nvGraphicFramePr>
        <p:xfrm>
          <a:off x="5861304" y="3611880"/>
          <a:ext cx="5669280" cy="19202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Si IGBT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SiC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GaN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Use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400 V, low cost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800 V, premium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Chargers, DC-DC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Efficiency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~97%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~98–99%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Very high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Speed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Slower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Fast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Fastest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Lowest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Higher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Higher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" name="text-123"/>
          <p:cNvSpPr txBox="1"/>
          <p:nvPr/>
        </p:nvSpPr>
        <p:spPr>
          <a:xfrm>
            <a:off x="5861304" y="5715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SiC adds roughly 3–7% range on the same battery.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903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E27090-764F-8C33-1343-F3494B254E67}"/>
              </a:ext>
            </a:extLst>
          </p:cNvPr>
          <p:cNvSpPr txBox="1">
            <a:spLocks/>
          </p:cNvSpPr>
          <p:nvPr/>
        </p:nvSpPr>
        <p:spPr>
          <a:xfrm>
            <a:off x="274320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E-drive: motor, gearbox and inverter in one e-axle</a:t>
            </a:r>
            <a:endParaRPr lang="en-US" sz="3000" dirty="0"/>
          </a:p>
        </p:txBody>
      </p:sp>
      <p:sp>
        <p:nvSpPr>
          <p:cNvPr id="3" name="rect-125">
            <a:extLst>
              <a:ext uri="{FF2B5EF4-FFF2-40B4-BE49-F238E27FC236}">
                <a16:creationId xmlns:a16="http://schemas.microsoft.com/office/drawing/2014/main" id="{3DAB716D-89CD-6937-5727-AB5CAD086225}"/>
              </a:ext>
            </a:extLst>
          </p:cNvPr>
          <p:cNvSpPr/>
          <p:nvPr/>
        </p:nvSpPr>
        <p:spPr>
          <a:xfrm>
            <a:off x="594360" y="1060704"/>
            <a:ext cx="6949440" cy="2926080"/>
          </a:xfrm>
          <a:prstGeom prst="rect">
            <a:avLst/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126">
            <a:extLst>
              <a:ext uri="{FF2B5EF4-FFF2-40B4-BE49-F238E27FC236}">
                <a16:creationId xmlns:a16="http://schemas.microsoft.com/office/drawing/2014/main" id="{164143EA-21C2-C99A-94BD-08198A047EE9}"/>
              </a:ext>
            </a:extLst>
          </p:cNvPr>
          <p:cNvSpPr txBox="1"/>
          <p:nvPr/>
        </p:nvSpPr>
        <p:spPr>
          <a:xfrm>
            <a:off x="731520" y="111556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3-in-1 e-axle (one housing, shared cooling)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rect-127">
            <a:extLst>
              <a:ext uri="{FF2B5EF4-FFF2-40B4-BE49-F238E27FC236}">
                <a16:creationId xmlns:a16="http://schemas.microsoft.com/office/drawing/2014/main" id="{17B95B28-6710-E7A5-2C76-E033B360711C}"/>
              </a:ext>
            </a:extLst>
          </p:cNvPr>
          <p:cNvSpPr/>
          <p:nvPr/>
        </p:nvSpPr>
        <p:spPr>
          <a:xfrm>
            <a:off x="960120" y="1563624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text-128">
            <a:extLst>
              <a:ext uri="{FF2B5EF4-FFF2-40B4-BE49-F238E27FC236}">
                <a16:creationId xmlns:a16="http://schemas.microsoft.com/office/drawing/2014/main" id="{E098EA12-99A0-03CF-3007-9CE1AE5B0585}"/>
              </a:ext>
            </a:extLst>
          </p:cNvPr>
          <p:cNvSpPr txBox="1"/>
          <p:nvPr/>
        </p:nvSpPr>
        <p:spPr>
          <a:xfrm>
            <a:off x="960120" y="156362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→ AC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rect-129">
            <a:extLst>
              <a:ext uri="{FF2B5EF4-FFF2-40B4-BE49-F238E27FC236}">
                <a16:creationId xmlns:a16="http://schemas.microsoft.com/office/drawing/2014/main" id="{8F8574B6-D54A-D139-BB94-EE8E83882AF2}"/>
              </a:ext>
            </a:extLst>
          </p:cNvPr>
          <p:cNvSpPr/>
          <p:nvPr/>
        </p:nvSpPr>
        <p:spPr>
          <a:xfrm>
            <a:off x="3108960" y="1563624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-130">
            <a:extLst>
              <a:ext uri="{FF2B5EF4-FFF2-40B4-BE49-F238E27FC236}">
                <a16:creationId xmlns:a16="http://schemas.microsoft.com/office/drawing/2014/main" id="{CEC24790-488F-6224-89F7-1D3269813D79}"/>
              </a:ext>
            </a:extLst>
          </p:cNvPr>
          <p:cNvSpPr txBox="1"/>
          <p:nvPr/>
        </p:nvSpPr>
        <p:spPr>
          <a:xfrm>
            <a:off x="3108960" y="156362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 to 20,000 rpm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rect-131">
            <a:extLst>
              <a:ext uri="{FF2B5EF4-FFF2-40B4-BE49-F238E27FC236}">
                <a16:creationId xmlns:a16="http://schemas.microsoft.com/office/drawing/2014/main" id="{00E6B726-4B46-F596-4252-78DB14FE2F4F}"/>
              </a:ext>
            </a:extLst>
          </p:cNvPr>
          <p:cNvSpPr/>
          <p:nvPr/>
        </p:nvSpPr>
        <p:spPr>
          <a:xfrm>
            <a:off x="5257800" y="1563624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-132">
            <a:extLst>
              <a:ext uri="{FF2B5EF4-FFF2-40B4-BE49-F238E27FC236}">
                <a16:creationId xmlns:a16="http://schemas.microsoft.com/office/drawing/2014/main" id="{36568EA8-912E-C056-0EDA-0708999142A9}"/>
              </a:ext>
            </a:extLst>
          </p:cNvPr>
          <p:cNvSpPr txBox="1"/>
          <p:nvPr/>
        </p:nvSpPr>
        <p:spPr>
          <a:xfrm>
            <a:off x="5257800" y="156362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Gear + diff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~9 : 1 ratio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line-133">
            <a:extLst>
              <a:ext uri="{FF2B5EF4-FFF2-40B4-BE49-F238E27FC236}">
                <a16:creationId xmlns:a16="http://schemas.microsoft.com/office/drawing/2014/main" id="{314CF5F4-CFAB-DC5C-7215-8F613CE3815B}"/>
              </a:ext>
            </a:extLst>
          </p:cNvPr>
          <p:cNvSpPr/>
          <p:nvPr/>
        </p:nvSpPr>
        <p:spPr>
          <a:xfrm>
            <a:off x="2880360" y="1993392"/>
            <a:ext cx="2103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line-134">
            <a:extLst>
              <a:ext uri="{FF2B5EF4-FFF2-40B4-BE49-F238E27FC236}">
                <a16:creationId xmlns:a16="http://schemas.microsoft.com/office/drawing/2014/main" id="{9A061D69-EEEF-F120-29AE-3BE85918F09C}"/>
              </a:ext>
            </a:extLst>
          </p:cNvPr>
          <p:cNvSpPr/>
          <p:nvPr/>
        </p:nvSpPr>
        <p:spPr>
          <a:xfrm>
            <a:off x="5029200" y="1993392"/>
            <a:ext cx="2103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line-135">
            <a:extLst>
              <a:ext uri="{FF2B5EF4-FFF2-40B4-BE49-F238E27FC236}">
                <a16:creationId xmlns:a16="http://schemas.microsoft.com/office/drawing/2014/main" id="{CE76B8D0-0D61-E63F-8B31-4F701378A50C}"/>
              </a:ext>
            </a:extLst>
          </p:cNvPr>
          <p:cNvSpPr/>
          <p:nvPr/>
        </p:nvSpPr>
        <p:spPr>
          <a:xfrm flipV="1">
            <a:off x="1920240" y="2450592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E8A7323C-8B51-2CEE-18F5-1D02D04DB11B}"/>
              </a:ext>
            </a:extLst>
          </p:cNvPr>
          <p:cNvSpPr txBox="1"/>
          <p:nvPr/>
        </p:nvSpPr>
        <p:spPr>
          <a:xfrm>
            <a:off x="123444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 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line-137">
            <a:extLst>
              <a:ext uri="{FF2B5EF4-FFF2-40B4-BE49-F238E27FC236}">
                <a16:creationId xmlns:a16="http://schemas.microsoft.com/office/drawing/2014/main" id="{296C17F4-667F-27F6-19A0-03E4D382AEA5}"/>
              </a:ext>
            </a:extLst>
          </p:cNvPr>
          <p:cNvSpPr/>
          <p:nvPr/>
        </p:nvSpPr>
        <p:spPr>
          <a:xfrm>
            <a:off x="6217920" y="2432304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line-138">
            <a:extLst>
              <a:ext uri="{FF2B5EF4-FFF2-40B4-BE49-F238E27FC236}">
                <a16:creationId xmlns:a16="http://schemas.microsoft.com/office/drawing/2014/main" id="{1DEFFFD3-591B-578B-66DB-88AB1593425A}"/>
              </a:ext>
            </a:extLst>
          </p:cNvPr>
          <p:cNvSpPr/>
          <p:nvPr/>
        </p:nvSpPr>
        <p:spPr>
          <a:xfrm>
            <a:off x="1143000" y="3118104"/>
            <a:ext cx="585216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oval-139">
            <a:extLst>
              <a:ext uri="{FF2B5EF4-FFF2-40B4-BE49-F238E27FC236}">
                <a16:creationId xmlns:a16="http://schemas.microsoft.com/office/drawing/2014/main" id="{33062C79-9E95-A37E-04E9-8D9F63F98A21}"/>
              </a:ext>
            </a:extLst>
          </p:cNvPr>
          <p:cNvSpPr/>
          <p:nvPr/>
        </p:nvSpPr>
        <p:spPr>
          <a:xfrm>
            <a:off x="731520" y="2889504"/>
            <a:ext cx="411480" cy="457200"/>
          </a:xfrm>
          <a:prstGeom prst="ellipse">
            <a:avLst/>
          </a:prstGeom>
          <a:solidFill>
            <a:srgbClr val="40404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val-140">
            <a:extLst>
              <a:ext uri="{FF2B5EF4-FFF2-40B4-BE49-F238E27FC236}">
                <a16:creationId xmlns:a16="http://schemas.microsoft.com/office/drawing/2014/main" id="{9DCE4145-FF26-4591-82B3-DC285555A20C}"/>
              </a:ext>
            </a:extLst>
          </p:cNvPr>
          <p:cNvSpPr/>
          <p:nvPr/>
        </p:nvSpPr>
        <p:spPr>
          <a:xfrm>
            <a:off x="6995160" y="2889504"/>
            <a:ext cx="411480" cy="457200"/>
          </a:xfrm>
          <a:prstGeom prst="ellipse">
            <a:avLst/>
          </a:prstGeom>
          <a:solidFill>
            <a:srgbClr val="40404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text-141">
            <a:extLst>
              <a:ext uri="{FF2B5EF4-FFF2-40B4-BE49-F238E27FC236}">
                <a16:creationId xmlns:a16="http://schemas.microsoft.com/office/drawing/2014/main" id="{7C033D3B-F950-889A-84BC-AAE82EB8BDA1}"/>
              </a:ext>
            </a:extLst>
          </p:cNvPr>
          <p:cNvSpPr txBox="1"/>
          <p:nvPr/>
        </p:nvSpPr>
        <p:spPr>
          <a:xfrm>
            <a:off x="278892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Half-shafts to the wheels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text-142">
            <a:extLst>
              <a:ext uri="{FF2B5EF4-FFF2-40B4-BE49-F238E27FC236}">
                <a16:creationId xmlns:a16="http://schemas.microsoft.com/office/drawing/2014/main" id="{3B0B827A-A2AF-80F8-26E6-4274E0F5795C}"/>
              </a:ext>
            </a:extLst>
          </p:cNvPr>
          <p:cNvSpPr txBox="1"/>
          <p:nvPr/>
        </p:nvSpPr>
        <p:spPr>
          <a:xfrm>
            <a:off x="731520" y="352958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Benefit: less mass, fewer cables, one cooling loop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rect-143">
            <a:extLst>
              <a:ext uri="{FF2B5EF4-FFF2-40B4-BE49-F238E27FC236}">
                <a16:creationId xmlns:a16="http://schemas.microsoft.com/office/drawing/2014/main" id="{A24D3DB2-21F4-C51F-2EDB-136EE72125C4}"/>
              </a:ext>
            </a:extLst>
          </p:cNvPr>
          <p:cNvSpPr/>
          <p:nvPr/>
        </p:nvSpPr>
        <p:spPr>
          <a:xfrm>
            <a:off x="7818120" y="1060704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text-144">
            <a:extLst>
              <a:ext uri="{FF2B5EF4-FFF2-40B4-BE49-F238E27FC236}">
                <a16:creationId xmlns:a16="http://schemas.microsoft.com/office/drawing/2014/main" id="{806E77A3-FEC5-3D80-A1A3-B455733800D1}"/>
              </a:ext>
            </a:extLst>
          </p:cNvPr>
          <p:cNvSpPr txBox="1"/>
          <p:nvPr/>
        </p:nvSpPr>
        <p:spPr>
          <a:xfrm>
            <a:off x="8001000" y="11155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reduction gear?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text-145">
            <a:extLst>
              <a:ext uri="{FF2B5EF4-FFF2-40B4-BE49-F238E27FC236}">
                <a16:creationId xmlns:a16="http://schemas.microsoft.com/office/drawing/2014/main" id="{BB8A2973-47AF-D9D6-3DEC-823267F69414}"/>
              </a:ext>
            </a:extLst>
          </p:cNvPr>
          <p:cNvSpPr txBox="1"/>
          <p:nvPr/>
        </p:nvSpPr>
        <p:spPr>
          <a:xfrm>
            <a:off x="8001000" y="15179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Gear trades speed for torque: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Nm × 9 × 0.97 ≈ 2,620 Nm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16,000 ÷ 9 ≈ 1,780 rpm at wheel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220 km/h with 0.33 m wheel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torque from 0 rpm, so no gear shifts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text-146">
            <a:extLst>
              <a:ext uri="{FF2B5EF4-FFF2-40B4-BE49-F238E27FC236}">
                <a16:creationId xmlns:a16="http://schemas.microsoft.com/office/drawing/2014/main" id="{10C388DA-44D8-AC97-63D7-B9E279122302}"/>
              </a:ext>
            </a:extLst>
          </p:cNvPr>
          <p:cNvSpPr txBox="1"/>
          <p:nvPr/>
        </p:nvSpPr>
        <p:spPr>
          <a:xfrm>
            <a:off x="594360" y="4169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 layouts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graphicFrame>
        <p:nvGraphicFramePr>
          <p:cNvPr id="25" name="table-147">
            <a:extLst>
              <a:ext uri="{FF2B5EF4-FFF2-40B4-BE49-F238E27FC236}">
                <a16:creationId xmlns:a16="http://schemas.microsoft.com/office/drawing/2014/main" id="{E719BA03-D973-28FC-44B1-99C76C55A7C4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4517136"/>
          <a:ext cx="5577840" cy="13898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Layout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Example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Front e-axle (FWD)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Nexon EV, MG Windsor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Rear e-axle (RWD)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Mahindra BE 6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Dual motor (AWD)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Performance SUVs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ect-148">
            <a:extLst>
              <a:ext uri="{FF2B5EF4-FFF2-40B4-BE49-F238E27FC236}">
                <a16:creationId xmlns:a16="http://schemas.microsoft.com/office/drawing/2014/main" id="{02B32918-5E51-96C9-259D-3B229FD475A1}"/>
              </a:ext>
            </a:extLst>
          </p:cNvPr>
          <p:cNvSpPr/>
          <p:nvPr/>
        </p:nvSpPr>
        <p:spPr>
          <a:xfrm>
            <a:off x="6446520" y="4215384"/>
            <a:ext cx="5212080" cy="1783080"/>
          </a:xfrm>
          <a:prstGeom prst="roundRect">
            <a:avLst>
              <a:gd name="adj" fmla="val 3077"/>
            </a:avLst>
          </a:prstGeom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text-149">
            <a:extLst>
              <a:ext uri="{FF2B5EF4-FFF2-40B4-BE49-F238E27FC236}">
                <a16:creationId xmlns:a16="http://schemas.microsoft.com/office/drawing/2014/main" id="{AB684E9F-43C9-C02C-759F-6463C6382198}"/>
              </a:ext>
            </a:extLst>
          </p:cNvPr>
          <p:cNvSpPr txBox="1"/>
          <p:nvPr/>
        </p:nvSpPr>
        <p:spPr>
          <a:xfrm>
            <a:off x="6583680" y="4279392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NVH: why EVs sound different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engine noise to mask gear whine and motor or inverter tones.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Fixes: precise gears, stiff housings, tuned switching.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997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619A7C-734A-7A55-CF80-88C854CCCC03}"/>
              </a:ext>
            </a:extLst>
          </p:cNvPr>
          <p:cNvSpPr txBox="1">
            <a:spLocks/>
          </p:cNvSpPr>
          <p:nvPr/>
        </p:nvSpPr>
        <p:spPr>
          <a:xfrm>
            <a:off x="338328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E-drive: motor, gearbox and inverter in one e-axle</a:t>
            </a:r>
            <a:endParaRPr lang="en-US" sz="3000" dirty="0"/>
          </a:p>
        </p:txBody>
      </p:sp>
      <p:sp>
        <p:nvSpPr>
          <p:cNvPr id="3" name="rect-125">
            <a:extLst>
              <a:ext uri="{FF2B5EF4-FFF2-40B4-BE49-F238E27FC236}">
                <a16:creationId xmlns:a16="http://schemas.microsoft.com/office/drawing/2014/main" id="{FB79BAAF-A711-817C-8DE5-6AE6B3027CF8}"/>
              </a:ext>
            </a:extLst>
          </p:cNvPr>
          <p:cNvSpPr/>
          <p:nvPr/>
        </p:nvSpPr>
        <p:spPr>
          <a:xfrm>
            <a:off x="539496" y="1088136"/>
            <a:ext cx="6949440" cy="2926080"/>
          </a:xfrm>
          <a:prstGeom prst="rect">
            <a:avLst/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126">
            <a:extLst>
              <a:ext uri="{FF2B5EF4-FFF2-40B4-BE49-F238E27FC236}">
                <a16:creationId xmlns:a16="http://schemas.microsoft.com/office/drawing/2014/main" id="{3EE2F0DD-5FA8-5511-D00B-AC3E34E3AC9E}"/>
              </a:ext>
            </a:extLst>
          </p:cNvPr>
          <p:cNvSpPr txBox="1"/>
          <p:nvPr/>
        </p:nvSpPr>
        <p:spPr>
          <a:xfrm>
            <a:off x="676656" y="114300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3-in-1 e-axle (one housing, shared cooling)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rect-127">
            <a:extLst>
              <a:ext uri="{FF2B5EF4-FFF2-40B4-BE49-F238E27FC236}">
                <a16:creationId xmlns:a16="http://schemas.microsoft.com/office/drawing/2014/main" id="{DCCD0069-9B77-2BE4-0AE1-1361991F542F}"/>
              </a:ext>
            </a:extLst>
          </p:cNvPr>
          <p:cNvSpPr/>
          <p:nvPr/>
        </p:nvSpPr>
        <p:spPr>
          <a:xfrm>
            <a:off x="905256" y="1591056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text-128">
            <a:extLst>
              <a:ext uri="{FF2B5EF4-FFF2-40B4-BE49-F238E27FC236}">
                <a16:creationId xmlns:a16="http://schemas.microsoft.com/office/drawing/2014/main" id="{D42453E0-A886-CCC8-2D75-E0F5F8ED4E6C}"/>
              </a:ext>
            </a:extLst>
          </p:cNvPr>
          <p:cNvSpPr txBox="1"/>
          <p:nvPr/>
        </p:nvSpPr>
        <p:spPr>
          <a:xfrm>
            <a:off x="905256" y="159105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 → AC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rect-129">
            <a:extLst>
              <a:ext uri="{FF2B5EF4-FFF2-40B4-BE49-F238E27FC236}">
                <a16:creationId xmlns:a16="http://schemas.microsoft.com/office/drawing/2014/main" id="{616DE635-89E9-0A63-4194-FE2D8C96A512}"/>
              </a:ext>
            </a:extLst>
          </p:cNvPr>
          <p:cNvSpPr/>
          <p:nvPr/>
        </p:nvSpPr>
        <p:spPr>
          <a:xfrm>
            <a:off x="3054096" y="1591056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-130">
            <a:extLst>
              <a:ext uri="{FF2B5EF4-FFF2-40B4-BE49-F238E27FC236}">
                <a16:creationId xmlns:a16="http://schemas.microsoft.com/office/drawing/2014/main" id="{647E03EF-4B89-4194-E6D4-9E64FDEA91F9}"/>
              </a:ext>
            </a:extLst>
          </p:cNvPr>
          <p:cNvSpPr txBox="1"/>
          <p:nvPr/>
        </p:nvSpPr>
        <p:spPr>
          <a:xfrm>
            <a:off x="3054096" y="159105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 to 20,000 rpm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rect-131">
            <a:extLst>
              <a:ext uri="{FF2B5EF4-FFF2-40B4-BE49-F238E27FC236}">
                <a16:creationId xmlns:a16="http://schemas.microsoft.com/office/drawing/2014/main" id="{768A95B3-84BF-79AF-3FF2-030C7617BC14}"/>
              </a:ext>
            </a:extLst>
          </p:cNvPr>
          <p:cNvSpPr/>
          <p:nvPr/>
        </p:nvSpPr>
        <p:spPr>
          <a:xfrm>
            <a:off x="5202936" y="1591056"/>
            <a:ext cx="192024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-132">
            <a:extLst>
              <a:ext uri="{FF2B5EF4-FFF2-40B4-BE49-F238E27FC236}">
                <a16:creationId xmlns:a16="http://schemas.microsoft.com/office/drawing/2014/main" id="{38950123-A6FB-35C0-B14F-7FAA0C32A728}"/>
              </a:ext>
            </a:extLst>
          </p:cNvPr>
          <p:cNvSpPr txBox="1"/>
          <p:nvPr/>
        </p:nvSpPr>
        <p:spPr>
          <a:xfrm>
            <a:off x="5202936" y="159105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Gear + diff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~9 : 1 ratio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line-133">
            <a:extLst>
              <a:ext uri="{FF2B5EF4-FFF2-40B4-BE49-F238E27FC236}">
                <a16:creationId xmlns:a16="http://schemas.microsoft.com/office/drawing/2014/main" id="{F31BBFAD-6424-13EB-0719-C58BAE4CF73D}"/>
              </a:ext>
            </a:extLst>
          </p:cNvPr>
          <p:cNvSpPr/>
          <p:nvPr/>
        </p:nvSpPr>
        <p:spPr>
          <a:xfrm>
            <a:off x="2825496" y="2020824"/>
            <a:ext cx="2103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line-134">
            <a:extLst>
              <a:ext uri="{FF2B5EF4-FFF2-40B4-BE49-F238E27FC236}">
                <a16:creationId xmlns:a16="http://schemas.microsoft.com/office/drawing/2014/main" id="{D172D643-F83D-FA3A-C0A6-FA1AFF5FF998}"/>
              </a:ext>
            </a:extLst>
          </p:cNvPr>
          <p:cNvSpPr/>
          <p:nvPr/>
        </p:nvSpPr>
        <p:spPr>
          <a:xfrm>
            <a:off x="4974336" y="2020824"/>
            <a:ext cx="2103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line-135">
            <a:extLst>
              <a:ext uri="{FF2B5EF4-FFF2-40B4-BE49-F238E27FC236}">
                <a16:creationId xmlns:a16="http://schemas.microsoft.com/office/drawing/2014/main" id="{93E2BF3E-3703-BECD-0F4F-29D3E07F5D54}"/>
              </a:ext>
            </a:extLst>
          </p:cNvPr>
          <p:cNvSpPr/>
          <p:nvPr/>
        </p:nvSpPr>
        <p:spPr>
          <a:xfrm flipV="1">
            <a:off x="1865376" y="2478024"/>
            <a:ext cx="0" cy="34747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1F657BA9-F147-2B55-3192-499BBFD70D2A}"/>
              </a:ext>
            </a:extLst>
          </p:cNvPr>
          <p:cNvSpPr txBox="1"/>
          <p:nvPr/>
        </p:nvSpPr>
        <p:spPr>
          <a:xfrm>
            <a:off x="1179576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 DC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line-137">
            <a:extLst>
              <a:ext uri="{FF2B5EF4-FFF2-40B4-BE49-F238E27FC236}">
                <a16:creationId xmlns:a16="http://schemas.microsoft.com/office/drawing/2014/main" id="{DD7229D0-310F-3647-6335-D2E7C2FA3AE4}"/>
              </a:ext>
            </a:extLst>
          </p:cNvPr>
          <p:cNvSpPr/>
          <p:nvPr/>
        </p:nvSpPr>
        <p:spPr>
          <a:xfrm>
            <a:off x="6163056" y="2459736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line-138">
            <a:extLst>
              <a:ext uri="{FF2B5EF4-FFF2-40B4-BE49-F238E27FC236}">
                <a16:creationId xmlns:a16="http://schemas.microsoft.com/office/drawing/2014/main" id="{13EC2594-19A2-BA49-6A6E-290825D7328B}"/>
              </a:ext>
            </a:extLst>
          </p:cNvPr>
          <p:cNvSpPr/>
          <p:nvPr/>
        </p:nvSpPr>
        <p:spPr>
          <a:xfrm>
            <a:off x="1088136" y="3145536"/>
            <a:ext cx="585216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oval-139">
            <a:extLst>
              <a:ext uri="{FF2B5EF4-FFF2-40B4-BE49-F238E27FC236}">
                <a16:creationId xmlns:a16="http://schemas.microsoft.com/office/drawing/2014/main" id="{963335DD-256B-057F-69E8-D7209D78873B}"/>
              </a:ext>
            </a:extLst>
          </p:cNvPr>
          <p:cNvSpPr/>
          <p:nvPr/>
        </p:nvSpPr>
        <p:spPr>
          <a:xfrm>
            <a:off x="676656" y="2916936"/>
            <a:ext cx="411480" cy="457200"/>
          </a:xfrm>
          <a:prstGeom prst="ellipse">
            <a:avLst/>
          </a:prstGeom>
          <a:solidFill>
            <a:srgbClr val="40404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oval-140">
            <a:extLst>
              <a:ext uri="{FF2B5EF4-FFF2-40B4-BE49-F238E27FC236}">
                <a16:creationId xmlns:a16="http://schemas.microsoft.com/office/drawing/2014/main" id="{1CBEFB57-1AC7-F21B-9A02-C11BDC404CE0}"/>
              </a:ext>
            </a:extLst>
          </p:cNvPr>
          <p:cNvSpPr/>
          <p:nvPr/>
        </p:nvSpPr>
        <p:spPr>
          <a:xfrm>
            <a:off x="6940296" y="2916936"/>
            <a:ext cx="411480" cy="457200"/>
          </a:xfrm>
          <a:prstGeom prst="ellipse">
            <a:avLst/>
          </a:prstGeom>
          <a:solidFill>
            <a:srgbClr val="40404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text-141">
            <a:extLst>
              <a:ext uri="{FF2B5EF4-FFF2-40B4-BE49-F238E27FC236}">
                <a16:creationId xmlns:a16="http://schemas.microsoft.com/office/drawing/2014/main" id="{B0593E06-A5DF-54A4-A6A8-645373589B7C}"/>
              </a:ext>
            </a:extLst>
          </p:cNvPr>
          <p:cNvSpPr txBox="1"/>
          <p:nvPr/>
        </p:nvSpPr>
        <p:spPr>
          <a:xfrm>
            <a:off x="2734056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Half-shafts to the wheels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text-142">
            <a:extLst>
              <a:ext uri="{FF2B5EF4-FFF2-40B4-BE49-F238E27FC236}">
                <a16:creationId xmlns:a16="http://schemas.microsoft.com/office/drawing/2014/main" id="{662B8056-ADC4-D441-5F30-6166227FD168}"/>
              </a:ext>
            </a:extLst>
          </p:cNvPr>
          <p:cNvSpPr txBox="1"/>
          <p:nvPr/>
        </p:nvSpPr>
        <p:spPr>
          <a:xfrm>
            <a:off x="676656" y="355701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Benefit: less mass, fewer cables, one cooling loop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rect-143">
            <a:extLst>
              <a:ext uri="{FF2B5EF4-FFF2-40B4-BE49-F238E27FC236}">
                <a16:creationId xmlns:a16="http://schemas.microsoft.com/office/drawing/2014/main" id="{4C82E240-C008-0E55-EAEF-04476A57F96F}"/>
              </a:ext>
            </a:extLst>
          </p:cNvPr>
          <p:cNvSpPr/>
          <p:nvPr/>
        </p:nvSpPr>
        <p:spPr>
          <a:xfrm>
            <a:off x="7763256" y="1088136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text-144">
            <a:extLst>
              <a:ext uri="{FF2B5EF4-FFF2-40B4-BE49-F238E27FC236}">
                <a16:creationId xmlns:a16="http://schemas.microsoft.com/office/drawing/2014/main" id="{63AD35DD-85EC-8070-F9C6-6B665BCFED48}"/>
              </a:ext>
            </a:extLst>
          </p:cNvPr>
          <p:cNvSpPr txBox="1"/>
          <p:nvPr/>
        </p:nvSpPr>
        <p:spPr>
          <a:xfrm>
            <a:off x="7946136" y="1143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reduction gear?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text-145">
            <a:extLst>
              <a:ext uri="{FF2B5EF4-FFF2-40B4-BE49-F238E27FC236}">
                <a16:creationId xmlns:a16="http://schemas.microsoft.com/office/drawing/2014/main" id="{51497ACD-4D3D-8702-4ABC-55411E174BEC}"/>
              </a:ext>
            </a:extLst>
          </p:cNvPr>
          <p:cNvSpPr txBox="1"/>
          <p:nvPr/>
        </p:nvSpPr>
        <p:spPr>
          <a:xfrm>
            <a:off x="7946136" y="1545336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Gear trades speed for torque: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Nm × 9 × 0.97 ≈ 2,620 Nm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16,000 ÷ 9 ≈ 1,780 rpm at wheel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220 km/h with 0.33 m wheel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torque from 0 rpm, so no gear shifts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text-146">
            <a:extLst>
              <a:ext uri="{FF2B5EF4-FFF2-40B4-BE49-F238E27FC236}">
                <a16:creationId xmlns:a16="http://schemas.microsoft.com/office/drawing/2014/main" id="{B5EE6054-59E1-2CA4-BB10-B4718C4016B8}"/>
              </a:ext>
            </a:extLst>
          </p:cNvPr>
          <p:cNvSpPr txBox="1"/>
          <p:nvPr/>
        </p:nvSpPr>
        <p:spPr>
          <a:xfrm>
            <a:off x="539496" y="41970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 layouts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graphicFrame>
        <p:nvGraphicFramePr>
          <p:cNvPr id="25" name="table-147">
            <a:extLst>
              <a:ext uri="{FF2B5EF4-FFF2-40B4-BE49-F238E27FC236}">
                <a16:creationId xmlns:a16="http://schemas.microsoft.com/office/drawing/2014/main" id="{DAC9184D-8F93-C643-CB00-E4D55FA8232C}"/>
              </a:ext>
            </a:extLst>
          </p:cNvPr>
          <p:cNvGraphicFramePr>
            <a:graphicFrameLocks noGrp="1"/>
          </p:cNvGraphicFramePr>
          <p:nvPr/>
        </p:nvGraphicFramePr>
        <p:xfrm>
          <a:off x="539496" y="4544568"/>
          <a:ext cx="5577840" cy="13898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Layout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Example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Front e-axle (FWD)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Nexon EV, MG Windsor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Rear e-axle (RWD)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Mahindra BE 6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Dual motor (AWD)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Performance SUVs</a:t>
                      </a:r>
                      <a:endParaRPr lang="en-US" sz="16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ect-148">
            <a:extLst>
              <a:ext uri="{FF2B5EF4-FFF2-40B4-BE49-F238E27FC236}">
                <a16:creationId xmlns:a16="http://schemas.microsoft.com/office/drawing/2014/main" id="{3F17BCE6-EF6B-930B-BA9A-CDE65CDC09FE}"/>
              </a:ext>
            </a:extLst>
          </p:cNvPr>
          <p:cNvSpPr/>
          <p:nvPr/>
        </p:nvSpPr>
        <p:spPr>
          <a:xfrm>
            <a:off x="6391656" y="4242816"/>
            <a:ext cx="5212080" cy="1783080"/>
          </a:xfrm>
          <a:prstGeom prst="roundRect">
            <a:avLst>
              <a:gd name="adj" fmla="val 3077"/>
            </a:avLst>
          </a:prstGeom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text-149">
            <a:extLst>
              <a:ext uri="{FF2B5EF4-FFF2-40B4-BE49-F238E27FC236}">
                <a16:creationId xmlns:a16="http://schemas.microsoft.com/office/drawing/2014/main" id="{39A444A3-2450-186C-7950-351257397C6E}"/>
              </a:ext>
            </a:extLst>
          </p:cNvPr>
          <p:cNvSpPr txBox="1"/>
          <p:nvPr/>
        </p:nvSpPr>
        <p:spPr>
          <a:xfrm>
            <a:off x="6528816" y="430682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NVH: why EVs sound different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engine noise to mask gear whine and motor or inverter tones.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Fixes: precise gears, stiff housings, tuned switching.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908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438DEF-8FDD-14DA-4989-B280AB5275AF}"/>
              </a:ext>
            </a:extLst>
          </p:cNvPr>
          <p:cNvSpPr txBox="1">
            <a:spLocks/>
          </p:cNvSpPr>
          <p:nvPr/>
        </p:nvSpPr>
        <p:spPr>
          <a:xfrm>
            <a:off x="210312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High-voltage and low-voltage systems</a:t>
            </a:r>
            <a:endParaRPr lang="en-US" sz="3000" dirty="0"/>
          </a:p>
        </p:txBody>
      </p:sp>
      <p:sp>
        <p:nvSpPr>
          <p:cNvPr id="3" name="rect-151">
            <a:extLst>
              <a:ext uri="{FF2B5EF4-FFF2-40B4-BE49-F238E27FC236}">
                <a16:creationId xmlns:a16="http://schemas.microsoft.com/office/drawing/2014/main" id="{AEB5CC06-C46C-F5A4-686A-5879ABCFEBE6}"/>
              </a:ext>
            </a:extLst>
          </p:cNvPr>
          <p:cNvSpPr/>
          <p:nvPr/>
        </p:nvSpPr>
        <p:spPr>
          <a:xfrm>
            <a:off x="457200" y="960120"/>
            <a:ext cx="7406640" cy="2880360"/>
          </a:xfrm>
          <a:prstGeom prst="rect">
            <a:avLst/>
          </a:prstGeom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152">
            <a:extLst>
              <a:ext uri="{FF2B5EF4-FFF2-40B4-BE49-F238E27FC236}">
                <a16:creationId xmlns:a16="http://schemas.microsoft.com/office/drawing/2014/main" id="{D492BB51-4EC8-7A20-E775-149537BA5B86}"/>
              </a:ext>
            </a:extLst>
          </p:cNvPr>
          <p:cNvSpPr txBox="1"/>
          <p:nvPr/>
        </p:nvSpPr>
        <p:spPr>
          <a:xfrm>
            <a:off x="594360" y="10058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voltage: 400–800 V, orange cables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rect-153">
            <a:extLst>
              <a:ext uri="{FF2B5EF4-FFF2-40B4-BE49-F238E27FC236}">
                <a16:creationId xmlns:a16="http://schemas.microsoft.com/office/drawing/2014/main" id="{CB422AC9-95A7-9417-05AB-D6989B1A7D73}"/>
              </a:ext>
            </a:extLst>
          </p:cNvPr>
          <p:cNvSpPr/>
          <p:nvPr/>
        </p:nvSpPr>
        <p:spPr>
          <a:xfrm>
            <a:off x="640080" y="1463040"/>
            <a:ext cx="1737360" cy="1097280"/>
          </a:xfrm>
          <a:prstGeom prst="roundRect">
            <a:avLst>
              <a:gd name="adj" fmla="val 5000"/>
            </a:avLst>
          </a:prstGeom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text-154">
            <a:extLst>
              <a:ext uri="{FF2B5EF4-FFF2-40B4-BE49-F238E27FC236}">
                <a16:creationId xmlns:a16="http://schemas.microsoft.com/office/drawing/2014/main" id="{0641283E-ECAC-57BB-EC8D-5498EE817646}"/>
              </a:ext>
            </a:extLst>
          </p:cNvPr>
          <p:cNvSpPr txBox="1"/>
          <p:nvPr/>
        </p:nvSpPr>
        <p:spPr>
          <a:xfrm>
            <a:off x="640080" y="1463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 battery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BMS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rect-155">
            <a:extLst>
              <a:ext uri="{FF2B5EF4-FFF2-40B4-BE49-F238E27FC236}">
                <a16:creationId xmlns:a16="http://schemas.microsoft.com/office/drawing/2014/main" id="{CCE76855-824C-AC60-741E-CB30C539C389}"/>
              </a:ext>
            </a:extLst>
          </p:cNvPr>
          <p:cNvSpPr/>
          <p:nvPr/>
        </p:nvSpPr>
        <p:spPr>
          <a:xfrm>
            <a:off x="2697480" y="1463040"/>
            <a:ext cx="2103120" cy="224028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-156">
            <a:extLst>
              <a:ext uri="{FF2B5EF4-FFF2-40B4-BE49-F238E27FC236}">
                <a16:creationId xmlns:a16="http://schemas.microsoft.com/office/drawing/2014/main" id="{F2942FE4-1541-2B1D-BF82-E1AEB34810EC}"/>
              </a:ext>
            </a:extLst>
          </p:cNvPr>
          <p:cNvSpPr txBox="1"/>
          <p:nvPr/>
        </p:nvSpPr>
        <p:spPr>
          <a:xfrm>
            <a:off x="2807208" y="152704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PDU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 Contactors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 Pre-charge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 Fuses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 Current sensor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line-157">
            <a:extLst>
              <a:ext uri="{FF2B5EF4-FFF2-40B4-BE49-F238E27FC236}">
                <a16:creationId xmlns:a16="http://schemas.microsoft.com/office/drawing/2014/main" id="{79935D01-86C8-3825-0D5E-8AC4C20B1900}"/>
              </a:ext>
            </a:extLst>
          </p:cNvPr>
          <p:cNvSpPr/>
          <p:nvPr/>
        </p:nvSpPr>
        <p:spPr>
          <a:xfrm>
            <a:off x="2377440" y="2011680"/>
            <a:ext cx="30175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line-158">
            <a:extLst>
              <a:ext uri="{FF2B5EF4-FFF2-40B4-BE49-F238E27FC236}">
                <a16:creationId xmlns:a16="http://schemas.microsoft.com/office/drawing/2014/main" id="{51A4D169-3FEE-D785-6500-2B0946139177}"/>
              </a:ext>
            </a:extLst>
          </p:cNvPr>
          <p:cNvSpPr/>
          <p:nvPr/>
        </p:nvSpPr>
        <p:spPr>
          <a:xfrm>
            <a:off x="4800600" y="1645920"/>
            <a:ext cx="320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rect-159">
            <a:extLst>
              <a:ext uri="{FF2B5EF4-FFF2-40B4-BE49-F238E27FC236}">
                <a16:creationId xmlns:a16="http://schemas.microsoft.com/office/drawing/2014/main" id="{09629DF6-0108-9041-A71C-1D192F38DE58}"/>
              </a:ext>
            </a:extLst>
          </p:cNvPr>
          <p:cNvSpPr/>
          <p:nvPr/>
        </p:nvSpPr>
        <p:spPr>
          <a:xfrm>
            <a:off x="5138928" y="1463040"/>
            <a:ext cx="2560320" cy="384048"/>
          </a:xfrm>
          <a:prstGeom prst="roundRect">
            <a:avLst>
              <a:gd name="adj" fmla="val 11905"/>
            </a:avLst>
          </a:prstGeom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text-160">
            <a:extLst>
              <a:ext uri="{FF2B5EF4-FFF2-40B4-BE49-F238E27FC236}">
                <a16:creationId xmlns:a16="http://schemas.microsoft.com/office/drawing/2014/main" id="{2790D895-2ACA-E84A-DF7B-B6637D3AC242}"/>
              </a:ext>
            </a:extLst>
          </p:cNvPr>
          <p:cNvSpPr txBox="1"/>
          <p:nvPr/>
        </p:nvSpPr>
        <p:spPr>
          <a:xfrm>
            <a:off x="5230368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Inverter + motor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line-161">
            <a:extLst>
              <a:ext uri="{FF2B5EF4-FFF2-40B4-BE49-F238E27FC236}">
                <a16:creationId xmlns:a16="http://schemas.microsoft.com/office/drawing/2014/main" id="{BDC8EDBC-591C-FBD6-9A15-09F35ECD90E9}"/>
              </a:ext>
            </a:extLst>
          </p:cNvPr>
          <p:cNvSpPr/>
          <p:nvPr/>
        </p:nvSpPr>
        <p:spPr>
          <a:xfrm>
            <a:off x="4800600" y="2103120"/>
            <a:ext cx="320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rect-162">
            <a:extLst>
              <a:ext uri="{FF2B5EF4-FFF2-40B4-BE49-F238E27FC236}">
                <a16:creationId xmlns:a16="http://schemas.microsoft.com/office/drawing/2014/main" id="{0C451840-E18A-23D8-53D9-C95A250C7051}"/>
              </a:ext>
            </a:extLst>
          </p:cNvPr>
          <p:cNvSpPr/>
          <p:nvPr/>
        </p:nvSpPr>
        <p:spPr>
          <a:xfrm>
            <a:off x="5138928" y="1920240"/>
            <a:ext cx="2560320" cy="384048"/>
          </a:xfrm>
          <a:prstGeom prst="roundRect">
            <a:avLst>
              <a:gd name="adj" fmla="val 11905"/>
            </a:avLst>
          </a:prstGeom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text-163">
            <a:extLst>
              <a:ext uri="{FF2B5EF4-FFF2-40B4-BE49-F238E27FC236}">
                <a16:creationId xmlns:a16="http://schemas.microsoft.com/office/drawing/2014/main" id="{9DA7B90D-5F3F-CC9B-F575-CDF623A37219}"/>
              </a:ext>
            </a:extLst>
          </p:cNvPr>
          <p:cNvSpPr txBox="1"/>
          <p:nvPr/>
        </p:nvSpPr>
        <p:spPr>
          <a:xfrm>
            <a:off x="5230368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Charger / port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line-164">
            <a:extLst>
              <a:ext uri="{FF2B5EF4-FFF2-40B4-BE49-F238E27FC236}">
                <a16:creationId xmlns:a16="http://schemas.microsoft.com/office/drawing/2014/main" id="{5DCE0B93-EC8E-EC82-1101-9B0A4C5DD1DB}"/>
              </a:ext>
            </a:extLst>
          </p:cNvPr>
          <p:cNvSpPr/>
          <p:nvPr/>
        </p:nvSpPr>
        <p:spPr>
          <a:xfrm>
            <a:off x="4800600" y="2560320"/>
            <a:ext cx="320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rect-165">
            <a:extLst>
              <a:ext uri="{FF2B5EF4-FFF2-40B4-BE49-F238E27FC236}">
                <a16:creationId xmlns:a16="http://schemas.microsoft.com/office/drawing/2014/main" id="{B4B74990-846A-C558-7289-913695644204}"/>
              </a:ext>
            </a:extLst>
          </p:cNvPr>
          <p:cNvSpPr/>
          <p:nvPr/>
        </p:nvSpPr>
        <p:spPr>
          <a:xfrm>
            <a:off x="5138928" y="2377440"/>
            <a:ext cx="2560320" cy="384048"/>
          </a:xfrm>
          <a:prstGeom prst="roundRect">
            <a:avLst>
              <a:gd name="adj" fmla="val 11905"/>
            </a:avLst>
          </a:prstGeom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text-166">
            <a:extLst>
              <a:ext uri="{FF2B5EF4-FFF2-40B4-BE49-F238E27FC236}">
                <a16:creationId xmlns:a16="http://schemas.microsoft.com/office/drawing/2014/main" id="{A79B211B-38E7-6086-860A-A1EF623AE290}"/>
              </a:ext>
            </a:extLst>
          </p:cNvPr>
          <p:cNvSpPr txBox="1"/>
          <p:nvPr/>
        </p:nvSpPr>
        <p:spPr>
          <a:xfrm>
            <a:off x="5230368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E-compressor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line-167">
            <a:extLst>
              <a:ext uri="{FF2B5EF4-FFF2-40B4-BE49-F238E27FC236}">
                <a16:creationId xmlns:a16="http://schemas.microsoft.com/office/drawing/2014/main" id="{25553F93-20E6-9D22-65E8-403D5AAC6C8C}"/>
              </a:ext>
            </a:extLst>
          </p:cNvPr>
          <p:cNvSpPr/>
          <p:nvPr/>
        </p:nvSpPr>
        <p:spPr>
          <a:xfrm>
            <a:off x="4800600" y="3017520"/>
            <a:ext cx="320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rect-168">
            <a:extLst>
              <a:ext uri="{FF2B5EF4-FFF2-40B4-BE49-F238E27FC236}">
                <a16:creationId xmlns:a16="http://schemas.microsoft.com/office/drawing/2014/main" id="{7A04A50F-F5A3-D2B9-09BD-23BBC17EED69}"/>
              </a:ext>
            </a:extLst>
          </p:cNvPr>
          <p:cNvSpPr/>
          <p:nvPr/>
        </p:nvSpPr>
        <p:spPr>
          <a:xfrm>
            <a:off x="5138928" y="2834640"/>
            <a:ext cx="2560320" cy="384048"/>
          </a:xfrm>
          <a:prstGeom prst="roundRect">
            <a:avLst>
              <a:gd name="adj" fmla="val 11905"/>
            </a:avLst>
          </a:prstGeom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text-169">
            <a:extLst>
              <a:ext uri="{FF2B5EF4-FFF2-40B4-BE49-F238E27FC236}">
                <a16:creationId xmlns:a16="http://schemas.microsoft.com/office/drawing/2014/main" id="{E2F4E6E1-C6BF-D541-2E55-ECD5B7BACCBB}"/>
              </a:ext>
            </a:extLst>
          </p:cNvPr>
          <p:cNvSpPr txBox="1"/>
          <p:nvPr/>
        </p:nvSpPr>
        <p:spPr>
          <a:xfrm>
            <a:off x="5230368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PTC heater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line-170">
            <a:extLst>
              <a:ext uri="{FF2B5EF4-FFF2-40B4-BE49-F238E27FC236}">
                <a16:creationId xmlns:a16="http://schemas.microsoft.com/office/drawing/2014/main" id="{0D68053C-8E9E-F69E-F5B1-6F3C58C5CB70}"/>
              </a:ext>
            </a:extLst>
          </p:cNvPr>
          <p:cNvSpPr/>
          <p:nvPr/>
        </p:nvSpPr>
        <p:spPr>
          <a:xfrm>
            <a:off x="4800600" y="3474720"/>
            <a:ext cx="3200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rect-171">
            <a:extLst>
              <a:ext uri="{FF2B5EF4-FFF2-40B4-BE49-F238E27FC236}">
                <a16:creationId xmlns:a16="http://schemas.microsoft.com/office/drawing/2014/main" id="{B4AFFD4B-1668-1DD2-2EE7-F1DD9E01A872}"/>
              </a:ext>
            </a:extLst>
          </p:cNvPr>
          <p:cNvSpPr/>
          <p:nvPr/>
        </p:nvSpPr>
        <p:spPr>
          <a:xfrm>
            <a:off x="5138928" y="3291840"/>
            <a:ext cx="2560320" cy="384048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text-172">
            <a:extLst>
              <a:ext uri="{FF2B5EF4-FFF2-40B4-BE49-F238E27FC236}">
                <a16:creationId xmlns:a16="http://schemas.microsoft.com/office/drawing/2014/main" id="{91CDAA99-02A7-5A43-598F-44066D4B989B}"/>
              </a:ext>
            </a:extLst>
          </p:cNvPr>
          <p:cNvSpPr txBox="1"/>
          <p:nvPr/>
        </p:nvSpPr>
        <p:spPr>
          <a:xfrm>
            <a:off x="5230368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DC-DC converter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rect-173">
            <a:extLst>
              <a:ext uri="{FF2B5EF4-FFF2-40B4-BE49-F238E27FC236}">
                <a16:creationId xmlns:a16="http://schemas.microsoft.com/office/drawing/2014/main" id="{1AC0F3A5-2AFA-7543-A500-EF6CF3EA8622}"/>
              </a:ext>
            </a:extLst>
          </p:cNvPr>
          <p:cNvSpPr/>
          <p:nvPr/>
        </p:nvSpPr>
        <p:spPr>
          <a:xfrm>
            <a:off x="8092440" y="960120"/>
            <a:ext cx="3429000" cy="2880360"/>
          </a:xfrm>
          <a:prstGeom prst="rect">
            <a:avLst/>
          </a:prstGeom>
          <a:ln w="19050">
            <a:solidFill>
              <a:schemeClr val="tx2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6" name="text-174">
            <a:extLst>
              <a:ext uri="{FF2B5EF4-FFF2-40B4-BE49-F238E27FC236}">
                <a16:creationId xmlns:a16="http://schemas.microsoft.com/office/drawing/2014/main" id="{25F296C1-AD50-9032-6901-3D457A8DC365}"/>
              </a:ext>
            </a:extLst>
          </p:cNvPr>
          <p:cNvSpPr txBox="1"/>
          <p:nvPr/>
        </p:nvSpPr>
        <p:spPr>
          <a:xfrm>
            <a:off x="8229600" y="1005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voltage: 12 V / 48 V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7" name="text-175">
            <a:extLst>
              <a:ext uri="{FF2B5EF4-FFF2-40B4-BE49-F238E27FC236}">
                <a16:creationId xmlns:a16="http://schemas.microsoft.com/office/drawing/2014/main" id="{4D773F6D-F9B0-DE67-FF2A-3A14EC7D80D7}"/>
              </a:ext>
            </a:extLst>
          </p:cNvPr>
          <p:cNvSpPr txBox="1"/>
          <p:nvPr/>
        </p:nvSpPr>
        <p:spPr>
          <a:xfrm>
            <a:off x="8229600" y="1417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Powers ECUs, lights, screens, airbags, pumps and steering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line-176">
            <a:extLst>
              <a:ext uri="{FF2B5EF4-FFF2-40B4-BE49-F238E27FC236}">
                <a16:creationId xmlns:a16="http://schemas.microsoft.com/office/drawing/2014/main" id="{A318068D-2732-11EC-C3D6-7C9ECD51027A}"/>
              </a:ext>
            </a:extLst>
          </p:cNvPr>
          <p:cNvSpPr/>
          <p:nvPr/>
        </p:nvSpPr>
        <p:spPr>
          <a:xfrm>
            <a:off x="7699248" y="3291840"/>
            <a:ext cx="53035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9" name="rect-177">
            <a:extLst>
              <a:ext uri="{FF2B5EF4-FFF2-40B4-BE49-F238E27FC236}">
                <a16:creationId xmlns:a16="http://schemas.microsoft.com/office/drawing/2014/main" id="{CAD5C5A9-8E21-E3F2-BE58-676384A2A634}"/>
              </a:ext>
            </a:extLst>
          </p:cNvPr>
          <p:cNvSpPr/>
          <p:nvPr/>
        </p:nvSpPr>
        <p:spPr>
          <a:xfrm>
            <a:off x="8247888" y="2926080"/>
            <a:ext cx="3108960" cy="731520"/>
          </a:xfrm>
          <a:prstGeom prst="roundRect">
            <a:avLst>
              <a:gd name="adj" fmla="val 75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0" name="text-178">
            <a:extLst>
              <a:ext uri="{FF2B5EF4-FFF2-40B4-BE49-F238E27FC236}">
                <a16:creationId xmlns:a16="http://schemas.microsoft.com/office/drawing/2014/main" id="{B9154B8D-DD7F-93B2-F96C-D38CEE9FBA88}"/>
              </a:ext>
            </a:extLst>
          </p:cNvPr>
          <p:cNvSpPr txBox="1"/>
          <p:nvPr/>
        </p:nvSpPr>
        <p:spPr>
          <a:xfrm>
            <a:off x="8339328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V battery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wakes the car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1" name="text-179">
            <a:extLst>
              <a:ext uri="{FF2B5EF4-FFF2-40B4-BE49-F238E27FC236}">
                <a16:creationId xmlns:a16="http://schemas.microsoft.com/office/drawing/2014/main" id="{2368B48A-44EE-50A9-39CD-6A4FCAA00AEA}"/>
              </a:ext>
            </a:extLst>
          </p:cNvPr>
          <p:cNvSpPr txBox="1"/>
          <p:nvPr/>
        </p:nvSpPr>
        <p:spPr>
          <a:xfrm>
            <a:off x="457200" y="39319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Safety: HVIL loop, insulation monitor, crash disconnect, orange cables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2" name="text-180">
            <a:extLst>
              <a:ext uri="{FF2B5EF4-FFF2-40B4-BE49-F238E27FC236}">
                <a16:creationId xmlns:a16="http://schemas.microsoft.com/office/drawing/2014/main" id="{6E31D03A-BDB3-7554-28FD-6D3A6D019261}"/>
              </a:ext>
            </a:extLst>
          </p:cNvPr>
          <p:cNvSpPr txBox="1"/>
          <p:nvPr/>
        </p:nvSpPr>
        <p:spPr>
          <a:xfrm>
            <a:off x="457200" y="4297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Power-up: from “start” to “ready”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3" name="rect-181">
            <a:extLst>
              <a:ext uri="{FF2B5EF4-FFF2-40B4-BE49-F238E27FC236}">
                <a16:creationId xmlns:a16="http://schemas.microsoft.com/office/drawing/2014/main" id="{81D7DE63-C231-3B20-6986-BE0B6D3F8086}"/>
              </a:ext>
            </a:extLst>
          </p:cNvPr>
          <p:cNvSpPr/>
          <p:nvPr/>
        </p:nvSpPr>
        <p:spPr>
          <a:xfrm>
            <a:off x="457200" y="4645152"/>
            <a:ext cx="2008022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4" name="text-182">
            <a:extLst>
              <a:ext uri="{FF2B5EF4-FFF2-40B4-BE49-F238E27FC236}">
                <a16:creationId xmlns:a16="http://schemas.microsoft.com/office/drawing/2014/main" id="{8D339896-D269-D792-7073-999ED7B0C2C1}"/>
              </a:ext>
            </a:extLst>
          </p:cNvPr>
          <p:cNvSpPr txBox="1"/>
          <p:nvPr/>
        </p:nvSpPr>
        <p:spPr>
          <a:xfrm>
            <a:off x="548640" y="4700016"/>
            <a:ext cx="182514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Wake up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V powers the ECUs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5" name="line-183">
            <a:extLst>
              <a:ext uri="{FF2B5EF4-FFF2-40B4-BE49-F238E27FC236}">
                <a16:creationId xmlns:a16="http://schemas.microsoft.com/office/drawing/2014/main" id="{76BCC84A-DEFE-0307-E1F1-2C698752F1C4}"/>
              </a:ext>
            </a:extLst>
          </p:cNvPr>
          <p:cNvSpPr/>
          <p:nvPr/>
        </p:nvSpPr>
        <p:spPr>
          <a:xfrm>
            <a:off x="2483510" y="512521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6" name="rect-184">
            <a:extLst>
              <a:ext uri="{FF2B5EF4-FFF2-40B4-BE49-F238E27FC236}">
                <a16:creationId xmlns:a16="http://schemas.microsoft.com/office/drawing/2014/main" id="{2723DAAA-B41E-3B45-B2AE-177651734CD3}"/>
              </a:ext>
            </a:extLst>
          </p:cNvPr>
          <p:cNvSpPr/>
          <p:nvPr/>
        </p:nvSpPr>
        <p:spPr>
          <a:xfrm>
            <a:off x="2721254" y="4645152"/>
            <a:ext cx="2008022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7" name="text-185">
            <a:extLst>
              <a:ext uri="{FF2B5EF4-FFF2-40B4-BE49-F238E27FC236}">
                <a16:creationId xmlns:a16="http://schemas.microsoft.com/office/drawing/2014/main" id="{B83C8AE9-C855-55E3-441B-B968ABB06DC1}"/>
              </a:ext>
            </a:extLst>
          </p:cNvPr>
          <p:cNvSpPr txBox="1"/>
          <p:nvPr/>
        </p:nvSpPr>
        <p:spPr>
          <a:xfrm>
            <a:off x="2812694" y="4700016"/>
            <a:ext cx="182514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Check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Cells, insulation, HVIL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8" name="line-186">
            <a:extLst>
              <a:ext uri="{FF2B5EF4-FFF2-40B4-BE49-F238E27FC236}">
                <a16:creationId xmlns:a16="http://schemas.microsoft.com/office/drawing/2014/main" id="{0163B285-8D39-2373-BE64-BF503B02683D}"/>
              </a:ext>
            </a:extLst>
          </p:cNvPr>
          <p:cNvSpPr/>
          <p:nvPr/>
        </p:nvSpPr>
        <p:spPr>
          <a:xfrm>
            <a:off x="4747565" y="512521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9" name="rect-187">
            <a:extLst>
              <a:ext uri="{FF2B5EF4-FFF2-40B4-BE49-F238E27FC236}">
                <a16:creationId xmlns:a16="http://schemas.microsoft.com/office/drawing/2014/main" id="{D101D403-FBBE-1162-BC50-76ECBCA32BCC}"/>
              </a:ext>
            </a:extLst>
          </p:cNvPr>
          <p:cNvSpPr/>
          <p:nvPr/>
        </p:nvSpPr>
        <p:spPr>
          <a:xfrm>
            <a:off x="4985309" y="4645152"/>
            <a:ext cx="2008022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0" name="text-188">
            <a:extLst>
              <a:ext uri="{FF2B5EF4-FFF2-40B4-BE49-F238E27FC236}">
                <a16:creationId xmlns:a16="http://schemas.microsoft.com/office/drawing/2014/main" id="{9106FF71-2E8B-D036-851B-DBC0FB19D896}"/>
              </a:ext>
            </a:extLst>
          </p:cNvPr>
          <p:cNvSpPr txBox="1"/>
          <p:nvPr/>
        </p:nvSpPr>
        <p:spPr>
          <a:xfrm>
            <a:off x="5076749" y="4700016"/>
            <a:ext cx="182514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Pre-charge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 capacitors slowly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1" name="line-189">
            <a:extLst>
              <a:ext uri="{FF2B5EF4-FFF2-40B4-BE49-F238E27FC236}">
                <a16:creationId xmlns:a16="http://schemas.microsoft.com/office/drawing/2014/main" id="{BFD7774B-26B0-0E78-FDD3-E6CD37CC31AF}"/>
              </a:ext>
            </a:extLst>
          </p:cNvPr>
          <p:cNvSpPr/>
          <p:nvPr/>
        </p:nvSpPr>
        <p:spPr>
          <a:xfrm>
            <a:off x="7011619" y="512521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2" name="rect-190">
            <a:extLst>
              <a:ext uri="{FF2B5EF4-FFF2-40B4-BE49-F238E27FC236}">
                <a16:creationId xmlns:a16="http://schemas.microsoft.com/office/drawing/2014/main" id="{5F3021CC-2D13-6C32-E704-DE42BD866144}"/>
              </a:ext>
            </a:extLst>
          </p:cNvPr>
          <p:cNvSpPr/>
          <p:nvPr/>
        </p:nvSpPr>
        <p:spPr>
          <a:xfrm>
            <a:off x="7249363" y="4645152"/>
            <a:ext cx="2008022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3" name="text-191">
            <a:extLst>
              <a:ext uri="{FF2B5EF4-FFF2-40B4-BE49-F238E27FC236}">
                <a16:creationId xmlns:a16="http://schemas.microsoft.com/office/drawing/2014/main" id="{78D47363-7160-87BA-6885-A1A7009D13F9}"/>
              </a:ext>
            </a:extLst>
          </p:cNvPr>
          <p:cNvSpPr txBox="1"/>
          <p:nvPr/>
        </p:nvSpPr>
        <p:spPr>
          <a:xfrm>
            <a:off x="7340803" y="4700016"/>
            <a:ext cx="182514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 Contactor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+ closes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4" name="line-192">
            <a:extLst>
              <a:ext uri="{FF2B5EF4-FFF2-40B4-BE49-F238E27FC236}">
                <a16:creationId xmlns:a16="http://schemas.microsoft.com/office/drawing/2014/main" id="{8D685D6C-1A65-71CD-D696-15BE82499474}"/>
              </a:ext>
            </a:extLst>
          </p:cNvPr>
          <p:cNvSpPr/>
          <p:nvPr/>
        </p:nvSpPr>
        <p:spPr>
          <a:xfrm>
            <a:off x="9275674" y="512521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5" name="rect-193">
            <a:extLst>
              <a:ext uri="{FF2B5EF4-FFF2-40B4-BE49-F238E27FC236}">
                <a16:creationId xmlns:a16="http://schemas.microsoft.com/office/drawing/2014/main" id="{5F5A4E99-66A3-0B77-DF77-E310D32078CC}"/>
              </a:ext>
            </a:extLst>
          </p:cNvPr>
          <p:cNvSpPr/>
          <p:nvPr/>
        </p:nvSpPr>
        <p:spPr>
          <a:xfrm>
            <a:off x="9513418" y="4645152"/>
            <a:ext cx="2008022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6" name="text-194">
            <a:extLst>
              <a:ext uri="{FF2B5EF4-FFF2-40B4-BE49-F238E27FC236}">
                <a16:creationId xmlns:a16="http://schemas.microsoft.com/office/drawing/2014/main" id="{41CB96AF-10C0-7625-4708-B87E906A863E}"/>
              </a:ext>
            </a:extLst>
          </p:cNvPr>
          <p:cNvSpPr txBox="1"/>
          <p:nvPr/>
        </p:nvSpPr>
        <p:spPr>
          <a:xfrm>
            <a:off x="9604858" y="4700016"/>
            <a:ext cx="182514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 Ready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DC-DC charges 12 V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861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41421B-8E07-EC1C-87F0-11D7F605FF1F}"/>
              </a:ext>
            </a:extLst>
          </p:cNvPr>
          <p:cNvSpPr txBox="1">
            <a:spLocks/>
          </p:cNvSpPr>
          <p:nvPr/>
        </p:nvSpPr>
        <p:spPr>
          <a:xfrm>
            <a:off x="155448" y="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Thermal management and HVAC</a:t>
            </a:r>
            <a:endParaRPr lang="en-US" sz="3000" dirty="0"/>
          </a:p>
        </p:txBody>
      </p:sp>
      <p:sp>
        <p:nvSpPr>
          <p:cNvPr id="3" name="rect-197">
            <a:extLst>
              <a:ext uri="{FF2B5EF4-FFF2-40B4-BE49-F238E27FC236}">
                <a16:creationId xmlns:a16="http://schemas.microsoft.com/office/drawing/2014/main" id="{9F16588B-3415-F805-349B-32AB6B30461B}"/>
              </a:ext>
            </a:extLst>
          </p:cNvPr>
          <p:cNvSpPr/>
          <p:nvPr/>
        </p:nvSpPr>
        <p:spPr>
          <a:xfrm>
            <a:off x="4078224" y="905256"/>
            <a:ext cx="3840480" cy="2880360"/>
          </a:xfrm>
          <a:prstGeom prst="roundRect">
            <a:avLst>
              <a:gd name="adj" fmla="val 3175"/>
            </a:avLst>
          </a:prstGeom>
          <a:solidFill>
            <a:schemeClr val="bg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-198">
            <a:extLst>
              <a:ext uri="{FF2B5EF4-FFF2-40B4-BE49-F238E27FC236}">
                <a16:creationId xmlns:a16="http://schemas.microsoft.com/office/drawing/2014/main" id="{BB223B38-94EC-5384-C8B6-E1A6F19CA9A2}"/>
              </a:ext>
            </a:extLst>
          </p:cNvPr>
          <p:cNvSpPr txBox="1"/>
          <p:nvPr/>
        </p:nvSpPr>
        <p:spPr>
          <a:xfrm>
            <a:off x="4215384" y="9601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Refrigerant loop / heat pump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5" name="rect-199">
            <a:extLst>
              <a:ext uri="{FF2B5EF4-FFF2-40B4-BE49-F238E27FC236}">
                <a16:creationId xmlns:a16="http://schemas.microsoft.com/office/drawing/2014/main" id="{6CDF6A0D-8362-8766-F7E2-5FDDE36D8B34}"/>
              </a:ext>
            </a:extLst>
          </p:cNvPr>
          <p:cNvSpPr/>
          <p:nvPr/>
        </p:nvSpPr>
        <p:spPr>
          <a:xfrm>
            <a:off x="4215384" y="1362456"/>
            <a:ext cx="3566160" cy="493776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6" name="text-200">
            <a:extLst>
              <a:ext uri="{FF2B5EF4-FFF2-40B4-BE49-F238E27FC236}">
                <a16:creationId xmlns:a16="http://schemas.microsoft.com/office/drawing/2014/main" id="{D562DDF9-4D88-5D84-5115-870860BD9DF2}"/>
              </a:ext>
            </a:extLst>
          </p:cNvPr>
          <p:cNvSpPr txBox="1"/>
          <p:nvPr/>
        </p:nvSpPr>
        <p:spPr>
          <a:xfrm>
            <a:off x="4306824" y="136245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E-compressor: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pumps heat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7" name="rect-201">
            <a:extLst>
              <a:ext uri="{FF2B5EF4-FFF2-40B4-BE49-F238E27FC236}">
                <a16:creationId xmlns:a16="http://schemas.microsoft.com/office/drawing/2014/main" id="{B6D0F257-8E9C-68D1-920B-C173C0417D6C}"/>
              </a:ext>
            </a:extLst>
          </p:cNvPr>
          <p:cNvSpPr/>
          <p:nvPr/>
        </p:nvSpPr>
        <p:spPr>
          <a:xfrm>
            <a:off x="4215384" y="1947672"/>
            <a:ext cx="3566160" cy="493776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-202">
            <a:extLst>
              <a:ext uri="{FF2B5EF4-FFF2-40B4-BE49-F238E27FC236}">
                <a16:creationId xmlns:a16="http://schemas.microsoft.com/office/drawing/2014/main" id="{E977669D-A591-2387-B14A-79E5764ED688}"/>
              </a:ext>
            </a:extLst>
          </p:cNvPr>
          <p:cNvSpPr txBox="1"/>
          <p:nvPr/>
        </p:nvSpPr>
        <p:spPr>
          <a:xfrm>
            <a:off x="4306824" y="19476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Condenser: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releases heat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9" name="rect-203">
            <a:extLst>
              <a:ext uri="{FF2B5EF4-FFF2-40B4-BE49-F238E27FC236}">
                <a16:creationId xmlns:a16="http://schemas.microsoft.com/office/drawing/2014/main" id="{6C0861EB-27D4-09E6-78A2-52E62691E740}"/>
              </a:ext>
            </a:extLst>
          </p:cNvPr>
          <p:cNvSpPr/>
          <p:nvPr/>
        </p:nvSpPr>
        <p:spPr>
          <a:xfrm>
            <a:off x="4215384" y="2532888"/>
            <a:ext cx="3566160" cy="493776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0" name="text-204">
            <a:extLst>
              <a:ext uri="{FF2B5EF4-FFF2-40B4-BE49-F238E27FC236}">
                <a16:creationId xmlns:a16="http://schemas.microsoft.com/office/drawing/2014/main" id="{D9474BFB-68EA-71F6-5369-3A1F4C92C674}"/>
              </a:ext>
            </a:extLst>
          </p:cNvPr>
          <p:cNvSpPr txBox="1"/>
          <p:nvPr/>
        </p:nvSpPr>
        <p:spPr>
          <a:xfrm>
            <a:off x="4306824" y="253288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Chiller: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cools battery coolant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1" name="rect-205">
            <a:extLst>
              <a:ext uri="{FF2B5EF4-FFF2-40B4-BE49-F238E27FC236}">
                <a16:creationId xmlns:a16="http://schemas.microsoft.com/office/drawing/2014/main" id="{AC15FA9F-02C2-C613-53A3-89AB57781A53}"/>
              </a:ext>
            </a:extLst>
          </p:cNvPr>
          <p:cNvSpPr/>
          <p:nvPr/>
        </p:nvSpPr>
        <p:spPr>
          <a:xfrm>
            <a:off x="4215384" y="3118104"/>
            <a:ext cx="3566160" cy="493776"/>
          </a:xfrm>
          <a:prstGeom prst="roundRect">
            <a:avLst>
              <a:gd name="adj" fmla="val 9259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2" name="text-206">
            <a:extLst>
              <a:ext uri="{FF2B5EF4-FFF2-40B4-BE49-F238E27FC236}">
                <a16:creationId xmlns:a16="http://schemas.microsoft.com/office/drawing/2014/main" id="{9F696DEB-064C-C410-8A03-D594235E861C}"/>
              </a:ext>
            </a:extLst>
          </p:cNvPr>
          <p:cNvSpPr txBox="1"/>
          <p:nvPr/>
        </p:nvSpPr>
        <p:spPr>
          <a:xfrm>
            <a:off x="4306824" y="311810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Valves: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switch modes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3" name="rect-207">
            <a:extLst>
              <a:ext uri="{FF2B5EF4-FFF2-40B4-BE49-F238E27FC236}">
                <a16:creationId xmlns:a16="http://schemas.microsoft.com/office/drawing/2014/main" id="{E3ADA905-B232-DA57-EFD6-CBD4BD66C248}"/>
              </a:ext>
            </a:extLst>
          </p:cNvPr>
          <p:cNvSpPr/>
          <p:nvPr/>
        </p:nvSpPr>
        <p:spPr>
          <a:xfrm>
            <a:off x="466344" y="905256"/>
            <a:ext cx="3383280" cy="1371600"/>
          </a:xfrm>
          <a:prstGeom prst="roundRect">
            <a:avLst>
              <a:gd name="adj" fmla="val 40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4" name="text-208">
            <a:extLst>
              <a:ext uri="{FF2B5EF4-FFF2-40B4-BE49-F238E27FC236}">
                <a16:creationId xmlns:a16="http://schemas.microsoft.com/office/drawing/2014/main" id="{14A39EB0-7F38-F2BC-0012-E0B84A78BCDC}"/>
              </a:ext>
            </a:extLst>
          </p:cNvPr>
          <p:cNvSpPr txBox="1"/>
          <p:nvPr/>
        </p:nvSpPr>
        <p:spPr>
          <a:xfrm>
            <a:off x="576072" y="978408"/>
            <a:ext cx="3163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Cabin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Cooled or heated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22–25 °C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5" name="rect-209">
            <a:extLst>
              <a:ext uri="{FF2B5EF4-FFF2-40B4-BE49-F238E27FC236}">
                <a16:creationId xmlns:a16="http://schemas.microsoft.com/office/drawing/2014/main" id="{597D041F-EFBF-7152-E5C6-E7FBA70861A8}"/>
              </a:ext>
            </a:extLst>
          </p:cNvPr>
          <p:cNvSpPr/>
          <p:nvPr/>
        </p:nvSpPr>
        <p:spPr>
          <a:xfrm>
            <a:off x="466344" y="2414016"/>
            <a:ext cx="3383280" cy="1371600"/>
          </a:xfrm>
          <a:prstGeom prst="roundRect">
            <a:avLst>
              <a:gd name="adj" fmla="val 40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6" name="text-210">
            <a:extLst>
              <a:ext uri="{FF2B5EF4-FFF2-40B4-BE49-F238E27FC236}">
                <a16:creationId xmlns:a16="http://schemas.microsoft.com/office/drawing/2014/main" id="{043CD011-93EA-0FC6-0577-C8BFA652365B}"/>
              </a:ext>
            </a:extLst>
          </p:cNvPr>
          <p:cNvSpPr txBox="1"/>
          <p:nvPr/>
        </p:nvSpPr>
        <p:spPr>
          <a:xfrm>
            <a:off x="576072" y="2487168"/>
            <a:ext cx="3163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Cold plate + chiller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15–35 °C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7" name="rect-211">
            <a:extLst>
              <a:ext uri="{FF2B5EF4-FFF2-40B4-BE49-F238E27FC236}">
                <a16:creationId xmlns:a16="http://schemas.microsoft.com/office/drawing/2014/main" id="{FED55317-4308-A01E-8858-E2FA5B74DAA9}"/>
              </a:ext>
            </a:extLst>
          </p:cNvPr>
          <p:cNvSpPr/>
          <p:nvPr/>
        </p:nvSpPr>
        <p:spPr>
          <a:xfrm>
            <a:off x="8147304" y="905256"/>
            <a:ext cx="3383280" cy="1371600"/>
          </a:xfrm>
          <a:prstGeom prst="roundRect">
            <a:avLst>
              <a:gd name="adj" fmla="val 40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8" name="text-212">
            <a:extLst>
              <a:ext uri="{FF2B5EF4-FFF2-40B4-BE49-F238E27FC236}">
                <a16:creationId xmlns:a16="http://schemas.microsoft.com/office/drawing/2014/main" id="{39BE00DC-CC6B-11D1-2C1B-9E3A33A9FFFF}"/>
              </a:ext>
            </a:extLst>
          </p:cNvPr>
          <p:cNvSpPr txBox="1"/>
          <p:nvPr/>
        </p:nvSpPr>
        <p:spPr>
          <a:xfrm>
            <a:off x="8257032" y="978408"/>
            <a:ext cx="3163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E-drive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Coolant + radiator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Coolant ≤ ~65 °C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19" name="rect-213">
            <a:extLst>
              <a:ext uri="{FF2B5EF4-FFF2-40B4-BE49-F238E27FC236}">
                <a16:creationId xmlns:a16="http://schemas.microsoft.com/office/drawing/2014/main" id="{7C3A0834-1B9D-DDD4-AF00-8E36810947B0}"/>
              </a:ext>
            </a:extLst>
          </p:cNvPr>
          <p:cNvSpPr/>
          <p:nvPr/>
        </p:nvSpPr>
        <p:spPr>
          <a:xfrm>
            <a:off x="8147304" y="2414016"/>
            <a:ext cx="3383280" cy="1371600"/>
          </a:xfrm>
          <a:prstGeom prst="roundRect">
            <a:avLst>
              <a:gd name="adj" fmla="val 4000"/>
            </a:avLst>
          </a:prstGeom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0" name="text-214">
            <a:extLst>
              <a:ext uri="{FF2B5EF4-FFF2-40B4-BE49-F238E27FC236}">
                <a16:creationId xmlns:a16="http://schemas.microsoft.com/office/drawing/2014/main" id="{B405DBDB-FCBC-8590-CEB9-5BAF99BC5CFE}"/>
              </a:ext>
            </a:extLst>
          </p:cNvPr>
          <p:cNvSpPr txBox="1"/>
          <p:nvPr/>
        </p:nvSpPr>
        <p:spPr>
          <a:xfrm>
            <a:off x="8257032" y="2487168"/>
            <a:ext cx="31638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Waste heat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Reused for cabin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Saves winter range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1" name="line-215">
            <a:extLst>
              <a:ext uri="{FF2B5EF4-FFF2-40B4-BE49-F238E27FC236}">
                <a16:creationId xmlns:a16="http://schemas.microsoft.com/office/drawing/2014/main" id="{BFFA02FC-5575-0F3C-60BA-C5D8C5E399EB}"/>
              </a:ext>
            </a:extLst>
          </p:cNvPr>
          <p:cNvSpPr/>
          <p:nvPr/>
        </p:nvSpPr>
        <p:spPr>
          <a:xfrm flipH="1">
            <a:off x="3867912" y="1591056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2" name="line-216">
            <a:extLst>
              <a:ext uri="{FF2B5EF4-FFF2-40B4-BE49-F238E27FC236}">
                <a16:creationId xmlns:a16="http://schemas.microsoft.com/office/drawing/2014/main" id="{2A26BE85-7F9B-CE60-9215-15A99ACF4EB8}"/>
              </a:ext>
            </a:extLst>
          </p:cNvPr>
          <p:cNvSpPr/>
          <p:nvPr/>
        </p:nvSpPr>
        <p:spPr>
          <a:xfrm flipH="1">
            <a:off x="3867912" y="3099816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3" name="line-217">
            <a:extLst>
              <a:ext uri="{FF2B5EF4-FFF2-40B4-BE49-F238E27FC236}">
                <a16:creationId xmlns:a16="http://schemas.microsoft.com/office/drawing/2014/main" id="{11FA3A79-9F63-05C3-1278-E3D2C5B752DD}"/>
              </a:ext>
            </a:extLst>
          </p:cNvPr>
          <p:cNvSpPr/>
          <p:nvPr/>
        </p:nvSpPr>
        <p:spPr>
          <a:xfrm>
            <a:off x="7936992" y="1591056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4" name="line-218">
            <a:extLst>
              <a:ext uri="{FF2B5EF4-FFF2-40B4-BE49-F238E27FC236}">
                <a16:creationId xmlns:a16="http://schemas.microsoft.com/office/drawing/2014/main" id="{56EB3173-D1BE-3DF9-21BA-904EA380D195}"/>
              </a:ext>
            </a:extLst>
          </p:cNvPr>
          <p:cNvSpPr/>
          <p:nvPr/>
        </p:nvSpPr>
        <p:spPr>
          <a:xfrm flipH="1">
            <a:off x="7936992" y="3099816"/>
            <a:ext cx="19202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5" name="text-219">
            <a:extLst>
              <a:ext uri="{FF2B5EF4-FFF2-40B4-BE49-F238E27FC236}">
                <a16:creationId xmlns:a16="http://schemas.microsoft.com/office/drawing/2014/main" id="{5CD37332-DF9D-F3B4-DC55-C28EFA132527}"/>
              </a:ext>
            </a:extLst>
          </p:cNvPr>
          <p:cNvSpPr txBox="1"/>
          <p:nvPr/>
        </p:nvSpPr>
        <p:spPr>
          <a:xfrm>
            <a:off x="466344" y="396849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graphicFrame>
        <p:nvGraphicFramePr>
          <p:cNvPr id="26" name="table-220">
            <a:extLst>
              <a:ext uri="{FF2B5EF4-FFF2-40B4-BE49-F238E27FC236}">
                <a16:creationId xmlns:a16="http://schemas.microsoft.com/office/drawing/2014/main" id="{41580A32-F52B-B5CE-785E-30C295E3B95C}"/>
              </a:ext>
            </a:extLst>
          </p:cNvPr>
          <p:cNvGraphicFramePr>
            <a:graphicFrameLocks noGrp="1"/>
          </p:cNvGraphicFramePr>
          <p:nvPr/>
        </p:nvGraphicFramePr>
        <p:xfrm>
          <a:off x="466344" y="4306824"/>
          <a:ext cx="6675120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Situation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What happens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Hot day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Cool cabin; chill battery if needed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Fast charging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Chiller cools battery first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Cold morning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Heat pump warms cabin and battery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Highway, mild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Radiator alone cools e-drive</a:t>
                      </a:r>
                      <a:endParaRPr lang="en-US" sz="14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ect-221">
            <a:extLst>
              <a:ext uri="{FF2B5EF4-FFF2-40B4-BE49-F238E27FC236}">
                <a16:creationId xmlns:a16="http://schemas.microsoft.com/office/drawing/2014/main" id="{C79EE502-D123-D2B2-9A02-1E5E09B61A5B}"/>
              </a:ext>
            </a:extLst>
          </p:cNvPr>
          <p:cNvSpPr/>
          <p:nvPr/>
        </p:nvSpPr>
        <p:spPr>
          <a:xfrm>
            <a:off x="7415784" y="4014216"/>
            <a:ext cx="4114800" cy="18288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28" name="text-222">
            <a:extLst>
              <a:ext uri="{FF2B5EF4-FFF2-40B4-BE49-F238E27FC236}">
                <a16:creationId xmlns:a16="http://schemas.microsoft.com/office/drawing/2014/main" id="{9E019E8A-9B08-0D15-4A76-AC251AAE2F71}"/>
              </a:ext>
            </a:extLst>
          </p:cNvPr>
          <p:cNvSpPr txBox="1"/>
          <p:nvPr/>
        </p:nvSpPr>
        <p:spPr>
          <a:xfrm>
            <a:off x="7552944" y="408736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5B6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Heat pump vs PTC heater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PTC: 1 kW in → 1 kW heat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Heat pump: 1 kW in → 2–3 kW heat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kW heat at COP 2.5 = 1.2 kW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49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5073</Words>
  <Application>Microsoft Office PowerPoint</Application>
  <PresentationFormat>Widescreen</PresentationFormat>
  <Paragraphs>1058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HO/Singh Ashishpreet, DM(CP-PR1)</dc:creator>
  <cp:lastModifiedBy>HO/Singh Ashishpreet, DM(CP-PR1)</cp:lastModifiedBy>
  <cp:revision>1</cp:revision>
  <dcterms:created xsi:type="dcterms:W3CDTF">2026-10-27T06:16:30Z</dcterms:created>
  <dcterms:modified xsi:type="dcterms:W3CDTF">2026-10-27T06:19:11Z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2bc035-94f5-49f9-9c20-c5b9a6df9479_Enabled">
    <vt:lpwstr>true</vt:lpwstr>
  </property>
  <property fmtid="{D5CDD505-2E9C-101B-9397-08002B2CF9AE}" pid="3" name="MSIP_Label_bf2bc035-94f5-49f9-9c20-c5b9a6df9479_SetDate">
    <vt:lpwstr>2026-10-27T06:16:38Z</vt:lpwstr>
  </property>
  <property fmtid="{D5CDD505-2E9C-101B-9397-08002B2CF9AE}" pid="4" name="MSIP_Label_bf2bc035-94f5-49f9-9c20-c5b9a6df9479_Method">
    <vt:lpwstr>Privileged</vt:lpwstr>
  </property>
  <property fmtid="{D5CDD505-2E9C-101B-9397-08002B2CF9AE}" pid="5" name="MSIP_Label_bf2bc035-94f5-49f9-9c20-c5b9a6df9479_Name">
    <vt:lpwstr>3-Internal</vt:lpwstr>
  </property>
  <property fmtid="{D5CDD505-2E9C-101B-9397-08002B2CF9AE}" pid="6" name="MSIP_Label_bf2bc035-94f5-49f9-9c20-c5b9a6df9479_SiteId">
    <vt:lpwstr>d78a8218-4135-4026-a3a8-1cdd7223b4d5</vt:lpwstr>
  </property>
  <property fmtid="{D5CDD505-2E9C-101B-9397-08002B2CF9AE}" pid="7" name="MSIP_Label_bf2bc035-94f5-49f9-9c20-c5b9a6df9479_ActionId">
    <vt:lpwstr>14badc38-d5e4-418d-8a91-5db9e239456b</vt:lpwstr>
  </property>
  <property fmtid="{D5CDD505-2E9C-101B-9397-08002B2CF9AE}" pid="8" name="MSIP_Label_bf2bc035-94f5-49f9-9c20-c5b9a6df9479_ContentBits">
    <vt:lpwstr>1</vt:lpwstr>
  </property>
  <property fmtid="{D5CDD505-2E9C-101B-9397-08002B2CF9AE}" pid="9" name="MSIP_Label_bf2bc035-94f5-49f9-9c20-c5b9a6df9479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Information Classification: Internal</vt:lpwstr>
  </property>
</Properties>
</file>